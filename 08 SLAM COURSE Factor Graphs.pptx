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B1081EC-A0A6-41FB-9FD4-7EDB2B2B40E8}">
  <a:tblStyle styleId="{1B1081EC-A0A6-41FB-9FD4-7EDB2B2B40E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d5881f081a_0_37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g3d5881f081a_0_3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968e9639b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g3d968e9639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d1972fa5fe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g3d1972fa5f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d72c7332b4_2_56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g3d72c7332b4_2_5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d72c7332b4_2_64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g3d72c7332b4_2_6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d72c7332b4_2_47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d72c7332b4_2_4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d72c7332b4_2_73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g3d72c7332b4_2_7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e011e82412_0_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g3e011e82412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e011e82412_0_4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g3e011e82412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e011e82412_0_9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g3e011e82412_0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e011e82412_0_13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g3e011e82412_0_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e011e82412_0_17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g3e011e82412_0_1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e011e82412_0_21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g3e011e82412_0_2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d72c7332b4_1_1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p:txBody>
      </p:sp>
      <p:sp>
        <p:nvSpPr>
          <p:cNvPr id="505" name="Google Shape;505;g3d72c7332b4_1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d72c7332b4_1_4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p:txBody>
      </p:sp>
      <p:sp>
        <p:nvSpPr>
          <p:cNvPr id="517" name="Google Shape;517;g3d72c7332b4_1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d72c7332b4_2_27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p:txBody>
      </p:sp>
      <p:sp>
        <p:nvSpPr>
          <p:cNvPr id="529" name="Google Shape;529;g3d72c7332b4_2_2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3d72c7332b4_1_9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p:txBody>
      </p:sp>
      <p:sp>
        <p:nvSpPr>
          <p:cNvPr id="548" name="Google Shape;548;g3d72c7332b4_1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d72c7332b4_1_11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p:txBody>
      </p:sp>
      <p:sp>
        <p:nvSpPr>
          <p:cNvPr id="562" name="Google Shape;562;g3d72c7332b4_1_1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d72c7332b4_1_14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p:txBody>
      </p:sp>
      <p:sp>
        <p:nvSpPr>
          <p:cNvPr id="581" name="Google Shape;581;g3d72c7332b4_1_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d72c7332b4_1_16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p:txBody>
      </p:sp>
      <p:sp>
        <p:nvSpPr>
          <p:cNvPr id="596" name="Google Shape;596;g3d72c7332b4_1_1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d72c7332b4_1_18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p:txBody>
      </p:sp>
      <p:sp>
        <p:nvSpPr>
          <p:cNvPr id="612" name="Google Shape;612;g3d72c7332b4_1_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d72c7332b4_2_3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p:txBody>
      </p:sp>
      <p:sp>
        <p:nvSpPr>
          <p:cNvPr id="626" name="Google Shape;626;g3d72c7332b4_2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d72c7332b4_2_18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p:txBody>
      </p:sp>
      <p:sp>
        <p:nvSpPr>
          <p:cNvPr id="640" name="Google Shape;640;g3d72c7332b4_2_1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g3d72c7332b4_2_10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p:txBody>
      </p:sp>
      <p:sp>
        <p:nvSpPr>
          <p:cNvPr id="659" name="Google Shape;659;g3d72c7332b4_2_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d72c7332b4_2_16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p:txBody>
      </p:sp>
      <p:sp>
        <p:nvSpPr>
          <p:cNvPr id="681" name="Google Shape;681;g3d72c7332b4_2_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d72c7332b4_2_222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p:txBody>
      </p:sp>
      <p:sp>
        <p:nvSpPr>
          <p:cNvPr id="704" name="Google Shape;704;g3d72c7332b4_2_22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d72c7332b4_2_227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p:txBody>
      </p:sp>
      <p:sp>
        <p:nvSpPr>
          <p:cNvPr id="726" name="Google Shape;726;g3d72c7332b4_2_22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d72c7332b4_2_233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p:txBody>
      </p:sp>
      <p:sp>
        <p:nvSpPr>
          <p:cNvPr id="743" name="Google Shape;743;g3d72c7332b4_2_23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3d72c7332b4_2_224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p:txBody>
      </p:sp>
      <p:sp>
        <p:nvSpPr>
          <p:cNvPr id="758" name="Google Shape;758;g3d72c7332b4_2_22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d72c7332b4_2_234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p:txBody>
      </p:sp>
      <p:sp>
        <p:nvSpPr>
          <p:cNvPr id="774" name="Google Shape;774;g3d72c7332b4_2_23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d72c7332b4_2_79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g3d72c7332b4_2_7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d72c7332b4_2_132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g3d72c7332b4_2_13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d72c7332b4_2_155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g3d72c7332b4_2_15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d72c7332b4_2_152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g3d72c7332b4_2_15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d72c7332b4_2_148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g3d72c7332b4_2_14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3d72c7332b4_2_137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g3d72c7332b4_2_13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3d72c7332b4_5_11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g3d72c7332b4_5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d72c7332b4_5_6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g3d72c7332b4_5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g3d72c7332b4_5_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g3d72c7332b4_5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g3d72c7332b4_2_157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g3d72c7332b4_2_15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3d72c7332b4_2_203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g3d72c7332b4_2_20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3d72c7332b4_2_207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g3d72c7332b4_2_20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3d72c7332b4_2_205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g3d72c7332b4_2_20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0" name="Shape 1270"/>
        <p:cNvGrpSpPr/>
        <p:nvPr/>
      </p:nvGrpSpPr>
      <p:grpSpPr>
        <a:xfrm>
          <a:off x="0" y="0"/>
          <a:ext cx="0" cy="0"/>
          <a:chOff x="0" y="0"/>
          <a:chExt cx="0" cy="0"/>
        </a:xfrm>
      </p:grpSpPr>
      <p:sp>
        <p:nvSpPr>
          <p:cNvPr id="1271" name="Google Shape;1271;g3d72c7332b4_2_210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g3d72c7332b4_2_21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3" name="Shape 1363"/>
        <p:cNvGrpSpPr/>
        <p:nvPr/>
      </p:nvGrpSpPr>
      <p:grpSpPr>
        <a:xfrm>
          <a:off x="0" y="0"/>
          <a:ext cx="0" cy="0"/>
          <a:chOff x="0" y="0"/>
          <a:chExt cx="0" cy="0"/>
        </a:xfrm>
      </p:grpSpPr>
      <p:sp>
        <p:nvSpPr>
          <p:cNvPr id="1364" name="Google Shape;1364;g3d72c7332b4_2_209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g3d72c7332b4_2_20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0" name="Shape 1380"/>
        <p:cNvGrpSpPr/>
        <p:nvPr/>
      </p:nvGrpSpPr>
      <p:grpSpPr>
        <a:xfrm>
          <a:off x="0" y="0"/>
          <a:ext cx="0" cy="0"/>
          <a:chOff x="0" y="0"/>
          <a:chExt cx="0" cy="0"/>
        </a:xfrm>
      </p:grpSpPr>
      <p:sp>
        <p:nvSpPr>
          <p:cNvPr id="1381" name="Google Shape;1381;g3d72c7332b4_2_232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p>
        </p:txBody>
      </p:sp>
      <p:sp>
        <p:nvSpPr>
          <p:cNvPr id="1382" name="Google Shape;1382;g3d72c7332b4_2_23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3" name="Shape 1393"/>
        <p:cNvGrpSpPr/>
        <p:nvPr/>
      </p:nvGrpSpPr>
      <p:grpSpPr>
        <a:xfrm>
          <a:off x="0" y="0"/>
          <a:ext cx="0" cy="0"/>
          <a:chOff x="0" y="0"/>
          <a:chExt cx="0" cy="0"/>
        </a:xfrm>
      </p:grpSpPr>
      <p:sp>
        <p:nvSpPr>
          <p:cNvPr id="1394" name="Google Shape;1394;g3d72c7332b4_1_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g3d72c7332b4_1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3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50" name="Shape 50"/>
        <p:cNvGrpSpPr/>
        <p:nvPr/>
      </p:nvGrpSpPr>
      <p:grpSpPr>
        <a:xfrm>
          <a:off x="0" y="0"/>
          <a:ext cx="0" cy="0"/>
          <a:chOff x="0" y="0"/>
          <a:chExt cx="0" cy="0"/>
        </a:xfrm>
      </p:grpSpPr>
      <p:pic>
        <p:nvPicPr>
          <p:cNvPr id="51" name="Google Shape;51;p13"/>
          <p:cNvPicPr preferRelativeResize="0"/>
          <p:nvPr/>
        </p:nvPicPr>
        <p:blipFill rotWithShape="1">
          <a:blip r:embed="rId2">
            <a:alphaModFix/>
          </a:blip>
          <a:srcRect b="0" l="0" r="0" t="0"/>
          <a:stretch/>
        </p:blipFill>
        <p:spPr>
          <a:xfrm>
            <a:off x="0" y="4562475"/>
            <a:ext cx="9144000" cy="581025"/>
          </a:xfrm>
          <a:prstGeom prst="rect">
            <a:avLst/>
          </a:prstGeom>
          <a:noFill/>
          <a:ln>
            <a:noFill/>
          </a:ln>
        </p:spPr>
      </p:pic>
      <p:pic>
        <p:nvPicPr>
          <p:cNvPr id="52" name="Google Shape;52;p13"/>
          <p:cNvPicPr preferRelativeResize="0"/>
          <p:nvPr/>
        </p:nvPicPr>
        <p:blipFill rotWithShape="1">
          <a:blip r:embed="rId3">
            <a:alphaModFix/>
          </a:blip>
          <a:srcRect b="0" l="0" r="0" t="0"/>
          <a:stretch/>
        </p:blipFill>
        <p:spPr>
          <a:xfrm>
            <a:off x="107253" y="4601419"/>
            <a:ext cx="1572887" cy="500696"/>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itle Only">
  <p:cSld name="4_Title Only">
    <p:spTree>
      <p:nvGrpSpPr>
        <p:cNvPr id="53" name="Shape 53"/>
        <p:cNvGrpSpPr/>
        <p:nvPr/>
      </p:nvGrpSpPr>
      <p:grpSpPr>
        <a:xfrm>
          <a:off x="0" y="0"/>
          <a:ext cx="0" cy="0"/>
          <a:chOff x="0" y="0"/>
          <a:chExt cx="0" cy="0"/>
        </a:xfrm>
      </p:grpSpPr>
      <p:sp>
        <p:nvSpPr>
          <p:cNvPr id="54" name="Google Shape;54;p14"/>
          <p:cNvSpPr/>
          <p:nvPr/>
        </p:nvSpPr>
        <p:spPr>
          <a:xfrm>
            <a:off x="0" y="0"/>
            <a:ext cx="9144000" cy="5143500"/>
          </a:xfrm>
          <a:prstGeom prst="rect">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Arial"/>
              <a:ea typeface="Arial"/>
              <a:cs typeface="Arial"/>
              <a:sym typeface="Arial"/>
            </a:endParaRPr>
          </a:p>
        </p:txBody>
      </p:sp>
      <p:pic>
        <p:nvPicPr>
          <p:cNvPr id="55" name="Google Shape;55;p14"/>
          <p:cNvPicPr preferRelativeResize="0"/>
          <p:nvPr/>
        </p:nvPicPr>
        <p:blipFill rotWithShape="1">
          <a:blip r:embed="rId2">
            <a:alphaModFix/>
          </a:blip>
          <a:srcRect b="0" l="0" r="0" t="0"/>
          <a:stretch/>
        </p:blipFill>
        <p:spPr>
          <a:xfrm>
            <a:off x="0" y="0"/>
            <a:ext cx="9186110" cy="5167187"/>
          </a:xfrm>
          <a:prstGeom prst="rect">
            <a:avLst/>
          </a:prstGeom>
          <a:noFill/>
          <a:ln>
            <a:noFill/>
          </a:ln>
        </p:spPr>
      </p:pic>
      <p:pic>
        <p:nvPicPr>
          <p:cNvPr id="56" name="Google Shape;56;p14"/>
          <p:cNvPicPr preferRelativeResize="0"/>
          <p:nvPr/>
        </p:nvPicPr>
        <p:blipFill rotWithShape="1">
          <a:blip r:embed="rId3">
            <a:alphaModFix/>
          </a:blip>
          <a:srcRect b="0" l="0" r="0" t="0"/>
          <a:stretch/>
        </p:blipFill>
        <p:spPr>
          <a:xfrm>
            <a:off x="210066" y="179546"/>
            <a:ext cx="2185473" cy="69569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3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0.png"/></Relationships>
</file>

<file path=ppt/slides/_rels/slide3.xml.rels><?xml version="1.0" encoding="UTF-8" standalone="yes"?><Relationships xmlns="http://schemas.openxmlformats.org/package/2006/relationships"><Relationship Id="rId20" Type="http://schemas.openxmlformats.org/officeDocument/2006/relationships/hyperlink" Target="https://youtu.be/mZBdPgBtrCM" TargetMode="External"/><Relationship Id="rId22" Type="http://schemas.openxmlformats.org/officeDocument/2006/relationships/image" Target="../media/image9.jpg"/><Relationship Id="rId21" Type="http://schemas.openxmlformats.org/officeDocument/2006/relationships/hyperlink" Target="http://www.youtube.com/watch?v=uHbRKvD8TWg" TargetMode="External"/><Relationship Id="rId24" Type="http://schemas.openxmlformats.org/officeDocument/2006/relationships/image" Target="../media/image5.jpg"/><Relationship Id="rId23" Type="http://schemas.openxmlformats.org/officeDocument/2006/relationships/hyperlink" Target="http://www.youtube.com/watch?v=mZBdPgBtrCM" TargetMode="External"/><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hyperlink" Target="https://github.com/SLAM-Handbook-contributors/slam-handbook-public-release" TargetMode="External"/><Relationship Id="rId4" Type="http://schemas.openxmlformats.org/officeDocument/2006/relationships/hyperlink" Target="https://www.cs.cmu.edu/~kaess/pub/Dellaert17fnt.pdf" TargetMode="External"/><Relationship Id="rId9" Type="http://schemas.openxmlformats.org/officeDocument/2006/relationships/hyperlink" Target="http://www.youtube.com/watch?v=uuiaqGLFYa4" TargetMode="External"/><Relationship Id="rId25" Type="http://schemas.openxmlformats.org/officeDocument/2006/relationships/image" Target="../media/image17.png"/><Relationship Id="rId5" Type="http://schemas.openxmlformats.org/officeDocument/2006/relationships/hyperlink" Target="https://www.doc.ic.ac.uk/~ajd/Publications/Strasdat-H-2012-PhD-Thesis.pdf" TargetMode="External"/><Relationship Id="rId6" Type="http://schemas.openxmlformats.org/officeDocument/2006/relationships/image" Target="../media/image1.png"/><Relationship Id="rId7" Type="http://schemas.openxmlformats.org/officeDocument/2006/relationships/hyperlink" Target="https://github.com/alejandrofontan/SLAM-Course/tree/main" TargetMode="External"/><Relationship Id="rId8" Type="http://schemas.openxmlformats.org/officeDocument/2006/relationships/hyperlink" Target="https://github.com/ariarobotics/robotic-mapping/blob/main/lectures/Lec14_backend.pdf" TargetMode="External"/><Relationship Id="rId11" Type="http://schemas.openxmlformats.org/officeDocument/2006/relationships/hyperlink" Target="http://www.youtube.com/watch?v=JmR2YpkLNt0" TargetMode="External"/><Relationship Id="rId10" Type="http://schemas.openxmlformats.org/officeDocument/2006/relationships/image" Target="../media/image11.jpg"/><Relationship Id="rId13" Type="http://schemas.openxmlformats.org/officeDocument/2006/relationships/image" Target="../media/image30.png"/><Relationship Id="rId12" Type="http://schemas.openxmlformats.org/officeDocument/2006/relationships/image" Target="../media/image10.jpg"/><Relationship Id="rId15" Type="http://schemas.openxmlformats.org/officeDocument/2006/relationships/image" Target="../media/image7.jpg"/><Relationship Id="rId14" Type="http://schemas.openxmlformats.org/officeDocument/2006/relationships/hyperlink" Target="http://www.youtube.com/watch?v=-yCC7mpgL4w" TargetMode="External"/><Relationship Id="rId17" Type="http://schemas.openxmlformats.org/officeDocument/2006/relationships/hyperlink" Target="https://youtu.be/JmR2YpkLNt0" TargetMode="External"/><Relationship Id="rId16" Type="http://schemas.openxmlformats.org/officeDocument/2006/relationships/hyperlink" Target="https://youtu.be/uuiaqGLFYa4" TargetMode="External"/><Relationship Id="rId19" Type="http://schemas.openxmlformats.org/officeDocument/2006/relationships/hyperlink" Target="https://youtu.be/uHbRKvD8TWg" TargetMode="External"/><Relationship Id="rId18" Type="http://schemas.openxmlformats.org/officeDocument/2006/relationships/hyperlink" Target="https://youtu.be/-yCC7mpgL4w"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8.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3.png"/><Relationship Id="rId8" Type="http://schemas.openxmlformats.org/officeDocument/2006/relationships/image" Target="../media/image16.png"/><Relationship Id="rId11" Type="http://schemas.openxmlformats.org/officeDocument/2006/relationships/image" Target="../media/image14.png"/><Relationship Id="rId10" Type="http://schemas.openxmlformats.org/officeDocument/2006/relationships/image" Target="../media/image13.png"/><Relationship Id="rId12" Type="http://schemas.openxmlformats.org/officeDocument/2006/relationships/image" Target="../media/image3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8.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3.png"/><Relationship Id="rId8" Type="http://schemas.openxmlformats.org/officeDocument/2006/relationships/image" Target="../media/image16.png"/><Relationship Id="rId11" Type="http://schemas.openxmlformats.org/officeDocument/2006/relationships/image" Target="../media/image20.png"/><Relationship Id="rId10" Type="http://schemas.openxmlformats.org/officeDocument/2006/relationships/image" Target="../media/image15.png"/><Relationship Id="rId13" Type="http://schemas.openxmlformats.org/officeDocument/2006/relationships/image" Target="../media/image24.png"/><Relationship Id="rId12" Type="http://schemas.openxmlformats.org/officeDocument/2006/relationships/image" Target="../media/image19.png"/><Relationship Id="rId15" Type="http://schemas.openxmlformats.org/officeDocument/2006/relationships/image" Target="../media/image22.png"/><Relationship Id="rId14" Type="http://schemas.openxmlformats.org/officeDocument/2006/relationships/image" Target="../media/image21.png"/><Relationship Id="rId17" Type="http://schemas.openxmlformats.org/officeDocument/2006/relationships/image" Target="../media/image25.png"/><Relationship Id="rId16" Type="http://schemas.openxmlformats.org/officeDocument/2006/relationships/image" Target="../media/image28.png"/><Relationship Id="rId18" Type="http://schemas.openxmlformats.org/officeDocument/2006/relationships/image" Target="../media/image3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0.png"/><Relationship Id="rId9" Type="http://schemas.openxmlformats.org/officeDocument/2006/relationships/image" Target="../media/image33.png"/><Relationship Id="rId5" Type="http://schemas.openxmlformats.org/officeDocument/2006/relationships/image" Target="../media/image36.png"/><Relationship Id="rId6" Type="http://schemas.openxmlformats.org/officeDocument/2006/relationships/image" Target="../media/image34.png"/><Relationship Id="rId7" Type="http://schemas.openxmlformats.org/officeDocument/2006/relationships/image" Target="../media/image27.png"/><Relationship Id="rId8" Type="http://schemas.openxmlformats.org/officeDocument/2006/relationships/image" Target="../media/image26.png"/><Relationship Id="rId10" Type="http://schemas.openxmlformats.org/officeDocument/2006/relationships/image" Target="../media/image3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30.png"/><Relationship Id="rId4" Type="http://schemas.openxmlformats.org/officeDocument/2006/relationships/image" Target="../media/image36.png"/><Relationship Id="rId9" Type="http://schemas.openxmlformats.org/officeDocument/2006/relationships/image" Target="../media/image32.png"/><Relationship Id="rId5" Type="http://schemas.openxmlformats.org/officeDocument/2006/relationships/image" Target="../media/image34.png"/><Relationship Id="rId6" Type="http://schemas.openxmlformats.org/officeDocument/2006/relationships/image" Target="../media/image27.png"/><Relationship Id="rId7" Type="http://schemas.openxmlformats.org/officeDocument/2006/relationships/image" Target="../media/image26.png"/><Relationship Id="rId8" Type="http://schemas.openxmlformats.org/officeDocument/2006/relationships/image" Target="../media/image33.png"/><Relationship Id="rId11" Type="http://schemas.openxmlformats.org/officeDocument/2006/relationships/image" Target="../media/image20.png"/><Relationship Id="rId10" Type="http://schemas.openxmlformats.org/officeDocument/2006/relationships/image" Target="../media/image4.png"/><Relationship Id="rId13" Type="http://schemas.openxmlformats.org/officeDocument/2006/relationships/image" Target="../media/image24.png"/><Relationship Id="rId12" Type="http://schemas.openxmlformats.org/officeDocument/2006/relationships/image" Target="../media/image19.png"/><Relationship Id="rId14" Type="http://schemas.openxmlformats.org/officeDocument/2006/relationships/image" Target="../media/image3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0.png"/><Relationship Id="rId4" Type="http://schemas.openxmlformats.org/officeDocument/2006/relationships/image" Target="../media/image36.png"/><Relationship Id="rId9" Type="http://schemas.openxmlformats.org/officeDocument/2006/relationships/image" Target="../media/image32.png"/><Relationship Id="rId5" Type="http://schemas.openxmlformats.org/officeDocument/2006/relationships/image" Target="../media/image34.png"/><Relationship Id="rId6" Type="http://schemas.openxmlformats.org/officeDocument/2006/relationships/image" Target="../media/image27.png"/><Relationship Id="rId7" Type="http://schemas.openxmlformats.org/officeDocument/2006/relationships/image" Target="../media/image26.png"/><Relationship Id="rId8" Type="http://schemas.openxmlformats.org/officeDocument/2006/relationships/image" Target="../media/image33.png"/><Relationship Id="rId11" Type="http://schemas.openxmlformats.org/officeDocument/2006/relationships/image" Target="../media/image20.png"/><Relationship Id="rId10" Type="http://schemas.openxmlformats.org/officeDocument/2006/relationships/image" Target="../media/image4.png"/><Relationship Id="rId13" Type="http://schemas.openxmlformats.org/officeDocument/2006/relationships/image" Target="../media/image24.png"/><Relationship Id="rId12" Type="http://schemas.openxmlformats.org/officeDocument/2006/relationships/image" Target="../media/image19.png"/><Relationship Id="rId15" Type="http://schemas.openxmlformats.org/officeDocument/2006/relationships/image" Target="../media/image42.png"/><Relationship Id="rId14" Type="http://schemas.openxmlformats.org/officeDocument/2006/relationships/image" Target="../media/image3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0.png"/><Relationship Id="rId4" Type="http://schemas.openxmlformats.org/officeDocument/2006/relationships/image" Target="../media/image36.png"/><Relationship Id="rId9" Type="http://schemas.openxmlformats.org/officeDocument/2006/relationships/image" Target="../media/image32.png"/><Relationship Id="rId5" Type="http://schemas.openxmlformats.org/officeDocument/2006/relationships/image" Target="../media/image34.png"/><Relationship Id="rId6" Type="http://schemas.openxmlformats.org/officeDocument/2006/relationships/image" Target="../media/image27.png"/><Relationship Id="rId7" Type="http://schemas.openxmlformats.org/officeDocument/2006/relationships/image" Target="../media/image26.png"/><Relationship Id="rId8" Type="http://schemas.openxmlformats.org/officeDocument/2006/relationships/image" Target="../media/image33.png"/><Relationship Id="rId11" Type="http://schemas.openxmlformats.org/officeDocument/2006/relationships/image" Target="../media/image20.png"/><Relationship Id="rId10" Type="http://schemas.openxmlformats.org/officeDocument/2006/relationships/image" Target="../media/image4.png"/><Relationship Id="rId13" Type="http://schemas.openxmlformats.org/officeDocument/2006/relationships/image" Target="../media/image24.png"/><Relationship Id="rId12" Type="http://schemas.openxmlformats.org/officeDocument/2006/relationships/image" Target="../media/image19.png"/><Relationship Id="rId15" Type="http://schemas.openxmlformats.org/officeDocument/2006/relationships/image" Target="../media/image42.png"/><Relationship Id="rId14" Type="http://schemas.openxmlformats.org/officeDocument/2006/relationships/image" Target="../media/image3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30.png"/><Relationship Id="rId4" Type="http://schemas.openxmlformats.org/officeDocument/2006/relationships/image" Target="../media/image36.png"/><Relationship Id="rId9" Type="http://schemas.openxmlformats.org/officeDocument/2006/relationships/image" Target="../media/image32.png"/><Relationship Id="rId5" Type="http://schemas.openxmlformats.org/officeDocument/2006/relationships/image" Target="../media/image34.png"/><Relationship Id="rId6" Type="http://schemas.openxmlformats.org/officeDocument/2006/relationships/image" Target="../media/image27.png"/><Relationship Id="rId7" Type="http://schemas.openxmlformats.org/officeDocument/2006/relationships/image" Target="../media/image26.png"/><Relationship Id="rId8" Type="http://schemas.openxmlformats.org/officeDocument/2006/relationships/image" Target="../media/image33.png"/><Relationship Id="rId11" Type="http://schemas.openxmlformats.org/officeDocument/2006/relationships/image" Target="../media/image20.png"/><Relationship Id="rId10" Type="http://schemas.openxmlformats.org/officeDocument/2006/relationships/image" Target="../media/image4.png"/><Relationship Id="rId13" Type="http://schemas.openxmlformats.org/officeDocument/2006/relationships/image" Target="../media/image24.png"/><Relationship Id="rId12" Type="http://schemas.openxmlformats.org/officeDocument/2006/relationships/image" Target="../media/image19.png"/><Relationship Id="rId15" Type="http://schemas.openxmlformats.org/officeDocument/2006/relationships/image" Target="../media/image42.png"/><Relationship Id="rId14" Type="http://schemas.openxmlformats.org/officeDocument/2006/relationships/image" Target="../media/image3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0.png"/><Relationship Id="rId4" Type="http://schemas.openxmlformats.org/officeDocument/2006/relationships/image" Target="../media/image36.png"/><Relationship Id="rId9" Type="http://schemas.openxmlformats.org/officeDocument/2006/relationships/image" Target="../media/image32.png"/><Relationship Id="rId5" Type="http://schemas.openxmlformats.org/officeDocument/2006/relationships/image" Target="../media/image34.png"/><Relationship Id="rId6" Type="http://schemas.openxmlformats.org/officeDocument/2006/relationships/image" Target="../media/image27.png"/><Relationship Id="rId7" Type="http://schemas.openxmlformats.org/officeDocument/2006/relationships/image" Target="../media/image26.png"/><Relationship Id="rId8" Type="http://schemas.openxmlformats.org/officeDocument/2006/relationships/image" Target="../media/image33.png"/><Relationship Id="rId11" Type="http://schemas.openxmlformats.org/officeDocument/2006/relationships/image" Target="../media/image20.png"/><Relationship Id="rId10" Type="http://schemas.openxmlformats.org/officeDocument/2006/relationships/image" Target="../media/image4.png"/><Relationship Id="rId13" Type="http://schemas.openxmlformats.org/officeDocument/2006/relationships/image" Target="../media/image24.png"/><Relationship Id="rId12" Type="http://schemas.openxmlformats.org/officeDocument/2006/relationships/image" Target="../media/image19.png"/><Relationship Id="rId15" Type="http://schemas.openxmlformats.org/officeDocument/2006/relationships/image" Target="../media/image42.png"/><Relationship Id="rId14" Type="http://schemas.openxmlformats.org/officeDocument/2006/relationships/image" Target="../media/image3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30.png"/><Relationship Id="rId4" Type="http://schemas.openxmlformats.org/officeDocument/2006/relationships/image" Target="../media/image36.png"/><Relationship Id="rId9" Type="http://schemas.openxmlformats.org/officeDocument/2006/relationships/image" Target="../media/image32.png"/><Relationship Id="rId5" Type="http://schemas.openxmlformats.org/officeDocument/2006/relationships/image" Target="../media/image34.png"/><Relationship Id="rId6" Type="http://schemas.openxmlformats.org/officeDocument/2006/relationships/image" Target="../media/image27.png"/><Relationship Id="rId7" Type="http://schemas.openxmlformats.org/officeDocument/2006/relationships/image" Target="../media/image26.png"/><Relationship Id="rId8" Type="http://schemas.openxmlformats.org/officeDocument/2006/relationships/image" Target="../media/image33.png"/><Relationship Id="rId11" Type="http://schemas.openxmlformats.org/officeDocument/2006/relationships/image" Target="../media/image20.png"/><Relationship Id="rId10" Type="http://schemas.openxmlformats.org/officeDocument/2006/relationships/image" Target="../media/image4.png"/><Relationship Id="rId13" Type="http://schemas.openxmlformats.org/officeDocument/2006/relationships/image" Target="../media/image24.png"/><Relationship Id="rId12" Type="http://schemas.openxmlformats.org/officeDocument/2006/relationships/image" Target="../media/image19.png"/><Relationship Id="rId15" Type="http://schemas.openxmlformats.org/officeDocument/2006/relationships/image" Target="../media/image42.png"/><Relationship Id="rId14" Type="http://schemas.openxmlformats.org/officeDocument/2006/relationships/image" Target="../media/image3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30.png"/><Relationship Id="rId4" Type="http://schemas.openxmlformats.org/officeDocument/2006/relationships/image" Target="../media/image36.png"/><Relationship Id="rId9" Type="http://schemas.openxmlformats.org/officeDocument/2006/relationships/image" Target="../media/image32.png"/><Relationship Id="rId5" Type="http://schemas.openxmlformats.org/officeDocument/2006/relationships/image" Target="../media/image34.png"/><Relationship Id="rId6" Type="http://schemas.openxmlformats.org/officeDocument/2006/relationships/image" Target="../media/image27.png"/><Relationship Id="rId7" Type="http://schemas.openxmlformats.org/officeDocument/2006/relationships/image" Target="../media/image26.png"/><Relationship Id="rId8" Type="http://schemas.openxmlformats.org/officeDocument/2006/relationships/image" Target="../media/image33.png"/><Relationship Id="rId11" Type="http://schemas.openxmlformats.org/officeDocument/2006/relationships/image" Target="../media/image20.png"/><Relationship Id="rId10" Type="http://schemas.openxmlformats.org/officeDocument/2006/relationships/image" Target="../media/image4.png"/><Relationship Id="rId13" Type="http://schemas.openxmlformats.org/officeDocument/2006/relationships/image" Target="../media/image24.png"/><Relationship Id="rId12" Type="http://schemas.openxmlformats.org/officeDocument/2006/relationships/image" Target="../media/image19.png"/><Relationship Id="rId15" Type="http://schemas.openxmlformats.org/officeDocument/2006/relationships/image" Target="../media/image42.png"/><Relationship Id="rId14" Type="http://schemas.openxmlformats.org/officeDocument/2006/relationships/image" Target="../media/image3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45.png"/><Relationship Id="rId4" Type="http://schemas.openxmlformats.org/officeDocument/2006/relationships/image" Target="../media/image56.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52.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52.png"/><Relationship Id="rId4" Type="http://schemas.openxmlformats.org/officeDocument/2006/relationships/image" Target="../media/image43.png"/><Relationship Id="rId5"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60.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60.png"/><Relationship Id="rId4" Type="http://schemas.openxmlformats.org/officeDocument/2006/relationships/image" Target="../media/image57.png"/><Relationship Id="rId5"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61.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63.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50.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53.png"/><Relationship Id="rId4" Type="http://schemas.openxmlformats.org/officeDocument/2006/relationships/image" Target="../media/image46.png"/><Relationship Id="rId9" Type="http://schemas.openxmlformats.org/officeDocument/2006/relationships/image" Target="../media/image68.png"/><Relationship Id="rId5" Type="http://schemas.openxmlformats.org/officeDocument/2006/relationships/image" Target="../media/image47.png"/><Relationship Id="rId6" Type="http://schemas.openxmlformats.org/officeDocument/2006/relationships/image" Target="../media/image55.png"/><Relationship Id="rId7" Type="http://schemas.openxmlformats.org/officeDocument/2006/relationships/image" Target="../media/image44.png"/><Relationship Id="rId8" Type="http://schemas.openxmlformats.org/officeDocument/2006/relationships/image" Target="../media/image51.png"/><Relationship Id="rId10"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50.png"/><Relationship Id="rId4" Type="http://schemas.openxmlformats.org/officeDocument/2006/relationships/image" Target="../media/image48.png"/><Relationship Id="rId9" Type="http://schemas.openxmlformats.org/officeDocument/2006/relationships/image" Target="../media/image30.png"/><Relationship Id="rId5" Type="http://schemas.openxmlformats.org/officeDocument/2006/relationships/image" Target="../media/image49.png"/><Relationship Id="rId6" Type="http://schemas.openxmlformats.org/officeDocument/2006/relationships/image" Target="../media/image47.png"/><Relationship Id="rId7" Type="http://schemas.openxmlformats.org/officeDocument/2006/relationships/image" Target="../media/image58.png"/><Relationship Id="rId8" Type="http://schemas.openxmlformats.org/officeDocument/2006/relationships/image" Target="../media/image7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30.png"/><Relationship Id="rId4" Type="http://schemas.openxmlformats.org/officeDocument/2006/relationships/image" Target="../media/image58.png"/><Relationship Id="rId9" Type="http://schemas.openxmlformats.org/officeDocument/2006/relationships/image" Target="../media/image59.png"/><Relationship Id="rId5" Type="http://schemas.openxmlformats.org/officeDocument/2006/relationships/image" Target="../media/image71.png"/><Relationship Id="rId6" Type="http://schemas.openxmlformats.org/officeDocument/2006/relationships/image" Target="../media/image65.png"/><Relationship Id="rId7" Type="http://schemas.openxmlformats.org/officeDocument/2006/relationships/image" Target="../media/image64.png"/><Relationship Id="rId8" Type="http://schemas.openxmlformats.org/officeDocument/2006/relationships/image" Target="../media/image62.png"/><Relationship Id="rId11" Type="http://schemas.openxmlformats.org/officeDocument/2006/relationships/image" Target="../media/image75.png"/><Relationship Id="rId10" Type="http://schemas.openxmlformats.org/officeDocument/2006/relationships/image" Target="../media/image7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60.png"/><Relationship Id="rId4" Type="http://schemas.openxmlformats.org/officeDocument/2006/relationships/image" Target="../media/image30.png"/><Relationship Id="rId5" Type="http://schemas.openxmlformats.org/officeDocument/2006/relationships/image" Target="../media/image82.png"/><Relationship Id="rId6" Type="http://schemas.openxmlformats.org/officeDocument/2006/relationships/image" Target="../media/image6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63.png"/><Relationship Id="rId4" Type="http://schemas.openxmlformats.org/officeDocument/2006/relationships/image" Target="../media/image30.png"/><Relationship Id="rId5" Type="http://schemas.openxmlformats.org/officeDocument/2006/relationships/image" Target="../media/image7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30.png"/><Relationship Id="rId4" Type="http://schemas.openxmlformats.org/officeDocument/2006/relationships/image" Target="../media/image67.png"/><Relationship Id="rId5" Type="http://schemas.openxmlformats.org/officeDocument/2006/relationships/image" Target="../media/image74.gif"/><Relationship Id="rId6" Type="http://schemas.openxmlformats.org/officeDocument/2006/relationships/image" Target="../media/image76.png"/><Relationship Id="rId7" Type="http://schemas.openxmlformats.org/officeDocument/2006/relationships/image" Target="../media/image6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hyperlink" Target="https://gtsam.org/" TargetMode="External"/><Relationship Id="rId4" Type="http://schemas.openxmlformats.org/officeDocument/2006/relationships/hyperlink" Target="https://openslam-org.github.io/g2o.html" TargetMode="External"/><Relationship Id="rId5" Type="http://schemas.openxmlformats.org/officeDocument/2006/relationships/hyperlink" Target="https://github.com/ceres-solver/ceres-solver" TargetMode="External"/><Relationship Id="rId6"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30.png"/><Relationship Id="rId4" Type="http://schemas.openxmlformats.org/officeDocument/2006/relationships/image" Target="../media/image7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30.png"/><Relationship Id="rId4" Type="http://schemas.openxmlformats.org/officeDocument/2006/relationships/image" Target="../media/image83.png"/><Relationship Id="rId5" Type="http://schemas.openxmlformats.org/officeDocument/2006/relationships/image" Target="../media/image7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30.png"/><Relationship Id="rId4" Type="http://schemas.openxmlformats.org/officeDocument/2006/relationships/image" Target="../media/image102.png"/><Relationship Id="rId5" Type="http://schemas.openxmlformats.org/officeDocument/2006/relationships/image" Target="../media/image83.png"/><Relationship Id="rId6" Type="http://schemas.openxmlformats.org/officeDocument/2006/relationships/image" Target="../media/image77.png"/><Relationship Id="rId7" Type="http://schemas.openxmlformats.org/officeDocument/2006/relationships/image" Target="../media/image7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30.png"/><Relationship Id="rId4" Type="http://schemas.openxmlformats.org/officeDocument/2006/relationships/image" Target="../media/image102.png"/><Relationship Id="rId9" Type="http://schemas.openxmlformats.org/officeDocument/2006/relationships/image" Target="../media/image81.png"/><Relationship Id="rId5" Type="http://schemas.openxmlformats.org/officeDocument/2006/relationships/image" Target="../media/image83.png"/><Relationship Id="rId6" Type="http://schemas.openxmlformats.org/officeDocument/2006/relationships/image" Target="../media/image88.png"/><Relationship Id="rId7" Type="http://schemas.openxmlformats.org/officeDocument/2006/relationships/image" Target="../media/image77.png"/><Relationship Id="rId8" Type="http://schemas.openxmlformats.org/officeDocument/2006/relationships/image" Target="../media/image79.png"/><Relationship Id="rId10" Type="http://schemas.openxmlformats.org/officeDocument/2006/relationships/image" Target="../media/image8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30.png"/><Relationship Id="rId4" Type="http://schemas.openxmlformats.org/officeDocument/2006/relationships/image" Target="../media/image102.png"/><Relationship Id="rId9" Type="http://schemas.openxmlformats.org/officeDocument/2006/relationships/image" Target="../media/image81.png"/><Relationship Id="rId5" Type="http://schemas.openxmlformats.org/officeDocument/2006/relationships/image" Target="../media/image83.png"/><Relationship Id="rId6" Type="http://schemas.openxmlformats.org/officeDocument/2006/relationships/image" Target="../media/image88.png"/><Relationship Id="rId7" Type="http://schemas.openxmlformats.org/officeDocument/2006/relationships/image" Target="../media/image77.png"/><Relationship Id="rId8" Type="http://schemas.openxmlformats.org/officeDocument/2006/relationships/image" Target="../media/image79.png"/><Relationship Id="rId11" Type="http://schemas.openxmlformats.org/officeDocument/2006/relationships/image" Target="../media/image84.png"/><Relationship Id="rId10" Type="http://schemas.openxmlformats.org/officeDocument/2006/relationships/image" Target="../media/image8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30.png"/><Relationship Id="rId4" Type="http://schemas.openxmlformats.org/officeDocument/2006/relationships/image" Target="../media/image102.png"/><Relationship Id="rId9" Type="http://schemas.openxmlformats.org/officeDocument/2006/relationships/image" Target="../media/image81.png"/><Relationship Id="rId5" Type="http://schemas.openxmlformats.org/officeDocument/2006/relationships/image" Target="../media/image83.png"/><Relationship Id="rId6" Type="http://schemas.openxmlformats.org/officeDocument/2006/relationships/image" Target="../media/image88.png"/><Relationship Id="rId7" Type="http://schemas.openxmlformats.org/officeDocument/2006/relationships/image" Target="../media/image77.png"/><Relationship Id="rId8" Type="http://schemas.openxmlformats.org/officeDocument/2006/relationships/image" Target="../media/image79.png"/><Relationship Id="rId11" Type="http://schemas.openxmlformats.org/officeDocument/2006/relationships/image" Target="../media/image84.png"/><Relationship Id="rId10" Type="http://schemas.openxmlformats.org/officeDocument/2006/relationships/image" Target="../media/image80.png"/><Relationship Id="rId12" Type="http://schemas.openxmlformats.org/officeDocument/2006/relationships/image" Target="../media/image8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30.png"/><Relationship Id="rId4" Type="http://schemas.openxmlformats.org/officeDocument/2006/relationships/image" Target="../media/image102.png"/><Relationship Id="rId9" Type="http://schemas.openxmlformats.org/officeDocument/2006/relationships/image" Target="../media/image81.png"/><Relationship Id="rId5" Type="http://schemas.openxmlformats.org/officeDocument/2006/relationships/image" Target="../media/image83.png"/><Relationship Id="rId6" Type="http://schemas.openxmlformats.org/officeDocument/2006/relationships/image" Target="../media/image88.png"/><Relationship Id="rId7" Type="http://schemas.openxmlformats.org/officeDocument/2006/relationships/image" Target="../media/image77.png"/><Relationship Id="rId8" Type="http://schemas.openxmlformats.org/officeDocument/2006/relationships/image" Target="../media/image79.png"/><Relationship Id="rId11" Type="http://schemas.openxmlformats.org/officeDocument/2006/relationships/image" Target="../media/image84.png"/><Relationship Id="rId10" Type="http://schemas.openxmlformats.org/officeDocument/2006/relationships/image" Target="../media/image80.png"/><Relationship Id="rId13" Type="http://schemas.openxmlformats.org/officeDocument/2006/relationships/image" Target="../media/image85.png"/><Relationship Id="rId12" Type="http://schemas.openxmlformats.org/officeDocument/2006/relationships/image" Target="../media/image89.png"/><Relationship Id="rId14" Type="http://schemas.openxmlformats.org/officeDocument/2006/relationships/image" Target="../media/image8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 Id="rId3" Type="http://schemas.openxmlformats.org/officeDocument/2006/relationships/image" Target="../media/image30.png"/><Relationship Id="rId4" Type="http://schemas.openxmlformats.org/officeDocument/2006/relationships/image" Target="../media/image102.png"/><Relationship Id="rId9" Type="http://schemas.openxmlformats.org/officeDocument/2006/relationships/image" Target="../media/image81.png"/><Relationship Id="rId5" Type="http://schemas.openxmlformats.org/officeDocument/2006/relationships/image" Target="../media/image83.png"/><Relationship Id="rId6" Type="http://schemas.openxmlformats.org/officeDocument/2006/relationships/image" Target="../media/image88.png"/><Relationship Id="rId7" Type="http://schemas.openxmlformats.org/officeDocument/2006/relationships/image" Target="../media/image77.png"/><Relationship Id="rId8" Type="http://schemas.openxmlformats.org/officeDocument/2006/relationships/image" Target="../media/image79.png"/><Relationship Id="rId11" Type="http://schemas.openxmlformats.org/officeDocument/2006/relationships/image" Target="../media/image86.png"/><Relationship Id="rId10" Type="http://schemas.openxmlformats.org/officeDocument/2006/relationships/image" Target="../media/image80.png"/><Relationship Id="rId13" Type="http://schemas.openxmlformats.org/officeDocument/2006/relationships/image" Target="../media/image89.png"/><Relationship Id="rId12" Type="http://schemas.openxmlformats.org/officeDocument/2006/relationships/image" Target="../media/image84.png"/><Relationship Id="rId15" Type="http://schemas.openxmlformats.org/officeDocument/2006/relationships/image" Target="../media/image87.png"/><Relationship Id="rId14" Type="http://schemas.openxmlformats.org/officeDocument/2006/relationships/image" Target="../media/image8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30.png"/><Relationship Id="rId4" Type="http://schemas.openxmlformats.org/officeDocument/2006/relationships/image" Target="../media/image102.png"/><Relationship Id="rId9" Type="http://schemas.openxmlformats.org/officeDocument/2006/relationships/image" Target="../media/image79.png"/><Relationship Id="rId5" Type="http://schemas.openxmlformats.org/officeDocument/2006/relationships/image" Target="../media/image83.png"/><Relationship Id="rId6" Type="http://schemas.openxmlformats.org/officeDocument/2006/relationships/image" Target="../media/image88.png"/><Relationship Id="rId7" Type="http://schemas.openxmlformats.org/officeDocument/2006/relationships/image" Target="../media/image77.png"/><Relationship Id="rId8" Type="http://schemas.openxmlformats.org/officeDocument/2006/relationships/image" Target="../media/image93.png"/><Relationship Id="rId11" Type="http://schemas.openxmlformats.org/officeDocument/2006/relationships/image" Target="../media/image80.png"/><Relationship Id="rId10" Type="http://schemas.openxmlformats.org/officeDocument/2006/relationships/image" Target="../media/image81.png"/><Relationship Id="rId13" Type="http://schemas.openxmlformats.org/officeDocument/2006/relationships/image" Target="../media/image90.png"/><Relationship Id="rId12" Type="http://schemas.openxmlformats.org/officeDocument/2006/relationships/image" Target="../media/image86.png"/><Relationship Id="rId15" Type="http://schemas.openxmlformats.org/officeDocument/2006/relationships/image" Target="../media/image89.png"/><Relationship Id="rId14" Type="http://schemas.openxmlformats.org/officeDocument/2006/relationships/image" Target="../media/image84.png"/><Relationship Id="rId17" Type="http://schemas.openxmlformats.org/officeDocument/2006/relationships/image" Target="../media/image87.png"/><Relationship Id="rId16" Type="http://schemas.openxmlformats.org/officeDocument/2006/relationships/image" Target="../media/image85.png"/></Relationships>
</file>

<file path=ppt/slides/_rels/slide40.xml.rels><?xml version="1.0" encoding="UTF-8" standalone="yes"?><Relationships xmlns="http://schemas.openxmlformats.org/package/2006/relationships"><Relationship Id="rId20" Type="http://schemas.openxmlformats.org/officeDocument/2006/relationships/image" Target="../media/image111.png"/><Relationship Id="rId22" Type="http://schemas.openxmlformats.org/officeDocument/2006/relationships/image" Target="../media/image102.png"/><Relationship Id="rId21" Type="http://schemas.openxmlformats.org/officeDocument/2006/relationships/image" Target="../media/image113.png"/><Relationship Id="rId24" Type="http://schemas.openxmlformats.org/officeDocument/2006/relationships/image" Target="../media/image88.png"/><Relationship Id="rId23" Type="http://schemas.openxmlformats.org/officeDocument/2006/relationships/image" Target="../media/image83.png"/><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30.png"/><Relationship Id="rId4" Type="http://schemas.openxmlformats.org/officeDocument/2006/relationships/image" Target="../media/image97.png"/><Relationship Id="rId9" Type="http://schemas.openxmlformats.org/officeDocument/2006/relationships/image" Target="../media/image94.png"/><Relationship Id="rId26" Type="http://schemas.openxmlformats.org/officeDocument/2006/relationships/image" Target="../media/image93.png"/><Relationship Id="rId25" Type="http://schemas.openxmlformats.org/officeDocument/2006/relationships/image" Target="../media/image77.png"/><Relationship Id="rId28" Type="http://schemas.openxmlformats.org/officeDocument/2006/relationships/image" Target="../media/image81.png"/><Relationship Id="rId27" Type="http://schemas.openxmlformats.org/officeDocument/2006/relationships/image" Target="../media/image79.png"/><Relationship Id="rId5" Type="http://schemas.openxmlformats.org/officeDocument/2006/relationships/image" Target="../media/image95.png"/><Relationship Id="rId6" Type="http://schemas.openxmlformats.org/officeDocument/2006/relationships/image" Target="../media/image92.png"/><Relationship Id="rId29" Type="http://schemas.openxmlformats.org/officeDocument/2006/relationships/image" Target="../media/image80.png"/><Relationship Id="rId7" Type="http://schemas.openxmlformats.org/officeDocument/2006/relationships/image" Target="../media/image98.png"/><Relationship Id="rId8" Type="http://schemas.openxmlformats.org/officeDocument/2006/relationships/image" Target="../media/image91.png"/><Relationship Id="rId31" Type="http://schemas.openxmlformats.org/officeDocument/2006/relationships/image" Target="../media/image90.png"/><Relationship Id="rId30" Type="http://schemas.openxmlformats.org/officeDocument/2006/relationships/image" Target="../media/image86.png"/><Relationship Id="rId11" Type="http://schemas.openxmlformats.org/officeDocument/2006/relationships/image" Target="../media/image100.png"/><Relationship Id="rId33" Type="http://schemas.openxmlformats.org/officeDocument/2006/relationships/image" Target="../media/image89.png"/><Relationship Id="rId10" Type="http://schemas.openxmlformats.org/officeDocument/2006/relationships/image" Target="../media/image96.png"/><Relationship Id="rId32" Type="http://schemas.openxmlformats.org/officeDocument/2006/relationships/image" Target="../media/image84.png"/><Relationship Id="rId13" Type="http://schemas.openxmlformats.org/officeDocument/2006/relationships/image" Target="../media/image103.png"/><Relationship Id="rId35" Type="http://schemas.openxmlformats.org/officeDocument/2006/relationships/image" Target="../media/image87.png"/><Relationship Id="rId12" Type="http://schemas.openxmlformats.org/officeDocument/2006/relationships/image" Target="../media/image99.png"/><Relationship Id="rId34" Type="http://schemas.openxmlformats.org/officeDocument/2006/relationships/image" Target="../media/image85.png"/><Relationship Id="rId15" Type="http://schemas.openxmlformats.org/officeDocument/2006/relationships/image" Target="../media/image108.png"/><Relationship Id="rId14" Type="http://schemas.openxmlformats.org/officeDocument/2006/relationships/image" Target="../media/image101.png"/><Relationship Id="rId17" Type="http://schemas.openxmlformats.org/officeDocument/2006/relationships/image" Target="../media/image104.png"/><Relationship Id="rId16" Type="http://schemas.openxmlformats.org/officeDocument/2006/relationships/image" Target="../media/image105.png"/><Relationship Id="rId19" Type="http://schemas.openxmlformats.org/officeDocument/2006/relationships/image" Target="../media/image110.png"/><Relationship Id="rId18" Type="http://schemas.openxmlformats.org/officeDocument/2006/relationships/image" Target="../media/image10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30.png"/><Relationship Id="rId4" Type="http://schemas.openxmlformats.org/officeDocument/2006/relationships/image" Target="../media/image109.png"/><Relationship Id="rId5" Type="http://schemas.openxmlformats.org/officeDocument/2006/relationships/image" Target="../media/image116.png"/><Relationship Id="rId6" Type="http://schemas.openxmlformats.org/officeDocument/2006/relationships/image" Target="../media/image107.png"/><Relationship Id="rId7" Type="http://schemas.openxmlformats.org/officeDocument/2006/relationships/image" Target="../media/image118.png"/><Relationship Id="rId8" Type="http://schemas.openxmlformats.org/officeDocument/2006/relationships/image" Target="../media/image1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30.png"/><Relationship Id="rId4" Type="http://schemas.openxmlformats.org/officeDocument/2006/relationships/image" Target="../media/image109.png"/><Relationship Id="rId5" Type="http://schemas.openxmlformats.org/officeDocument/2006/relationships/image" Target="../media/image116.png"/><Relationship Id="rId6" Type="http://schemas.openxmlformats.org/officeDocument/2006/relationships/image" Target="../media/image112.png"/><Relationship Id="rId7" Type="http://schemas.openxmlformats.org/officeDocument/2006/relationships/image" Target="../media/image121.png"/><Relationship Id="rId8" Type="http://schemas.openxmlformats.org/officeDocument/2006/relationships/image" Target="../media/image1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30.png"/><Relationship Id="rId4" Type="http://schemas.openxmlformats.org/officeDocument/2006/relationships/hyperlink" Target="http://www.youtube.com/watch?v=KYvOqUB_odg" TargetMode="External"/><Relationship Id="rId5" Type="http://schemas.openxmlformats.org/officeDocument/2006/relationships/image" Target="../media/image114.jpg"/><Relationship Id="rId6" Type="http://schemas.openxmlformats.org/officeDocument/2006/relationships/hyperlink" Target="https://youtu.be/KYvOqUB_odg" TargetMode="External"/></Relationships>
</file>

<file path=ppt/slides/_rels/slide44.xml.rels><?xml version="1.0" encoding="UTF-8" standalone="yes"?><Relationships xmlns="http://schemas.openxmlformats.org/package/2006/relationships"><Relationship Id="rId20" Type="http://schemas.openxmlformats.org/officeDocument/2006/relationships/image" Target="../media/image93.png"/><Relationship Id="rId22" Type="http://schemas.openxmlformats.org/officeDocument/2006/relationships/image" Target="../media/image81.png"/><Relationship Id="rId21" Type="http://schemas.openxmlformats.org/officeDocument/2006/relationships/image" Target="../media/image79.png"/><Relationship Id="rId24" Type="http://schemas.openxmlformats.org/officeDocument/2006/relationships/image" Target="../media/image86.png"/><Relationship Id="rId23" Type="http://schemas.openxmlformats.org/officeDocument/2006/relationships/image" Target="../media/image80.png"/><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30.png"/><Relationship Id="rId4" Type="http://schemas.openxmlformats.org/officeDocument/2006/relationships/image" Target="../media/image97.png"/><Relationship Id="rId9" Type="http://schemas.openxmlformats.org/officeDocument/2006/relationships/image" Target="../media/image94.png"/><Relationship Id="rId26" Type="http://schemas.openxmlformats.org/officeDocument/2006/relationships/image" Target="../media/image84.png"/><Relationship Id="rId25" Type="http://schemas.openxmlformats.org/officeDocument/2006/relationships/image" Target="../media/image90.png"/><Relationship Id="rId28" Type="http://schemas.openxmlformats.org/officeDocument/2006/relationships/image" Target="../media/image85.png"/><Relationship Id="rId27" Type="http://schemas.openxmlformats.org/officeDocument/2006/relationships/image" Target="../media/image89.png"/><Relationship Id="rId5" Type="http://schemas.openxmlformats.org/officeDocument/2006/relationships/image" Target="../media/image95.png"/><Relationship Id="rId6" Type="http://schemas.openxmlformats.org/officeDocument/2006/relationships/image" Target="../media/image92.png"/><Relationship Id="rId29" Type="http://schemas.openxmlformats.org/officeDocument/2006/relationships/image" Target="../media/image87.png"/><Relationship Id="rId7" Type="http://schemas.openxmlformats.org/officeDocument/2006/relationships/image" Target="../media/image98.png"/><Relationship Id="rId8" Type="http://schemas.openxmlformats.org/officeDocument/2006/relationships/image" Target="../media/image91.png"/><Relationship Id="rId11" Type="http://schemas.openxmlformats.org/officeDocument/2006/relationships/image" Target="../media/image108.png"/><Relationship Id="rId10" Type="http://schemas.openxmlformats.org/officeDocument/2006/relationships/image" Target="../media/image100.png"/><Relationship Id="rId13" Type="http://schemas.openxmlformats.org/officeDocument/2006/relationships/image" Target="../media/image104.png"/><Relationship Id="rId12" Type="http://schemas.openxmlformats.org/officeDocument/2006/relationships/image" Target="../media/image105.png"/><Relationship Id="rId15" Type="http://schemas.openxmlformats.org/officeDocument/2006/relationships/image" Target="../media/image110.png"/><Relationship Id="rId14" Type="http://schemas.openxmlformats.org/officeDocument/2006/relationships/image" Target="../media/image106.png"/><Relationship Id="rId17" Type="http://schemas.openxmlformats.org/officeDocument/2006/relationships/image" Target="../media/image83.png"/><Relationship Id="rId16" Type="http://schemas.openxmlformats.org/officeDocument/2006/relationships/image" Target="../media/image102.png"/><Relationship Id="rId19" Type="http://schemas.openxmlformats.org/officeDocument/2006/relationships/image" Target="../media/image77.png"/><Relationship Id="rId18" Type="http://schemas.openxmlformats.org/officeDocument/2006/relationships/image" Target="../media/image8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30.png"/><Relationship Id="rId4" Type="http://schemas.openxmlformats.org/officeDocument/2006/relationships/image" Target="../media/image120.png"/><Relationship Id="rId5" Type="http://schemas.openxmlformats.org/officeDocument/2006/relationships/image" Target="../media/image11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30.png"/><Relationship Id="rId4" Type="http://schemas.openxmlformats.org/officeDocument/2006/relationships/image" Target="../media/image12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 Id="rId3"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5"/>
          <p:cNvSpPr txBox="1"/>
          <p:nvPr/>
        </p:nvSpPr>
        <p:spPr>
          <a:xfrm>
            <a:off x="412375" y="1468150"/>
            <a:ext cx="8774400" cy="13371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lt1"/>
              </a:buClr>
              <a:buSzPts val="3600"/>
              <a:buFont typeface="Arial"/>
              <a:buNone/>
            </a:pPr>
            <a:r>
              <a:rPr b="1" lang="es" sz="3600">
                <a:solidFill>
                  <a:schemeClr val="lt1"/>
                </a:solidFill>
              </a:rPr>
              <a:t>SLAM Course </a:t>
            </a:r>
            <a:endParaRPr b="1" sz="3600">
              <a:solidFill>
                <a:schemeClr val="lt1"/>
              </a:solidFill>
            </a:endParaRPr>
          </a:p>
          <a:p>
            <a:pPr indent="0" lvl="0" marL="0" marR="0" rtl="0" algn="l">
              <a:lnSpc>
                <a:spcPct val="90000"/>
              </a:lnSpc>
              <a:spcBef>
                <a:spcPts val="0"/>
              </a:spcBef>
              <a:spcAft>
                <a:spcPts val="0"/>
              </a:spcAft>
              <a:buClr>
                <a:schemeClr val="lt1"/>
              </a:buClr>
              <a:buSzPts val="3600"/>
              <a:buFont typeface="Arial"/>
              <a:buNone/>
            </a:pPr>
            <a:r>
              <a:rPr b="1" lang="es" sz="3600">
                <a:solidFill>
                  <a:schemeClr val="lt1"/>
                </a:solidFill>
              </a:rPr>
              <a:t>08 - Factor Graphs</a:t>
            </a:r>
            <a:endParaRPr b="1" sz="3600">
              <a:solidFill>
                <a:schemeClr val="lt1"/>
              </a:solidFill>
            </a:endParaRPr>
          </a:p>
        </p:txBody>
      </p:sp>
      <p:sp>
        <p:nvSpPr>
          <p:cNvPr id="62" name="Google Shape;62;p15"/>
          <p:cNvSpPr txBox="1"/>
          <p:nvPr/>
        </p:nvSpPr>
        <p:spPr>
          <a:xfrm>
            <a:off x="419841" y="2953388"/>
            <a:ext cx="4471500" cy="6945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chemeClr val="lt1"/>
              </a:buClr>
              <a:buSzPts val="1800"/>
              <a:buFont typeface="Arial"/>
              <a:buNone/>
            </a:pPr>
            <a:r>
              <a:rPr lang="es" sz="1800">
                <a:solidFill>
                  <a:schemeClr val="lt1"/>
                </a:solidFill>
              </a:rPr>
              <a:t>Dr Alejandro Fontán Villacampa</a:t>
            </a:r>
            <a:endParaRPr sz="1800">
              <a:solidFill>
                <a:schemeClr val="lt1"/>
              </a:solidFill>
            </a:endParaRPr>
          </a:p>
          <a:p>
            <a:pPr indent="0" lvl="0" marL="0" marR="0" rtl="0" algn="l">
              <a:lnSpc>
                <a:spcPct val="90000"/>
              </a:lnSpc>
              <a:spcBef>
                <a:spcPts val="0"/>
              </a:spcBef>
              <a:spcAft>
                <a:spcPts val="0"/>
              </a:spcAft>
              <a:buClr>
                <a:schemeClr val="lt1"/>
              </a:buClr>
              <a:buSzPts val="1800"/>
              <a:buFont typeface="Arial"/>
              <a:buNone/>
            </a:pPr>
            <a:r>
              <a:rPr lang="es" sz="1800">
                <a:solidFill>
                  <a:schemeClr val="lt1"/>
                </a:solidFill>
              </a:rPr>
              <a:t>April 2026</a:t>
            </a:r>
            <a:endParaRPr sz="1800">
              <a:solidFill>
                <a:schemeClr val="lt1"/>
              </a:solidFill>
            </a:endParaRPr>
          </a:p>
        </p:txBody>
      </p:sp>
      <p:grpSp>
        <p:nvGrpSpPr>
          <p:cNvPr id="63" name="Google Shape;63;p15"/>
          <p:cNvGrpSpPr/>
          <p:nvPr/>
        </p:nvGrpSpPr>
        <p:grpSpPr>
          <a:xfrm>
            <a:off x="1613382" y="135958"/>
            <a:ext cx="680796" cy="663154"/>
            <a:chOff x="1613382" y="135958"/>
            <a:chExt cx="680796" cy="663154"/>
          </a:xfrm>
        </p:grpSpPr>
        <p:sp>
          <p:nvSpPr>
            <p:cNvPr id="64" name="Google Shape;64;p15"/>
            <p:cNvSpPr/>
            <p:nvPr/>
          </p:nvSpPr>
          <p:spPr>
            <a:xfrm>
              <a:off x="1737301" y="520606"/>
              <a:ext cx="278438" cy="278506"/>
            </a:xfrm>
            <a:prstGeom prst="rect">
              <a:avLst/>
            </a:prstGeom>
            <a:solidFill>
              <a:srgbClr val="A59DDF"/>
            </a:solidFill>
            <a:ln>
              <a:noFill/>
            </a:ln>
          </p:spPr>
          <p:txBody>
            <a:bodyPr anchorCtr="0" anchor="ctr" bIns="15725" lIns="15725" spcFirstLastPara="1" rIns="15725" wrap="square" tIns="15725">
              <a:noAutofit/>
            </a:bodyPr>
            <a:lstStyle/>
            <a:p>
              <a:pPr indent="0" lvl="0" marL="0" rtl="0" algn="ctr">
                <a:spcBef>
                  <a:spcPts val="0"/>
                </a:spcBef>
                <a:spcAft>
                  <a:spcPts val="0"/>
                </a:spcAft>
                <a:buNone/>
              </a:pPr>
              <a:r>
                <a:t/>
              </a:r>
              <a:endParaRPr sz="241"/>
            </a:p>
          </p:txBody>
        </p:sp>
        <p:sp>
          <p:nvSpPr>
            <p:cNvPr id="65" name="Google Shape;65;p15"/>
            <p:cNvSpPr/>
            <p:nvPr/>
          </p:nvSpPr>
          <p:spPr>
            <a:xfrm>
              <a:off x="2015739" y="520606"/>
              <a:ext cx="278438" cy="278506"/>
            </a:xfrm>
            <a:prstGeom prst="rect">
              <a:avLst/>
            </a:prstGeom>
            <a:solidFill>
              <a:srgbClr val="8195FB"/>
            </a:solidFill>
            <a:ln>
              <a:noFill/>
            </a:ln>
          </p:spPr>
          <p:txBody>
            <a:bodyPr anchorCtr="0" anchor="ctr" bIns="15725" lIns="15725" spcFirstLastPara="1" rIns="15725" wrap="square" tIns="15725">
              <a:noAutofit/>
            </a:bodyPr>
            <a:lstStyle/>
            <a:p>
              <a:pPr indent="0" lvl="0" marL="0" rtl="0" algn="r">
                <a:spcBef>
                  <a:spcPts val="0"/>
                </a:spcBef>
                <a:spcAft>
                  <a:spcPts val="0"/>
                </a:spcAft>
                <a:buNone/>
              </a:pPr>
              <a:r>
                <a:t/>
              </a:r>
              <a:endParaRPr sz="241"/>
            </a:p>
          </p:txBody>
        </p:sp>
        <p:sp>
          <p:nvSpPr>
            <p:cNvPr id="66" name="Google Shape;66;p15"/>
            <p:cNvSpPr/>
            <p:nvPr/>
          </p:nvSpPr>
          <p:spPr>
            <a:xfrm>
              <a:off x="2015739" y="242100"/>
              <a:ext cx="278438" cy="278506"/>
            </a:xfrm>
            <a:prstGeom prst="rect">
              <a:avLst/>
            </a:prstGeom>
            <a:solidFill>
              <a:srgbClr val="B5F3F9"/>
            </a:solidFill>
            <a:ln>
              <a:noFill/>
            </a:ln>
          </p:spPr>
          <p:txBody>
            <a:bodyPr anchorCtr="0" anchor="ctr" bIns="15725" lIns="15725" spcFirstLastPara="1" rIns="15725" wrap="square" tIns="15725">
              <a:noAutofit/>
            </a:bodyPr>
            <a:lstStyle/>
            <a:p>
              <a:pPr indent="0" lvl="0" marL="0" rtl="0" algn="ctr">
                <a:spcBef>
                  <a:spcPts val="0"/>
                </a:spcBef>
                <a:spcAft>
                  <a:spcPts val="0"/>
                </a:spcAft>
                <a:buNone/>
              </a:pPr>
              <a:r>
                <a:t/>
              </a:r>
              <a:endParaRPr sz="241"/>
            </a:p>
          </p:txBody>
        </p:sp>
        <p:pic>
          <p:nvPicPr>
            <p:cNvPr id="67" name="Google Shape;67;p15"/>
            <p:cNvPicPr preferRelativeResize="0"/>
            <p:nvPr/>
          </p:nvPicPr>
          <p:blipFill>
            <a:blip r:embed="rId3">
              <a:alphaModFix/>
            </a:blip>
            <a:stretch>
              <a:fillRect/>
            </a:stretch>
          </p:blipFill>
          <p:spPr>
            <a:xfrm flipH="1" rot="133019">
              <a:off x="1623942" y="146521"/>
              <a:ext cx="556872" cy="557008"/>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000">
                <a:solidFill>
                  <a:schemeClr val="dk1"/>
                </a:solidFill>
              </a:rPr>
              <a:t>These slides were created by </a:t>
            </a:r>
            <a:r>
              <a:rPr b="1" lang="es" sz="1000">
                <a:solidFill>
                  <a:srgbClr val="193364"/>
                </a:solidFill>
              </a:rPr>
              <a:t>Alejandro Fontan</a:t>
            </a:r>
            <a:r>
              <a:rPr lang="es" sz="1000">
                <a:solidFill>
                  <a:schemeClr val="dk1"/>
                </a:solidFill>
              </a:rPr>
              <a:t> as part of the </a:t>
            </a:r>
            <a:r>
              <a:rPr b="1" lang="es" sz="1000">
                <a:solidFill>
                  <a:srgbClr val="193364"/>
                </a:solidFill>
              </a:rPr>
              <a:t>SLAM course</a:t>
            </a:r>
            <a:r>
              <a:rPr lang="es" sz="1000">
                <a:solidFill>
                  <a:schemeClr val="dk1"/>
                </a:solidFill>
              </a:rPr>
              <a:t>.</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s" sz="1000">
                <a:solidFill>
                  <a:schemeClr val="dk1"/>
                </a:solidFill>
              </a:rPr>
              <a:t>I have made every effort to acknowledge all sources from which slides, images, or videos were used. If I have made an error or omission, please let me know.</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marR="0" rtl="0" algn="l">
              <a:lnSpc>
                <a:spcPct val="100000"/>
              </a:lnSpc>
              <a:spcBef>
                <a:spcPts val="0"/>
              </a:spcBef>
              <a:spcAft>
                <a:spcPts val="0"/>
              </a:spcAft>
              <a:buNone/>
            </a:pPr>
            <a:r>
              <a:rPr lang="es" sz="1000">
                <a:solidFill>
                  <a:schemeClr val="dk1"/>
                </a:solidFill>
              </a:rPr>
              <a:t>Special acknowledgments</a:t>
            </a:r>
            <a:endParaRPr sz="1000">
              <a:solidFill>
                <a:schemeClr val="dk1"/>
              </a:solidFill>
            </a:endParaRPr>
          </a:p>
          <a:p>
            <a:pPr indent="-292100" lvl="0" marL="457200" marR="0" rtl="0" algn="l">
              <a:lnSpc>
                <a:spcPct val="100000"/>
              </a:lnSpc>
              <a:spcBef>
                <a:spcPts val="0"/>
              </a:spcBef>
              <a:spcAft>
                <a:spcPts val="0"/>
              </a:spcAft>
              <a:buClr>
                <a:schemeClr val="dk1"/>
              </a:buClr>
              <a:buSzPts val="1000"/>
              <a:buChar char="❖"/>
            </a:pPr>
            <a:r>
              <a:rPr b="1" lang="es" sz="1000">
                <a:solidFill>
                  <a:srgbClr val="193364"/>
                </a:solidFill>
              </a:rPr>
              <a:t>Cyrill Stachniss</a:t>
            </a:r>
            <a:r>
              <a:rPr lang="es" sz="1000">
                <a:solidFill>
                  <a:schemeClr val="dk1"/>
                </a:solidFill>
              </a:rPr>
              <a:t> — </a:t>
            </a:r>
            <a:r>
              <a:rPr i="1" lang="es" sz="1000">
                <a:solidFill>
                  <a:schemeClr val="dk1"/>
                </a:solidFill>
              </a:rPr>
              <a:t>Photogrammetry and Robotics.</a:t>
            </a:r>
            <a:r>
              <a:rPr lang="es" sz="1000">
                <a:solidFill>
                  <a:schemeClr val="dk1"/>
                </a:solidFill>
              </a:rPr>
              <a:t> These slides draw heavily on Cyrill Stachniss's course material. That material in turn relied on the lecture notes by Wolfgang Förstner and the book Photogrammetric Computer Vision by Förstner &amp; Wrobel. Parts of the robotics content are based on Probabilistic Robotics by Thrun, Burgard, and Fox.</a:t>
            </a:r>
            <a:endParaRPr sz="1000">
              <a:solidFill>
                <a:schemeClr val="dk1"/>
              </a:solidFill>
            </a:endParaRPr>
          </a:p>
          <a:p>
            <a:pPr indent="-292100" lvl="0" marL="457200" marR="0" rtl="0" algn="l">
              <a:lnSpc>
                <a:spcPct val="100000"/>
              </a:lnSpc>
              <a:spcBef>
                <a:spcPts val="0"/>
              </a:spcBef>
              <a:spcAft>
                <a:spcPts val="0"/>
              </a:spcAft>
              <a:buClr>
                <a:schemeClr val="dk1"/>
              </a:buClr>
              <a:buSzPts val="1000"/>
              <a:buChar char="❖"/>
            </a:pPr>
            <a:r>
              <a:rPr b="1" lang="es" sz="1000">
                <a:solidFill>
                  <a:srgbClr val="193364"/>
                </a:solidFill>
              </a:rPr>
              <a:t>Kaveh Fathian</a:t>
            </a:r>
            <a:r>
              <a:rPr lang="es" sz="1000">
                <a:solidFill>
                  <a:schemeClr val="dk1"/>
                </a:solidFill>
              </a:rPr>
              <a:t> — </a:t>
            </a:r>
            <a:r>
              <a:rPr i="1" lang="es" sz="1000">
                <a:solidFill>
                  <a:schemeClr val="dk1"/>
                </a:solidFill>
              </a:rPr>
              <a:t>Robotic Mapping and Localization</a:t>
            </a:r>
            <a:r>
              <a:rPr lang="es" sz="1000">
                <a:solidFill>
                  <a:schemeClr val="dk1"/>
                </a:solidFill>
              </a:rPr>
              <a:t>, Colorado School of Mines, Department of Computer Science. These slides draw heavily on the course material, which was itself compiled from several courses, lectures, and code repositories. Corresponding references are cited at the end of each lecture.</a:t>
            </a:r>
            <a:endParaRPr sz="1000">
              <a:solidFill>
                <a:schemeClr val="dk1"/>
              </a:solidFill>
            </a:endParaRPr>
          </a:p>
          <a:p>
            <a:pPr indent="-292100" lvl="0" marL="457200" marR="0" rtl="0" algn="l">
              <a:lnSpc>
                <a:spcPct val="100000"/>
              </a:lnSpc>
              <a:spcBef>
                <a:spcPts val="0"/>
              </a:spcBef>
              <a:spcAft>
                <a:spcPts val="0"/>
              </a:spcAft>
              <a:buClr>
                <a:schemeClr val="dk1"/>
              </a:buClr>
              <a:buSzPts val="1000"/>
              <a:buChar char="❖"/>
            </a:pPr>
            <a:r>
              <a:rPr b="1" lang="es" sz="1000">
                <a:solidFill>
                  <a:srgbClr val="193364"/>
                </a:solidFill>
              </a:rPr>
              <a:t>Antonio Torralba</a:t>
            </a:r>
            <a:r>
              <a:rPr lang="es" sz="1000">
                <a:solidFill>
                  <a:schemeClr val="dk1"/>
                </a:solidFill>
              </a:rPr>
              <a:t>, </a:t>
            </a:r>
            <a:r>
              <a:rPr b="1" lang="es" sz="1000">
                <a:solidFill>
                  <a:srgbClr val="193364"/>
                </a:solidFill>
              </a:rPr>
              <a:t>Phillip Isola</a:t>
            </a:r>
            <a:r>
              <a:rPr lang="es" sz="1000">
                <a:solidFill>
                  <a:schemeClr val="dk1"/>
                </a:solidFill>
              </a:rPr>
              <a:t>, and </a:t>
            </a:r>
            <a:r>
              <a:rPr b="1" lang="es" sz="1000">
                <a:solidFill>
                  <a:srgbClr val="193364"/>
                </a:solidFill>
              </a:rPr>
              <a:t>William T. Freeman</a:t>
            </a:r>
            <a:r>
              <a:rPr lang="es" sz="1000">
                <a:solidFill>
                  <a:schemeClr val="dk1"/>
                </a:solidFill>
              </a:rPr>
              <a:t> — </a:t>
            </a:r>
            <a:r>
              <a:rPr i="1" lang="es" sz="1000">
                <a:solidFill>
                  <a:schemeClr val="dk1"/>
                </a:solidFill>
              </a:rPr>
              <a:t>Foundations of Computer Vision.</a:t>
            </a:r>
            <a:r>
              <a:rPr lang="es" sz="1000">
                <a:solidFill>
                  <a:schemeClr val="dk1"/>
                </a:solidFill>
              </a:rPr>
              <a:t> Some images are sourced from this book.</a:t>
            </a:r>
            <a:endParaRPr sz="1000">
              <a:solidFill>
                <a:schemeClr val="dk1"/>
              </a:solidFill>
            </a:endParaRPr>
          </a:p>
          <a:p>
            <a:pPr indent="-292100" lvl="0" marL="457200" marR="0" rtl="0" algn="l">
              <a:lnSpc>
                <a:spcPct val="100000"/>
              </a:lnSpc>
              <a:spcBef>
                <a:spcPts val="0"/>
              </a:spcBef>
              <a:spcAft>
                <a:spcPts val="0"/>
              </a:spcAft>
              <a:buClr>
                <a:schemeClr val="dk1"/>
              </a:buClr>
              <a:buSzPts val="1000"/>
              <a:buChar char="❖"/>
            </a:pPr>
            <a:r>
              <a:rPr b="1" lang="es" sz="1000">
                <a:solidFill>
                  <a:srgbClr val="193364"/>
                </a:solidFill>
              </a:rPr>
              <a:t>L. Carlone</a:t>
            </a:r>
            <a:r>
              <a:rPr lang="es" sz="1000">
                <a:solidFill>
                  <a:schemeClr val="dk1"/>
                </a:solidFill>
              </a:rPr>
              <a:t>, </a:t>
            </a:r>
            <a:r>
              <a:rPr b="1" lang="es" sz="1000">
                <a:solidFill>
                  <a:srgbClr val="193364"/>
                </a:solidFill>
              </a:rPr>
              <a:t>A. Kim</a:t>
            </a:r>
            <a:r>
              <a:rPr lang="es" sz="1000">
                <a:solidFill>
                  <a:schemeClr val="dk1"/>
                </a:solidFill>
              </a:rPr>
              <a:t>, </a:t>
            </a:r>
            <a:r>
              <a:rPr b="1" lang="es" sz="1000">
                <a:solidFill>
                  <a:srgbClr val="193364"/>
                </a:solidFill>
              </a:rPr>
              <a:t>T. Barfoot</a:t>
            </a:r>
            <a:r>
              <a:rPr lang="es" sz="1000">
                <a:solidFill>
                  <a:schemeClr val="dk1"/>
                </a:solidFill>
              </a:rPr>
              <a:t>, </a:t>
            </a:r>
            <a:r>
              <a:rPr b="1" lang="es" sz="1000">
                <a:solidFill>
                  <a:srgbClr val="193364"/>
                </a:solidFill>
              </a:rPr>
              <a:t>D. Cremers</a:t>
            </a:r>
            <a:r>
              <a:rPr lang="es" sz="1000">
                <a:solidFill>
                  <a:schemeClr val="dk1"/>
                </a:solidFill>
              </a:rPr>
              <a:t>, and </a:t>
            </a:r>
            <a:r>
              <a:rPr b="1" lang="es" sz="1000">
                <a:solidFill>
                  <a:srgbClr val="193364"/>
                </a:solidFill>
              </a:rPr>
              <a:t>F. Dellaert</a:t>
            </a:r>
            <a:r>
              <a:rPr lang="es" sz="1000">
                <a:solidFill>
                  <a:schemeClr val="dk1"/>
                </a:solidFill>
              </a:rPr>
              <a:t> — </a:t>
            </a:r>
            <a:r>
              <a:rPr i="1" lang="es" sz="1000">
                <a:solidFill>
                  <a:schemeClr val="dk1"/>
                </a:solidFill>
              </a:rPr>
              <a:t>SLAM Handbook: From Localization and Mapping to Spatial Intelligence</a:t>
            </a:r>
            <a:r>
              <a:rPr lang="es" sz="1000">
                <a:solidFill>
                  <a:schemeClr val="dk1"/>
                </a:solidFill>
              </a:rPr>
              <a:t>, eds.. Cambridge University Press, 2026.</a:t>
            </a:r>
            <a:endParaRPr sz="1000">
              <a:solidFill>
                <a:schemeClr val="dk1"/>
              </a:solidFill>
            </a:endParaRPr>
          </a:p>
          <a:p>
            <a:pPr indent="0" lvl="0" marL="0" marR="0" rtl="0" algn="l">
              <a:lnSpc>
                <a:spcPct val="100000"/>
              </a:lnSpc>
              <a:spcBef>
                <a:spcPts val="0"/>
              </a:spcBef>
              <a:spcAft>
                <a:spcPts val="0"/>
              </a:spcAft>
              <a:buNone/>
            </a:pPr>
            <a:r>
              <a:t/>
            </a:r>
            <a:endParaRPr sz="1000">
              <a:solidFill>
                <a:schemeClr val="dk1"/>
              </a:solidFill>
            </a:endParaRPr>
          </a:p>
          <a:p>
            <a:pPr indent="0" lvl="0" marL="0" marR="0" rtl="0" algn="l">
              <a:lnSpc>
                <a:spcPct val="100000"/>
              </a:lnSpc>
              <a:spcBef>
                <a:spcPts val="0"/>
              </a:spcBef>
              <a:spcAft>
                <a:spcPts val="0"/>
              </a:spcAft>
              <a:buNone/>
            </a:pPr>
            <a:r>
              <a:rPr lang="es" sz="1000">
                <a:solidFill>
                  <a:schemeClr val="dk1"/>
                </a:solidFill>
              </a:rPr>
              <a:t>For Educators</a:t>
            </a:r>
            <a:r>
              <a:rPr b="1" lang="es" sz="1100">
                <a:solidFill>
                  <a:schemeClr val="dk1"/>
                </a:solidFill>
              </a:rPr>
              <a:t>: </a:t>
            </a:r>
            <a:r>
              <a:rPr lang="es" sz="1000">
                <a:solidFill>
                  <a:schemeClr val="dk1"/>
                </a:solidFill>
              </a:rPr>
              <a:t>university lecturers are welcome to use this material freely. If you adapt it, please retain all existing acknowledgments and add an acknowledgment to </a:t>
            </a:r>
            <a:r>
              <a:rPr b="1" lang="es" sz="1000">
                <a:solidFill>
                  <a:schemeClr val="dk1"/>
                </a:solidFill>
              </a:rPr>
              <a:t>Alejandro Fontan</a:t>
            </a:r>
            <a:r>
              <a:rPr lang="es" sz="1000">
                <a:solidFill>
                  <a:schemeClr val="dk1"/>
                </a:solidFill>
              </a:rPr>
              <a:t>. As a personal favour, I would appreciate an email notice if you use these slides.</a:t>
            </a:r>
            <a:endParaRPr sz="1000">
              <a:solidFill>
                <a:schemeClr val="dk1"/>
              </a:solidFill>
            </a:endParaRPr>
          </a:p>
          <a:p>
            <a:pPr indent="0" lvl="0" marL="0" marR="0" rtl="0" algn="l">
              <a:lnSpc>
                <a:spcPct val="100000"/>
              </a:lnSpc>
              <a:spcBef>
                <a:spcPts val="0"/>
              </a:spcBef>
              <a:spcAft>
                <a:spcPts val="0"/>
              </a:spcAft>
              <a:buNone/>
            </a:pPr>
            <a:r>
              <a:t/>
            </a:r>
            <a:endParaRPr sz="1000">
              <a:solidFill>
                <a:schemeClr val="dk1"/>
              </a:solidFill>
            </a:endParaRPr>
          </a:p>
          <a:p>
            <a:pPr indent="0" lvl="0" marL="0" marR="0" rtl="0" algn="l">
              <a:lnSpc>
                <a:spcPct val="100000"/>
              </a:lnSpc>
              <a:spcBef>
                <a:spcPts val="0"/>
              </a:spcBef>
              <a:spcAft>
                <a:spcPts val="0"/>
              </a:spcAft>
              <a:buNone/>
            </a:pPr>
            <a:r>
              <a:rPr lang="es" sz="1000">
                <a:solidFill>
                  <a:schemeClr val="dk1"/>
                </a:solidFill>
              </a:rPr>
              <a:t>		Alejandro Fontan: 	alejandro.fontan@qut.edu.au</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000">
              <a:solidFill>
                <a:schemeClr val="dk1"/>
              </a:solidFill>
            </a:endParaRPr>
          </a:p>
        </p:txBody>
      </p:sp>
      <p:sp>
        <p:nvSpPr>
          <p:cNvPr id="73" name="Google Shape;73;p16"/>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2400">
                <a:solidFill>
                  <a:srgbClr val="193364"/>
                </a:solidFill>
              </a:rPr>
              <a:t>Course Material Attribution</a:t>
            </a:r>
            <a:endParaRPr b="1" sz="2400">
              <a:solidFill>
                <a:srgbClr val="193364"/>
              </a:solidFill>
            </a:endParaRPr>
          </a:p>
        </p:txBody>
      </p:sp>
      <p:grpSp>
        <p:nvGrpSpPr>
          <p:cNvPr id="74" name="Google Shape;74;p16"/>
          <p:cNvGrpSpPr/>
          <p:nvPr/>
        </p:nvGrpSpPr>
        <p:grpSpPr>
          <a:xfrm>
            <a:off x="1095318" y="4449088"/>
            <a:ext cx="712880" cy="694332"/>
            <a:chOff x="1095318" y="4449088"/>
            <a:chExt cx="712880" cy="694332"/>
          </a:xfrm>
        </p:grpSpPr>
        <p:sp>
          <p:nvSpPr>
            <p:cNvPr id="75" name="Google Shape;75;p16"/>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76" name="Google Shape;76;p16"/>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77" name="Google Shape;77;p16"/>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78" name="Google Shape;78;p16"/>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lnSpc>
                <a:spcPct val="115000"/>
              </a:lnSpc>
              <a:spcBef>
                <a:spcPts val="2400"/>
              </a:spcBef>
              <a:spcAft>
                <a:spcPts val="0"/>
              </a:spcAft>
              <a:buNone/>
            </a:pPr>
            <a:r>
              <a:t/>
            </a:r>
            <a:endParaRPr sz="1800">
              <a:solidFill>
                <a:schemeClr val="dk2"/>
              </a:solidFill>
            </a:endParaRPr>
          </a:p>
          <a:p>
            <a:pPr indent="0" lvl="0" marL="0" rtl="0" algn="l">
              <a:spcBef>
                <a:spcPts val="600"/>
              </a:spcBef>
              <a:spcAft>
                <a:spcPts val="0"/>
              </a:spcAft>
              <a:buNone/>
            </a:pPr>
            <a:r>
              <a:t/>
            </a:r>
            <a:endParaRPr sz="1800">
              <a:solidFill>
                <a:schemeClr val="dk2"/>
              </a:solidFill>
            </a:endParaRPr>
          </a:p>
        </p:txBody>
      </p:sp>
      <p:graphicFrame>
        <p:nvGraphicFramePr>
          <p:cNvPr id="84" name="Google Shape;84;p17"/>
          <p:cNvGraphicFramePr/>
          <p:nvPr/>
        </p:nvGraphicFramePr>
        <p:xfrm>
          <a:off x="1206675" y="2510868"/>
          <a:ext cx="3000000" cy="3000000"/>
        </p:xfrm>
        <a:graphic>
          <a:graphicData uri="http://schemas.openxmlformats.org/drawingml/2006/table">
            <a:tbl>
              <a:tblPr>
                <a:noFill/>
                <a:tableStyleId>{1B1081EC-A0A6-41FB-9FD4-7EDB2B2B40E8}</a:tableStyleId>
              </a:tblPr>
              <a:tblGrid>
                <a:gridCol w="2574775"/>
                <a:gridCol w="4962000"/>
              </a:tblGrid>
              <a:tr h="381000">
                <a:tc>
                  <a:txBody>
                    <a:bodyPr/>
                    <a:lstStyle/>
                    <a:p>
                      <a:pPr indent="0" lvl="0" marL="0" rtl="0" algn="l">
                        <a:spcBef>
                          <a:spcPts val="0"/>
                        </a:spcBef>
                        <a:spcAft>
                          <a:spcPts val="0"/>
                        </a:spcAft>
                        <a:buClr>
                          <a:schemeClr val="dk1"/>
                        </a:buClr>
                        <a:buSzPts val="1100"/>
                        <a:buFont typeface="Arial"/>
                        <a:buNone/>
                      </a:pPr>
                      <a:r>
                        <a:rPr b="1" lang="es" sz="800">
                          <a:solidFill>
                            <a:schemeClr val="dk1"/>
                          </a:solidFill>
                        </a:rPr>
                        <a:t>SLAM Handbook</a:t>
                      </a:r>
                      <a:endParaRPr b="1" sz="800">
                        <a:solidFill>
                          <a:schemeClr val="dk1"/>
                        </a:solidFill>
                      </a:endParaRPr>
                    </a:p>
                    <a:p>
                      <a:pPr indent="0" lvl="0" marL="0" rtl="0" algn="l">
                        <a:spcBef>
                          <a:spcPts val="0"/>
                        </a:spcBef>
                        <a:spcAft>
                          <a:spcPts val="0"/>
                        </a:spcAft>
                        <a:buClr>
                          <a:schemeClr val="dk1"/>
                        </a:buClr>
                        <a:buSzPts val="1100"/>
                        <a:buFont typeface="Arial"/>
                        <a:buNone/>
                      </a:pPr>
                      <a:r>
                        <a:rPr lang="es" sz="800" u="sng">
                          <a:solidFill>
                            <a:schemeClr val="accent5"/>
                          </a:solidFill>
                          <a:hlinkClick r:id="rId3">
                            <a:extLst>
                              <a:ext uri="{A12FA001-AC4F-418D-AE19-62706E023703}">
                                <ahyp:hlinkClr val="tx"/>
                              </a:ext>
                            </a:extLst>
                          </a:hlinkClick>
                        </a:rPr>
                        <a:t>https://github.com/SLAM-Handbook-contributors/slam-handbook-public-release</a:t>
                      </a:r>
                      <a:r>
                        <a:rPr lang="es" sz="800">
                          <a:solidFill>
                            <a:schemeClr val="dk1"/>
                          </a:solidFill>
                        </a:rPr>
                        <a:t> </a:t>
                      </a:r>
                      <a:endParaRPr sz="8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800">
                          <a:solidFill>
                            <a:schemeClr val="dk1"/>
                          </a:solidFill>
                        </a:rPr>
                        <a:t>F. Dellaert, M. Kaess, and T. Barfoot, "Factor Graphs for SLAM," in </a:t>
                      </a:r>
                      <a:r>
                        <a:rPr i="1" lang="es" sz="800">
                          <a:solidFill>
                            <a:schemeClr val="dk1"/>
                          </a:solidFill>
                        </a:rPr>
                        <a:t>SLAM Handbook: From Localization and Mapping to Spatial Intelligence</a:t>
                      </a:r>
                      <a:r>
                        <a:rPr lang="es" sz="800">
                          <a:solidFill>
                            <a:schemeClr val="dk1"/>
                          </a:solidFill>
                        </a:rPr>
                        <a:t>, L. Carlone, A. Kim, T. Barfoot, D. Cremers, and F. Dellaert, Eds. Cambridge University Press, 2026.</a:t>
                      </a:r>
                      <a:endParaRPr sz="8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100"/>
                        <a:buFont typeface="Arial"/>
                        <a:buNone/>
                      </a:pPr>
                      <a:r>
                        <a:rPr lang="es" sz="800" u="sng">
                          <a:solidFill>
                            <a:schemeClr val="hlink"/>
                          </a:solidFill>
                          <a:hlinkClick r:id="rId4"/>
                        </a:rPr>
                        <a:t>https://www.cs.cmu.edu/~kaess/pub/Dellaert17fnt.pdf</a:t>
                      </a:r>
                      <a:r>
                        <a:rPr lang="es" sz="800">
                          <a:solidFill>
                            <a:schemeClr val="dk1"/>
                          </a:solidFill>
                        </a:rPr>
                        <a:t> </a:t>
                      </a:r>
                      <a:endParaRPr sz="8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800">
                          <a:solidFill>
                            <a:schemeClr val="dk1"/>
                          </a:solidFill>
                        </a:rPr>
                        <a:t>F. Dellaert, M. Kaess,</a:t>
                      </a:r>
                      <a:r>
                        <a:rPr lang="es" sz="800"/>
                        <a:t> et al. 2017. “Factor Graphs for Robot Perception”. </a:t>
                      </a:r>
                      <a:r>
                        <a:rPr i="1" lang="es" sz="800"/>
                        <a:t>Foundations and Trends® in Robotics</a:t>
                      </a:r>
                      <a:r>
                        <a:rPr lang="es" sz="800"/>
                        <a:t>, 6(1-2), 1–139.</a:t>
                      </a:r>
                      <a:endParaRPr sz="8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100"/>
                        <a:buFont typeface="Arial"/>
                        <a:buNone/>
                      </a:pPr>
                      <a:r>
                        <a:rPr lang="es" sz="800" u="sng">
                          <a:solidFill>
                            <a:schemeClr val="hlink"/>
                          </a:solidFill>
                          <a:hlinkClick r:id="rId5"/>
                        </a:rPr>
                        <a:t>https://www.doc.ic.ac.uk/~ajd/Publications/Strasdat-H-2012-PhD-Thesis.pdf</a:t>
                      </a:r>
                      <a:r>
                        <a:rPr lang="es" sz="800">
                          <a:solidFill>
                            <a:schemeClr val="dk1"/>
                          </a:solidFill>
                        </a:rPr>
                        <a:t> </a:t>
                      </a:r>
                      <a:endParaRPr sz="800">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s" sz="800">
                          <a:solidFill>
                            <a:schemeClr val="dk1"/>
                          </a:solidFill>
                        </a:rPr>
                        <a:t>H. Strasdat, “Monocular Exploration”, in L</a:t>
                      </a:r>
                      <a:r>
                        <a:rPr i="1" lang="es" sz="800">
                          <a:solidFill>
                            <a:schemeClr val="dk1"/>
                          </a:solidFill>
                        </a:rPr>
                        <a:t>ocal accuracy and global consistency for efficient visual SLAM</a:t>
                      </a:r>
                      <a:r>
                        <a:rPr lang="es" sz="800">
                          <a:solidFill>
                            <a:schemeClr val="dk1"/>
                          </a:solidFill>
                        </a:rPr>
                        <a:t>, Doctoral dissertation, Department of Computing, Imperial College London, 2012</a:t>
                      </a:r>
                      <a:endParaRPr b="1" sz="8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85" name="Google Shape;85;p17"/>
          <p:cNvSpPr txBox="1"/>
          <p:nvPr/>
        </p:nvSpPr>
        <p:spPr>
          <a:xfrm>
            <a:off x="319450" y="5074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Factor Graphs</a:t>
            </a:r>
            <a:endParaRPr b="1" sz="2400">
              <a:solidFill>
                <a:srgbClr val="193364"/>
              </a:solidFill>
            </a:endParaRPr>
          </a:p>
        </p:txBody>
      </p:sp>
      <p:sp>
        <p:nvSpPr>
          <p:cNvPr id="86" name="Google Shape;86;p17"/>
          <p:cNvSpPr txBox="1"/>
          <p:nvPr/>
        </p:nvSpPr>
        <p:spPr>
          <a:xfrm>
            <a:off x="2096025" y="2005050"/>
            <a:ext cx="15816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sz="800">
              <a:solidFill>
                <a:schemeClr val="dk1"/>
              </a:solidFill>
            </a:endParaRPr>
          </a:p>
          <a:p>
            <a:pPr indent="0" lvl="0" marL="0" marR="0" rtl="0" algn="l">
              <a:lnSpc>
                <a:spcPct val="100000"/>
              </a:lnSpc>
              <a:spcBef>
                <a:spcPts val="0"/>
              </a:spcBef>
              <a:spcAft>
                <a:spcPts val="0"/>
              </a:spcAft>
              <a:buNone/>
            </a:pPr>
            <a:r>
              <a:t/>
            </a:r>
            <a:endParaRPr sz="1000">
              <a:solidFill>
                <a:schemeClr val="dk1"/>
              </a:solidFill>
            </a:endParaRPr>
          </a:p>
          <a:p>
            <a:pPr indent="0" lvl="0" marL="0" rtl="0" algn="l">
              <a:spcBef>
                <a:spcPts val="0"/>
              </a:spcBef>
              <a:spcAft>
                <a:spcPts val="0"/>
              </a:spcAft>
              <a:buNone/>
            </a:pPr>
            <a:r>
              <a:t/>
            </a:r>
            <a:endParaRPr sz="1800">
              <a:solidFill>
                <a:schemeClr val="dk2"/>
              </a:solidFill>
            </a:endParaRPr>
          </a:p>
        </p:txBody>
      </p:sp>
      <p:sp>
        <p:nvSpPr>
          <p:cNvPr id="87" name="Google Shape;87;p17"/>
          <p:cNvSpPr txBox="1"/>
          <p:nvPr/>
        </p:nvSpPr>
        <p:spPr>
          <a:xfrm>
            <a:off x="437700" y="2005050"/>
            <a:ext cx="1581600" cy="125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t/>
            </a:r>
            <a:endParaRPr sz="800">
              <a:solidFill>
                <a:schemeClr val="dk1"/>
              </a:solidFill>
            </a:endParaRPr>
          </a:p>
          <a:p>
            <a:pPr indent="0" lvl="0" marL="0" rtl="0" algn="l">
              <a:spcBef>
                <a:spcPts val="0"/>
              </a:spcBef>
              <a:spcAft>
                <a:spcPts val="0"/>
              </a:spcAft>
              <a:buNone/>
            </a:pPr>
            <a:r>
              <a:t/>
            </a:r>
            <a:endParaRPr sz="1800">
              <a:solidFill>
                <a:schemeClr val="dk2"/>
              </a:solidFill>
            </a:endParaRPr>
          </a:p>
        </p:txBody>
      </p:sp>
      <p:pic>
        <p:nvPicPr>
          <p:cNvPr id="88" name="Google Shape;88;p17"/>
          <p:cNvPicPr preferRelativeResize="0"/>
          <p:nvPr/>
        </p:nvPicPr>
        <p:blipFill>
          <a:blip r:embed="rId6">
            <a:alphaModFix/>
          </a:blip>
          <a:stretch>
            <a:fillRect/>
          </a:stretch>
        </p:blipFill>
        <p:spPr>
          <a:xfrm>
            <a:off x="437690" y="2669119"/>
            <a:ext cx="680850" cy="817025"/>
          </a:xfrm>
          <a:prstGeom prst="rect">
            <a:avLst/>
          </a:prstGeom>
          <a:noFill/>
          <a:ln>
            <a:noFill/>
          </a:ln>
        </p:spPr>
      </p:pic>
      <p:sp>
        <p:nvSpPr>
          <p:cNvPr id="89" name="Google Shape;89;p17"/>
          <p:cNvSpPr txBox="1"/>
          <p:nvPr/>
        </p:nvSpPr>
        <p:spPr>
          <a:xfrm>
            <a:off x="1206675" y="3965414"/>
            <a:ext cx="5856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800" u="sng">
                <a:solidFill>
                  <a:srgbClr val="0097A7"/>
                </a:solidFill>
                <a:hlinkClick r:id="rId7">
                  <a:extLst>
                    <a:ext uri="{A12FA001-AC4F-418D-AE19-62706E023703}">
                      <ahyp:hlinkClr val="tx"/>
                    </a:ext>
                  </a:extLst>
                </a:hlinkClick>
              </a:rPr>
              <a:t>https://github.com/alejandrofontan/SLAM-Course/</a:t>
            </a:r>
            <a:endParaRPr sz="800">
              <a:solidFill>
                <a:srgbClr val="595959"/>
              </a:solidFill>
            </a:endParaRPr>
          </a:p>
          <a:p>
            <a:pPr indent="0" lvl="0" marL="0" rtl="0" algn="l">
              <a:spcBef>
                <a:spcPts val="0"/>
              </a:spcBef>
              <a:spcAft>
                <a:spcPts val="0"/>
              </a:spcAft>
              <a:buNone/>
            </a:pPr>
            <a:r>
              <a:rPr lang="es" sz="800" u="sng">
                <a:solidFill>
                  <a:schemeClr val="hlink"/>
                </a:solidFill>
                <a:hlinkClick r:id="rId8"/>
              </a:rPr>
              <a:t>https://github.com/ariarobotics/robotic-mapping/blob/main/lectures/Lec14_backend.pdf</a:t>
            </a:r>
            <a:r>
              <a:rPr lang="es" sz="800">
                <a:solidFill>
                  <a:srgbClr val="595959"/>
                </a:solidFill>
              </a:rPr>
              <a:t> </a:t>
            </a:r>
            <a:endParaRPr sz="800">
              <a:solidFill>
                <a:srgbClr val="595959"/>
              </a:solidFill>
            </a:endParaRPr>
          </a:p>
        </p:txBody>
      </p:sp>
      <p:pic>
        <p:nvPicPr>
          <p:cNvPr descr="Factor graphs explained in 5 minutes&#10;Series: 5 Minutes with Cyrill&#10;Cyrill Stachniss, 2020&#10;&#10;Credits:&#10;Video by Cyrill Stachniss&#10;Thanks to Frank Dellaert&#10;Intro music by The Brothers Records" id="90" name="Google Shape;90;p17" title="Factor Graph - 5 Minutes with Cyrill">
            <a:hlinkClick r:id="rId9"/>
          </p:cNvPr>
          <p:cNvPicPr preferRelativeResize="0"/>
          <p:nvPr/>
        </p:nvPicPr>
        <p:blipFill>
          <a:blip r:embed="rId10">
            <a:alphaModFix/>
          </a:blip>
          <a:stretch>
            <a:fillRect/>
          </a:stretch>
        </p:blipFill>
        <p:spPr>
          <a:xfrm>
            <a:off x="437625" y="1085625"/>
            <a:ext cx="1581625" cy="887975"/>
          </a:xfrm>
          <a:prstGeom prst="rect">
            <a:avLst/>
          </a:prstGeom>
          <a:noFill/>
          <a:ln>
            <a:noFill/>
          </a:ln>
        </p:spPr>
      </p:pic>
      <p:pic>
        <p:nvPicPr>
          <p:cNvPr descr="A presentation by Michael Kaess as part of the Tartan SLAM Series.&#10;Series overviews and links can be found on our webpage: https://theairlab.org/tartanslamseries/&#10;&#10;Abstract: Factor graphs have become a popular tool for modeling robot perception problems. Not only can they model the bipartite relationship between sensor measurements and variables of interest for inference, but they have also been instrumental in devising novel inference algorithms that exploit the spatial and temporal structure inherent in these problems. I will start with a brief history of these inference algorithms and relevant applications. I will then discuss open challenges in particular related to robustness from the inference perspective and discuss some recent steps towards more robust perception algorithms.&#10;&#10;Outline:&#10;0:00 - Welcome &amp; Intro&#10;2:42 - Motivation&#10;4:04 - What are factor graphs?&#10;12:37 - Factor Graphs and Gaussian Inference&#10;19:19 - Smoothing and Mapping&#10;31:45 - Robust Perception: Beyond Gaussian Inference&#10;50:07 - Summary&#10;52:05 - Open Discussion&#10;52:42 - Multimodal sensors in factor graphs?&#10;55:17 - How balance optimization over different factors?&#10;57:19 - How evaluate uncertainty of factors?&#10;1:00:45 - Possible to combine learning and factor graphs?&#10;1:02:25 - Resources to learn about pose graphs?&#10;1:03:17 - How deal with large maps?&#10;1:07:34 - Parallels of SLAM to human learning &#10;&#10;RPL Links:&#10;Website: https://rpl.ri.cmu.edu/&#10;Twitter: https://twitter.com/rpl_cmu&#10;&#10;AirLab Links:&#10;Website: https://theairlab.org &#10;Twitter: https://twitter.com/airlabcmu &#10;LinkedIn: https://linkedin.com/company/the-air-lab-at-carnegie-mellon-university&#10;Facebook: https://www.facebook.com/airlabcmu &#10;Medium: https://medium.com/airlabcmu" id="91" name="Google Shape;91;p17" title="Factor Graphs and Robust Perception | Michael Kaess | Tartan SLAM Series">
            <a:hlinkClick r:id="rId11"/>
          </p:cNvPr>
          <p:cNvPicPr preferRelativeResize="0"/>
          <p:nvPr/>
        </p:nvPicPr>
        <p:blipFill>
          <a:blip r:embed="rId12">
            <a:alphaModFix/>
          </a:blip>
          <a:stretch>
            <a:fillRect/>
          </a:stretch>
        </p:blipFill>
        <p:spPr>
          <a:xfrm>
            <a:off x="2109543" y="1084787"/>
            <a:ext cx="1581600" cy="889652"/>
          </a:xfrm>
          <a:prstGeom prst="rect">
            <a:avLst/>
          </a:prstGeom>
          <a:noFill/>
          <a:ln>
            <a:noFill/>
          </a:ln>
        </p:spPr>
      </p:pic>
      <p:grpSp>
        <p:nvGrpSpPr>
          <p:cNvPr id="92" name="Google Shape;92;p17"/>
          <p:cNvGrpSpPr/>
          <p:nvPr/>
        </p:nvGrpSpPr>
        <p:grpSpPr>
          <a:xfrm>
            <a:off x="1095318" y="4449088"/>
            <a:ext cx="712812" cy="694332"/>
            <a:chOff x="1095318" y="4449088"/>
            <a:chExt cx="712812" cy="694332"/>
          </a:xfrm>
        </p:grpSpPr>
        <p:sp>
          <p:nvSpPr>
            <p:cNvPr id="93" name="Google Shape;93;p17"/>
            <p:cNvSpPr/>
            <p:nvPr/>
          </p:nvSpPr>
          <p:spPr>
            <a:xfrm>
              <a:off x="1225065" y="4851819"/>
              <a:ext cx="291533"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94" name="Google Shape;94;p17"/>
            <p:cNvSpPr/>
            <p:nvPr/>
          </p:nvSpPr>
          <p:spPr>
            <a:xfrm>
              <a:off x="1516598" y="4851819"/>
              <a:ext cx="291533"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95" name="Google Shape;95;p17"/>
            <p:cNvSpPr/>
            <p:nvPr/>
          </p:nvSpPr>
          <p:spPr>
            <a:xfrm>
              <a:off x="1516598" y="4560219"/>
              <a:ext cx="291533"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96" name="Google Shape;96;p17"/>
            <p:cNvPicPr preferRelativeResize="0"/>
            <p:nvPr/>
          </p:nvPicPr>
          <p:blipFill>
            <a:blip r:embed="rId13">
              <a:alphaModFix/>
            </a:blip>
            <a:stretch>
              <a:fillRect/>
            </a:stretch>
          </p:blipFill>
          <p:spPr>
            <a:xfrm flipH="1" rot="133010">
              <a:off x="1106374" y="4460147"/>
              <a:ext cx="583062" cy="583197"/>
            </a:xfrm>
            <a:prstGeom prst="rect">
              <a:avLst/>
            </a:prstGeom>
            <a:noFill/>
            <a:ln>
              <a:noFill/>
            </a:ln>
          </p:spPr>
        </p:pic>
      </p:grpSp>
      <p:pic>
        <p:nvPicPr>
          <p:cNvPr descr="MIT - December 3, 2021&#10;Frank Dellaert&#10;&quot;Factor Graphs for Perception and Action&quot;&#10;Professor, Georgia Institute of Technology&#10;School of Interactive Computing" id="97" name="Google Shape;97;p17" title="MIT Robotics - Frank Dellaert - Factor Graphs for Perception and Action">
            <a:hlinkClick r:id="rId14"/>
          </p:cNvPr>
          <p:cNvPicPr preferRelativeResize="0"/>
          <p:nvPr/>
        </p:nvPicPr>
        <p:blipFill>
          <a:blip r:embed="rId15">
            <a:alphaModFix/>
          </a:blip>
          <a:stretch>
            <a:fillRect/>
          </a:stretch>
        </p:blipFill>
        <p:spPr>
          <a:xfrm>
            <a:off x="3781450" y="1084803"/>
            <a:ext cx="1581600" cy="889649"/>
          </a:xfrm>
          <a:prstGeom prst="rect">
            <a:avLst/>
          </a:prstGeom>
          <a:noFill/>
          <a:ln>
            <a:noFill/>
          </a:ln>
        </p:spPr>
      </p:pic>
      <p:graphicFrame>
        <p:nvGraphicFramePr>
          <p:cNvPr id="98" name="Google Shape;98;p17"/>
          <p:cNvGraphicFramePr/>
          <p:nvPr/>
        </p:nvGraphicFramePr>
        <p:xfrm>
          <a:off x="366759" y="1930473"/>
          <a:ext cx="3000000" cy="3000000"/>
        </p:xfrm>
        <a:graphic>
          <a:graphicData uri="http://schemas.openxmlformats.org/drawingml/2006/table">
            <a:tbl>
              <a:tblPr>
                <a:noFill/>
                <a:tableStyleId>{1B1081EC-A0A6-41FB-9FD4-7EDB2B2B40E8}</a:tableStyleId>
              </a:tblPr>
              <a:tblGrid>
                <a:gridCol w="1684800"/>
                <a:gridCol w="1684800"/>
                <a:gridCol w="1684800"/>
                <a:gridCol w="1684800"/>
                <a:gridCol w="1684800"/>
              </a:tblGrid>
              <a:tr h="511800">
                <a:tc>
                  <a:txBody>
                    <a:bodyPr/>
                    <a:lstStyle/>
                    <a:p>
                      <a:pPr indent="0" lvl="0" marL="0" rtl="0" algn="l">
                        <a:spcBef>
                          <a:spcPts val="0"/>
                        </a:spcBef>
                        <a:spcAft>
                          <a:spcPts val="0"/>
                        </a:spcAft>
                        <a:buClr>
                          <a:schemeClr val="dk1"/>
                        </a:buClr>
                        <a:buSzPts val="1100"/>
                        <a:buFont typeface="Arial"/>
                        <a:buNone/>
                      </a:pPr>
                      <a:r>
                        <a:rPr b="1" lang="es" sz="800">
                          <a:solidFill>
                            <a:schemeClr val="dk1"/>
                          </a:solidFill>
                        </a:rPr>
                        <a:t>Factor Graph </a:t>
                      </a:r>
                      <a:endParaRPr b="1" sz="800">
                        <a:solidFill>
                          <a:schemeClr val="dk1"/>
                        </a:solidFill>
                      </a:endParaRPr>
                    </a:p>
                    <a:p>
                      <a:pPr indent="0" lvl="0" marL="0" rtl="0" algn="l">
                        <a:spcBef>
                          <a:spcPts val="0"/>
                        </a:spcBef>
                        <a:spcAft>
                          <a:spcPts val="0"/>
                        </a:spcAft>
                        <a:buClr>
                          <a:schemeClr val="dk1"/>
                        </a:buClr>
                        <a:buSzPts val="1100"/>
                        <a:buFont typeface="Arial"/>
                        <a:buNone/>
                      </a:pPr>
                      <a:r>
                        <a:rPr b="1" lang="es" sz="800">
                          <a:solidFill>
                            <a:schemeClr val="dk1"/>
                          </a:solidFill>
                        </a:rPr>
                        <a:t>5 Minutes with Cyrill            </a:t>
                      </a:r>
                      <a:endParaRPr b="1" sz="800">
                        <a:solidFill>
                          <a:schemeClr val="dk1"/>
                        </a:solidFill>
                      </a:endParaRPr>
                    </a:p>
                    <a:p>
                      <a:pPr indent="0" lvl="0" marL="0" rtl="0" algn="l">
                        <a:spcBef>
                          <a:spcPts val="0"/>
                        </a:spcBef>
                        <a:spcAft>
                          <a:spcPts val="0"/>
                        </a:spcAft>
                        <a:buClr>
                          <a:schemeClr val="dk1"/>
                        </a:buClr>
                        <a:buSzPts val="1100"/>
                        <a:buFont typeface="Arial"/>
                        <a:buNone/>
                      </a:pPr>
                      <a:r>
                        <a:rPr lang="es" sz="800" u="sng">
                          <a:solidFill>
                            <a:schemeClr val="accent5"/>
                          </a:solidFill>
                          <a:hlinkClick r:id="rId16">
                            <a:extLst>
                              <a:ext uri="{A12FA001-AC4F-418D-AE19-62706E023703}">
                                <ahyp:hlinkClr val="tx"/>
                              </a:ext>
                            </a:extLst>
                          </a:hlinkClick>
                        </a:rPr>
                        <a:t>https://youtu.be/uuiaqGLFYa4</a:t>
                      </a:r>
                      <a:r>
                        <a:rPr lang="es" sz="800">
                          <a:solidFill>
                            <a:schemeClr val="dk1"/>
                          </a:solidFill>
                        </a:rPr>
                        <a:t> </a:t>
                      </a:r>
                      <a:endParaRPr sz="8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s" sz="800">
                          <a:solidFill>
                            <a:schemeClr val="dk1"/>
                          </a:solidFill>
                        </a:rPr>
                        <a:t>Factor Graphs and Robuts Perception</a:t>
                      </a:r>
                      <a:endParaRPr b="1" sz="800">
                        <a:solidFill>
                          <a:schemeClr val="dk1"/>
                        </a:solidFill>
                      </a:endParaRPr>
                    </a:p>
                    <a:p>
                      <a:pPr indent="0" lvl="0" marL="0" rtl="0" algn="l">
                        <a:spcBef>
                          <a:spcPts val="0"/>
                        </a:spcBef>
                        <a:spcAft>
                          <a:spcPts val="0"/>
                        </a:spcAft>
                        <a:buClr>
                          <a:schemeClr val="dk1"/>
                        </a:buClr>
                        <a:buSzPts val="1100"/>
                        <a:buFont typeface="Arial"/>
                        <a:buNone/>
                      </a:pPr>
                      <a:r>
                        <a:rPr lang="es" sz="800" u="sng">
                          <a:solidFill>
                            <a:schemeClr val="accent5"/>
                          </a:solidFill>
                          <a:hlinkClick r:id="rId17">
                            <a:extLst>
                              <a:ext uri="{A12FA001-AC4F-418D-AE19-62706E023703}">
                                <ahyp:hlinkClr val="tx"/>
                              </a:ext>
                            </a:extLst>
                          </a:hlinkClick>
                        </a:rPr>
                        <a:t>https://youtu.be/JmR2YpkLNt0</a:t>
                      </a:r>
                      <a:r>
                        <a:rPr lang="es" sz="800">
                          <a:solidFill>
                            <a:schemeClr val="dk1"/>
                          </a:solidFill>
                        </a:rPr>
                        <a:t> </a:t>
                      </a:r>
                      <a:endParaRPr sz="8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es" sz="800">
                          <a:solidFill>
                            <a:schemeClr val="dk1"/>
                          </a:solidFill>
                        </a:rPr>
                        <a:t>Factor Graphs for Perception and Action</a:t>
                      </a:r>
                      <a:endParaRPr b="1" sz="800">
                        <a:solidFill>
                          <a:schemeClr val="dk1"/>
                        </a:solidFill>
                      </a:endParaRPr>
                    </a:p>
                    <a:p>
                      <a:pPr indent="0" lvl="0" marL="0" rtl="0" algn="l">
                        <a:spcBef>
                          <a:spcPts val="0"/>
                        </a:spcBef>
                        <a:spcAft>
                          <a:spcPts val="0"/>
                        </a:spcAft>
                        <a:buNone/>
                      </a:pPr>
                      <a:r>
                        <a:rPr lang="es" sz="800" u="sng">
                          <a:solidFill>
                            <a:schemeClr val="accent5"/>
                          </a:solidFill>
                          <a:hlinkClick r:id="rId18">
                            <a:extLst>
                              <a:ext uri="{A12FA001-AC4F-418D-AE19-62706E023703}">
                                <ahyp:hlinkClr val="tx"/>
                              </a:ext>
                            </a:extLst>
                          </a:hlinkClick>
                        </a:rPr>
                        <a:t>https://youtu.be/-yCC7mpgL4w</a:t>
                      </a:r>
                      <a:r>
                        <a:rPr lang="es" sz="800">
                          <a:solidFill>
                            <a:schemeClr val="dk1"/>
                          </a:solidFill>
                        </a:rPr>
                        <a:t> </a:t>
                      </a:r>
                      <a:endParaRPr sz="800">
                        <a:solidFill>
                          <a:schemeClr val="dk1"/>
                        </a:solidFill>
                      </a:endParaRPr>
                    </a:p>
                    <a:p>
                      <a:pPr indent="0" lvl="0" marL="0" rtl="0" algn="l">
                        <a:spcBef>
                          <a:spcPts val="0"/>
                        </a:spcBef>
                        <a:spcAft>
                          <a:spcPts val="0"/>
                        </a:spcAft>
                        <a:buNone/>
                      </a:pPr>
                      <a:r>
                        <a:t/>
                      </a:r>
                      <a:endParaRPr sz="800">
                        <a:solidFill>
                          <a:schemeClr val="dk2"/>
                        </a:solidFill>
                      </a:endParaRPr>
                    </a:p>
                    <a:p>
                      <a:pPr indent="0" lvl="0" marL="0" rtl="0" algn="l">
                        <a:spcBef>
                          <a:spcPts val="0"/>
                        </a:spcBef>
                        <a:spcAft>
                          <a:spcPts val="0"/>
                        </a:spcAft>
                        <a:buNone/>
                      </a:pPr>
                      <a:r>
                        <a:t/>
                      </a:r>
                      <a:endParaRPr sz="8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b="1" lang="es" sz="800">
                          <a:solidFill>
                            <a:schemeClr val="dk1"/>
                          </a:solidFill>
                        </a:rPr>
                        <a:t>Graph-based SLAM using Pose Graphs (Cyrill Stachniss)</a:t>
                      </a:r>
                      <a:endParaRPr b="1" sz="800">
                        <a:solidFill>
                          <a:schemeClr val="dk1"/>
                        </a:solidFill>
                      </a:endParaRPr>
                    </a:p>
                    <a:p>
                      <a:pPr indent="0" lvl="0" marL="0" rtl="0" algn="l">
                        <a:spcBef>
                          <a:spcPts val="0"/>
                        </a:spcBef>
                        <a:spcAft>
                          <a:spcPts val="0"/>
                        </a:spcAft>
                        <a:buNone/>
                      </a:pPr>
                      <a:r>
                        <a:rPr lang="es" sz="800" u="sng">
                          <a:solidFill>
                            <a:schemeClr val="hlink"/>
                          </a:solidFill>
                          <a:hlinkClick r:id="rId19"/>
                        </a:rPr>
                        <a:t>https://youtu.be/uHbRKvD8TWg</a:t>
                      </a:r>
                      <a:r>
                        <a:rPr lang="es" sz="800">
                          <a:solidFill>
                            <a:schemeClr val="dk1"/>
                          </a:solidFill>
                        </a:rPr>
                        <a:t> </a:t>
                      </a:r>
                      <a:endParaRPr b="1" sz="800">
                        <a:solidFill>
                          <a:schemeClr val="dk1"/>
                        </a:solidFill>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b="1" lang="es" sz="800">
                          <a:solidFill>
                            <a:schemeClr val="dk1"/>
                          </a:solidFill>
                        </a:rPr>
                        <a:t>Graph-based SLAM with Landmarks (Cyrill Stachniss)</a:t>
                      </a:r>
                      <a:endParaRPr b="1" sz="800">
                        <a:solidFill>
                          <a:schemeClr val="dk1"/>
                        </a:solidFill>
                      </a:endParaRPr>
                    </a:p>
                    <a:p>
                      <a:pPr indent="0" lvl="0" marL="0" rtl="0" algn="l">
                        <a:spcBef>
                          <a:spcPts val="0"/>
                        </a:spcBef>
                        <a:spcAft>
                          <a:spcPts val="0"/>
                        </a:spcAft>
                        <a:buClr>
                          <a:schemeClr val="dk1"/>
                        </a:buClr>
                        <a:buSzPts val="1100"/>
                        <a:buFont typeface="Arial"/>
                        <a:buNone/>
                      </a:pPr>
                      <a:r>
                        <a:rPr lang="es" sz="800" u="sng">
                          <a:solidFill>
                            <a:schemeClr val="hlink"/>
                          </a:solidFill>
                          <a:hlinkClick r:id="rId20"/>
                        </a:rPr>
                        <a:t>https://youtu.be/mZBdPgBtrCM</a:t>
                      </a:r>
                      <a:r>
                        <a:rPr lang="es" sz="800"/>
                        <a:t> </a:t>
                      </a:r>
                      <a:endParaRPr sz="8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pic>
        <p:nvPicPr>
          <p:cNvPr descr="Graph-based SLAM using Pose Graphs&#10;Cyrill Stachniss, Spring 2020" id="99" name="Google Shape;99;p17" title="Graph-based SLAM using Pose Graphs (Cyrill Stachniss)">
            <a:hlinkClick r:id="rId21"/>
          </p:cNvPr>
          <p:cNvPicPr preferRelativeResize="0"/>
          <p:nvPr/>
        </p:nvPicPr>
        <p:blipFill>
          <a:blip r:embed="rId22">
            <a:alphaModFix/>
          </a:blip>
          <a:stretch>
            <a:fillRect/>
          </a:stretch>
        </p:blipFill>
        <p:spPr>
          <a:xfrm>
            <a:off x="5473627" y="1085625"/>
            <a:ext cx="1581625" cy="889668"/>
          </a:xfrm>
          <a:prstGeom prst="rect">
            <a:avLst/>
          </a:prstGeom>
          <a:noFill/>
          <a:ln>
            <a:noFill/>
          </a:ln>
        </p:spPr>
      </p:pic>
      <p:pic>
        <p:nvPicPr>
          <p:cNvPr descr="Graph-Based SLAM with Landmarks&#10;Cyrill Stachniss, Spring 2020" id="100" name="Google Shape;100;p17" title="Graph-Based SLAM with Landmarks (Cyrill Stachniss)">
            <a:hlinkClick r:id="rId23"/>
          </p:cNvPr>
          <p:cNvPicPr preferRelativeResize="0"/>
          <p:nvPr/>
        </p:nvPicPr>
        <p:blipFill>
          <a:blip r:embed="rId24">
            <a:alphaModFix/>
          </a:blip>
          <a:stretch>
            <a:fillRect/>
          </a:stretch>
        </p:blipFill>
        <p:spPr>
          <a:xfrm>
            <a:off x="7164828" y="1085625"/>
            <a:ext cx="1578622" cy="887975"/>
          </a:xfrm>
          <a:prstGeom prst="rect">
            <a:avLst/>
          </a:prstGeom>
          <a:noFill/>
          <a:ln>
            <a:noFill/>
          </a:ln>
        </p:spPr>
      </p:pic>
      <p:pic>
        <p:nvPicPr>
          <p:cNvPr id="101" name="Google Shape;101;p17"/>
          <p:cNvPicPr preferRelativeResize="0"/>
          <p:nvPr/>
        </p:nvPicPr>
        <p:blipFill>
          <a:blip r:embed="rId25">
            <a:alphaModFix/>
          </a:blip>
          <a:stretch>
            <a:fillRect/>
          </a:stretch>
        </p:blipFill>
        <p:spPr>
          <a:xfrm>
            <a:off x="600839" y="4003699"/>
            <a:ext cx="354560" cy="354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8"/>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s" sz="1800">
                <a:solidFill>
                  <a:srgbClr val="193364"/>
                </a:solidFill>
              </a:rPr>
              <a:t>Geometric Consistency</a:t>
            </a:r>
            <a:r>
              <a:rPr lang="es" sz="1800">
                <a:solidFill>
                  <a:schemeClr val="dk2"/>
                </a:solidFill>
              </a:rPr>
              <a:t> </a:t>
            </a:r>
            <a:r>
              <a:rPr b="1" lang="es" sz="1800">
                <a:solidFill>
                  <a:srgbClr val="193364"/>
                </a:solidFill>
              </a:rPr>
              <a:t>Example</a:t>
            </a:r>
            <a:r>
              <a:rPr lang="es" sz="1800">
                <a:solidFill>
                  <a:schemeClr val="dk2"/>
                </a:solidFill>
              </a:rPr>
              <a:t>: Suppose we compute odometry estimates between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rPr lang="es" sz="1800">
                <a:solidFill>
                  <a:schemeClr val="dk2"/>
                </a:solidFill>
              </a:rPr>
              <a:t>Estimates can be geometrically inconsistent (always are in practice!)</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07" name="Google Shape;107;p18"/>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sz="2400">
                <a:solidFill>
                  <a:srgbClr val="193364"/>
                </a:solidFill>
              </a:rPr>
              <a:t>Geometric Consistency Example</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pic>
        <p:nvPicPr>
          <p:cNvPr id="108" name="Google Shape;108;p18" title="{&quot;red&quot;:89,&quot;green&quot;:89,&quot;blue&quot;:89,&quot;origURL&quot;:&quot;https://www.codecogs.com/eqnedit.php?latex=(t_1%2Ct_2)#0&quot;,&quot;size&quot;:24,&quot;width&quot;:670.9133858267717,&quot;height&quot;:269.00787401574803}"/>
          <p:cNvPicPr preferRelativeResize="0"/>
          <p:nvPr/>
        </p:nvPicPr>
        <p:blipFill>
          <a:blip r:embed="rId3">
            <a:alphaModFix/>
          </a:blip>
          <a:stretch>
            <a:fillRect/>
          </a:stretch>
        </p:blipFill>
        <p:spPr>
          <a:xfrm>
            <a:off x="1395875" y="1490147"/>
            <a:ext cx="539571" cy="215908"/>
          </a:xfrm>
          <a:prstGeom prst="rect">
            <a:avLst/>
          </a:prstGeom>
          <a:noFill/>
          <a:ln>
            <a:noFill/>
          </a:ln>
        </p:spPr>
      </p:pic>
      <p:pic>
        <p:nvPicPr>
          <p:cNvPr id="109" name="Google Shape;109;p18" title="{&quot;red&quot;:89,&quot;green&quot;:89,&quot;blue&quot;:89,&quot;origURL&quot;:&quot;https://www.codecogs.com/eqnedit.php?latex=(t_2%2Ct_3)#0&quot;,&quot;size&quot;:24,&quot;width&quot;:670.9133858267717,&quot;height&quot;:269.00787401574803}"/>
          <p:cNvPicPr preferRelativeResize="0"/>
          <p:nvPr/>
        </p:nvPicPr>
        <p:blipFill>
          <a:blip r:embed="rId4">
            <a:alphaModFix/>
          </a:blip>
          <a:stretch>
            <a:fillRect/>
          </a:stretch>
        </p:blipFill>
        <p:spPr>
          <a:xfrm>
            <a:off x="1987004" y="1490100"/>
            <a:ext cx="539571" cy="216000"/>
          </a:xfrm>
          <a:prstGeom prst="rect">
            <a:avLst/>
          </a:prstGeom>
          <a:noFill/>
          <a:ln>
            <a:noFill/>
          </a:ln>
        </p:spPr>
      </p:pic>
      <p:pic>
        <p:nvPicPr>
          <p:cNvPr id="110" name="Google Shape;110;p18" title="{&quot;red&quot;:89,&quot;green&quot;:89,&quot;blue&quot;:89,&quot;origURL&quot;:&quot;https://www.codecogs.com/eqnedit.php?latex=(t_1%2Ct_3)#0&quot;,&quot;size&quot;:24,&quot;width&quot;:670.9133858267717,&quot;height&quot;:269.00787401574803}"/>
          <p:cNvPicPr preferRelativeResize="0"/>
          <p:nvPr/>
        </p:nvPicPr>
        <p:blipFill>
          <a:blip r:embed="rId5">
            <a:alphaModFix/>
          </a:blip>
          <a:stretch>
            <a:fillRect/>
          </a:stretch>
        </p:blipFill>
        <p:spPr>
          <a:xfrm>
            <a:off x="2578133" y="1490100"/>
            <a:ext cx="539571" cy="216000"/>
          </a:xfrm>
          <a:prstGeom prst="rect">
            <a:avLst/>
          </a:prstGeom>
          <a:noFill/>
          <a:ln>
            <a:noFill/>
          </a:ln>
        </p:spPr>
      </p:pic>
      <p:grpSp>
        <p:nvGrpSpPr>
          <p:cNvPr id="111" name="Google Shape;111;p18"/>
          <p:cNvGrpSpPr/>
          <p:nvPr/>
        </p:nvGrpSpPr>
        <p:grpSpPr>
          <a:xfrm>
            <a:off x="1638375" y="2363137"/>
            <a:ext cx="5821176" cy="1832625"/>
            <a:chOff x="1319850" y="2409750"/>
            <a:chExt cx="5821176" cy="1832625"/>
          </a:xfrm>
        </p:grpSpPr>
        <p:pic>
          <p:nvPicPr>
            <p:cNvPr id="112" name="Google Shape;112;p18"/>
            <p:cNvPicPr preferRelativeResize="0"/>
            <p:nvPr/>
          </p:nvPicPr>
          <p:blipFill rotWithShape="1">
            <a:blip r:embed="rId6">
              <a:alphaModFix/>
            </a:blip>
            <a:srcRect b="8800" l="10210" r="6171" t="9038"/>
            <a:stretch/>
          </p:blipFill>
          <p:spPr>
            <a:xfrm>
              <a:off x="1319850" y="2784156"/>
              <a:ext cx="1359351" cy="1335649"/>
            </a:xfrm>
            <a:prstGeom prst="rect">
              <a:avLst/>
            </a:prstGeom>
            <a:noFill/>
            <a:ln>
              <a:noFill/>
            </a:ln>
          </p:spPr>
        </p:pic>
        <p:pic>
          <p:nvPicPr>
            <p:cNvPr id="113" name="Google Shape;113;p18"/>
            <p:cNvPicPr preferRelativeResize="0"/>
            <p:nvPr/>
          </p:nvPicPr>
          <p:blipFill rotWithShape="1">
            <a:blip r:embed="rId6">
              <a:alphaModFix/>
            </a:blip>
            <a:srcRect b="8800" l="10210" r="6171" t="9038"/>
            <a:stretch/>
          </p:blipFill>
          <p:spPr>
            <a:xfrm>
              <a:off x="3550762" y="2784156"/>
              <a:ext cx="1359351" cy="1335649"/>
            </a:xfrm>
            <a:prstGeom prst="rect">
              <a:avLst/>
            </a:prstGeom>
            <a:noFill/>
            <a:ln>
              <a:noFill/>
            </a:ln>
          </p:spPr>
        </p:pic>
        <p:pic>
          <p:nvPicPr>
            <p:cNvPr id="114" name="Google Shape;114;p18"/>
            <p:cNvPicPr preferRelativeResize="0"/>
            <p:nvPr/>
          </p:nvPicPr>
          <p:blipFill rotWithShape="1">
            <a:blip r:embed="rId6">
              <a:alphaModFix/>
            </a:blip>
            <a:srcRect b="8800" l="10210" r="6171" t="9038"/>
            <a:stretch/>
          </p:blipFill>
          <p:spPr>
            <a:xfrm>
              <a:off x="5781675" y="2784156"/>
              <a:ext cx="1359351" cy="1335649"/>
            </a:xfrm>
            <a:prstGeom prst="rect">
              <a:avLst/>
            </a:prstGeom>
            <a:noFill/>
            <a:ln>
              <a:noFill/>
            </a:ln>
          </p:spPr>
        </p:pic>
        <p:cxnSp>
          <p:nvCxnSpPr>
            <p:cNvPr id="115" name="Google Shape;115;p18"/>
            <p:cNvCxnSpPr>
              <a:stCxn id="112" idx="3"/>
              <a:endCxn id="113" idx="1"/>
            </p:cNvCxnSpPr>
            <p:nvPr/>
          </p:nvCxnSpPr>
          <p:spPr>
            <a:xfrm>
              <a:off x="2679201" y="3451980"/>
              <a:ext cx="871500" cy="0"/>
            </a:xfrm>
            <a:prstGeom prst="straightConnector1">
              <a:avLst/>
            </a:prstGeom>
            <a:noFill/>
            <a:ln cap="flat" cmpd="sng" w="28575">
              <a:solidFill>
                <a:schemeClr val="dk2"/>
              </a:solidFill>
              <a:prstDash val="solid"/>
              <a:round/>
              <a:headEnd len="med" w="med" type="none"/>
              <a:tailEnd len="med" w="med" type="triangle"/>
            </a:ln>
          </p:spPr>
        </p:cxnSp>
        <p:cxnSp>
          <p:nvCxnSpPr>
            <p:cNvPr id="116" name="Google Shape;116;p18"/>
            <p:cNvCxnSpPr>
              <a:stCxn id="113" idx="3"/>
              <a:endCxn id="114" idx="1"/>
            </p:cNvCxnSpPr>
            <p:nvPr/>
          </p:nvCxnSpPr>
          <p:spPr>
            <a:xfrm>
              <a:off x="4910113" y="3451980"/>
              <a:ext cx="871500" cy="0"/>
            </a:xfrm>
            <a:prstGeom prst="straightConnector1">
              <a:avLst/>
            </a:prstGeom>
            <a:noFill/>
            <a:ln cap="flat" cmpd="sng" w="28575">
              <a:solidFill>
                <a:schemeClr val="dk2"/>
              </a:solidFill>
              <a:prstDash val="solid"/>
              <a:round/>
              <a:headEnd len="med" w="med" type="none"/>
              <a:tailEnd len="med" w="med" type="triangle"/>
            </a:ln>
          </p:spPr>
        </p:cxnSp>
        <p:cxnSp>
          <p:nvCxnSpPr>
            <p:cNvPr id="117" name="Google Shape;117;p18"/>
            <p:cNvCxnSpPr/>
            <p:nvPr/>
          </p:nvCxnSpPr>
          <p:spPr>
            <a:xfrm flipH="1" rot="10800000">
              <a:off x="2102250" y="2655431"/>
              <a:ext cx="4212300" cy="9000"/>
            </a:xfrm>
            <a:prstGeom prst="straightConnector1">
              <a:avLst/>
            </a:prstGeom>
            <a:noFill/>
            <a:ln cap="flat" cmpd="sng" w="28575">
              <a:solidFill>
                <a:schemeClr val="dk2"/>
              </a:solidFill>
              <a:prstDash val="solid"/>
              <a:round/>
              <a:headEnd len="med" w="med" type="none"/>
              <a:tailEnd len="med" w="med" type="triangle"/>
            </a:ln>
          </p:spPr>
        </p:cxnSp>
        <p:pic>
          <p:nvPicPr>
            <p:cNvPr id="118" name="Google Shape;118;p18" title="{&quot;red&quot;:89,&quot;green&quot;:89,&quot;blue&quot;:89,&quot;origURL&quot;:&quot;https://www.codecogs.com/eqnedit.php?latex=t_1#0&quot;,&quot;size&quot;:24,&quot;width&quot;:670.9133858267717,&quot;height&quot;:269.00787401574803}"/>
            <p:cNvPicPr preferRelativeResize="0"/>
            <p:nvPr/>
          </p:nvPicPr>
          <p:blipFill>
            <a:blip r:embed="rId7">
              <a:alphaModFix/>
            </a:blip>
            <a:stretch>
              <a:fillRect/>
            </a:stretch>
          </p:blipFill>
          <p:spPr>
            <a:xfrm>
              <a:off x="1890938" y="4011975"/>
              <a:ext cx="186811" cy="230400"/>
            </a:xfrm>
            <a:prstGeom prst="rect">
              <a:avLst/>
            </a:prstGeom>
            <a:noFill/>
            <a:ln>
              <a:noFill/>
            </a:ln>
          </p:spPr>
        </p:pic>
        <p:pic>
          <p:nvPicPr>
            <p:cNvPr id="119" name="Google Shape;119;p18" title="{&quot;red&quot;:89,&quot;green&quot;:89,&quot;blue&quot;:89,&quot;origURL&quot;:&quot;https://www.codecogs.com/eqnedit.php?latex=t_2#0&quot;,&quot;size&quot;:24,&quot;width&quot;:670.9133858267717,&quot;height&quot;:269.00787401574803}"/>
            <p:cNvPicPr preferRelativeResize="0"/>
            <p:nvPr/>
          </p:nvPicPr>
          <p:blipFill>
            <a:blip r:embed="rId8">
              <a:alphaModFix/>
            </a:blip>
            <a:stretch>
              <a:fillRect/>
            </a:stretch>
          </p:blipFill>
          <p:spPr>
            <a:xfrm>
              <a:off x="4096388" y="4011975"/>
              <a:ext cx="193038" cy="230400"/>
            </a:xfrm>
            <a:prstGeom prst="rect">
              <a:avLst/>
            </a:prstGeom>
            <a:noFill/>
            <a:ln>
              <a:noFill/>
            </a:ln>
          </p:spPr>
        </p:pic>
        <p:pic>
          <p:nvPicPr>
            <p:cNvPr id="120" name="Google Shape;120;p18" title="{&quot;red&quot;:89,&quot;green&quot;:89,&quot;blue&quot;:89,&quot;origURL&quot;:&quot;https://www.codecogs.com/eqnedit.php?latex=t_3#0&quot;,&quot;size&quot;:24,&quot;width&quot;:670.9133858267717,&quot;height&quot;:269.00787401574803}"/>
            <p:cNvPicPr preferRelativeResize="0"/>
            <p:nvPr/>
          </p:nvPicPr>
          <p:blipFill>
            <a:blip r:embed="rId9">
              <a:alphaModFix/>
            </a:blip>
            <a:stretch>
              <a:fillRect/>
            </a:stretch>
          </p:blipFill>
          <p:spPr>
            <a:xfrm>
              <a:off x="6352775" y="4009688"/>
              <a:ext cx="195840" cy="230400"/>
            </a:xfrm>
            <a:prstGeom prst="rect">
              <a:avLst/>
            </a:prstGeom>
            <a:noFill/>
            <a:ln>
              <a:noFill/>
            </a:ln>
          </p:spPr>
        </p:pic>
        <p:pic>
          <p:nvPicPr>
            <p:cNvPr id="121" name="Google Shape;121;p18" title="{&quot;red&quot;:89,&quot;green&quot;:89,&quot;blue&quot;:89,&quot;origURL&quot;:&quot;https://www.codecogs.com/eqnedit.php?latex=50%20cm#0&quot;,&quot;size&quot;:24,&quot;width&quot;:670.9133858267717,&quot;height&quot;:269.00787401574803}"/>
            <p:cNvPicPr preferRelativeResize="0"/>
            <p:nvPr/>
          </p:nvPicPr>
          <p:blipFill>
            <a:blip r:embed="rId10">
              <a:alphaModFix/>
            </a:blip>
            <a:stretch>
              <a:fillRect/>
            </a:stretch>
          </p:blipFill>
          <p:spPr>
            <a:xfrm>
              <a:off x="3804975" y="2409750"/>
              <a:ext cx="515455" cy="162000"/>
            </a:xfrm>
            <a:prstGeom prst="rect">
              <a:avLst/>
            </a:prstGeom>
            <a:noFill/>
            <a:ln>
              <a:noFill/>
            </a:ln>
          </p:spPr>
        </p:pic>
        <p:pic>
          <p:nvPicPr>
            <p:cNvPr id="122" name="Google Shape;122;p18" title="{&quot;red&quot;:89,&quot;green&quot;:89,&quot;blue&quot;:89,&quot;origURL&quot;:&quot;https://www.codecogs.com/eqnedit.php?latex=30%20cm#0&quot;,&quot;size&quot;:24,&quot;width&quot;:670.9133858267717,&quot;height&quot;:269.00787401574803}"/>
            <p:cNvPicPr preferRelativeResize="0"/>
            <p:nvPr/>
          </p:nvPicPr>
          <p:blipFill>
            <a:blip r:embed="rId11">
              <a:alphaModFix/>
            </a:blip>
            <a:stretch>
              <a:fillRect/>
            </a:stretch>
          </p:blipFill>
          <p:spPr>
            <a:xfrm>
              <a:off x="2799875" y="3229625"/>
              <a:ext cx="518400" cy="162000"/>
            </a:xfrm>
            <a:prstGeom prst="rect">
              <a:avLst/>
            </a:prstGeom>
            <a:noFill/>
            <a:ln>
              <a:noFill/>
            </a:ln>
          </p:spPr>
        </p:pic>
        <p:pic>
          <p:nvPicPr>
            <p:cNvPr id="123" name="Google Shape;123;p18" title="{&quot;red&quot;:89,&quot;green&quot;:89,&quot;blue&quot;:89,&quot;origURL&quot;:&quot;https://www.codecogs.com/eqnedit.php?latex=30%20cm#0&quot;,&quot;size&quot;:24,&quot;width&quot;:670.9133858267717,&quot;height&quot;:269.00787401574803}"/>
            <p:cNvPicPr preferRelativeResize="0"/>
            <p:nvPr/>
          </p:nvPicPr>
          <p:blipFill>
            <a:blip r:embed="rId11">
              <a:alphaModFix/>
            </a:blip>
            <a:stretch>
              <a:fillRect/>
            </a:stretch>
          </p:blipFill>
          <p:spPr>
            <a:xfrm>
              <a:off x="5086700" y="3229625"/>
              <a:ext cx="518400" cy="162000"/>
            </a:xfrm>
            <a:prstGeom prst="rect">
              <a:avLst/>
            </a:prstGeom>
            <a:noFill/>
            <a:ln>
              <a:noFill/>
            </a:ln>
          </p:spPr>
        </p:pic>
      </p:grpSp>
      <p:grpSp>
        <p:nvGrpSpPr>
          <p:cNvPr id="124" name="Google Shape;124;p18"/>
          <p:cNvGrpSpPr/>
          <p:nvPr/>
        </p:nvGrpSpPr>
        <p:grpSpPr>
          <a:xfrm>
            <a:off x="1095318" y="4449088"/>
            <a:ext cx="712880" cy="694332"/>
            <a:chOff x="1095318" y="4449088"/>
            <a:chExt cx="712880" cy="694332"/>
          </a:xfrm>
        </p:grpSpPr>
        <p:sp>
          <p:nvSpPr>
            <p:cNvPr id="125" name="Google Shape;125;p18"/>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126" name="Google Shape;126;p18"/>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127" name="Google Shape;127;p18"/>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128" name="Google Shape;128;p18"/>
            <p:cNvPicPr preferRelativeResize="0"/>
            <p:nvPr/>
          </p:nvPicPr>
          <p:blipFill>
            <a:blip r:embed="rId12">
              <a:alphaModFix/>
            </a:blip>
            <a:stretch>
              <a:fillRect/>
            </a:stretch>
          </p:blipFill>
          <p:spPr>
            <a:xfrm flipH="1" rot="133010">
              <a:off x="1106374" y="4460147"/>
              <a:ext cx="583062" cy="583197"/>
            </a:xfrm>
            <a:prstGeom prst="rect">
              <a:avLst/>
            </a:prstGeom>
            <a:noFill/>
            <a:ln>
              <a:noFill/>
            </a:ln>
          </p:spPr>
        </p:pic>
      </p:grpSp>
      <p:sp>
        <p:nvSpPr>
          <p:cNvPr id="129" name="Google Shape;129;p18"/>
          <p:cNvSpPr txBox="1"/>
          <p:nvPr/>
        </p:nvSpPr>
        <p:spPr>
          <a:xfrm>
            <a:off x="3966775" y="4645975"/>
            <a:ext cx="36006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*Courtesy of Maani Ghaffari, Ryan Eustice, Frank Dellaert, Michael Kaess, Cyrill Stachniss, Pranav Ganti, Luca Carlone</a:t>
            </a:r>
            <a:endParaRPr sz="8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9"/>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s" sz="1800">
                <a:solidFill>
                  <a:srgbClr val="193364"/>
                </a:solidFill>
              </a:rPr>
              <a:t>Geometric Consistency</a:t>
            </a:r>
            <a:r>
              <a:rPr lang="es" sz="1800">
                <a:solidFill>
                  <a:schemeClr val="dk2"/>
                </a:solidFill>
              </a:rPr>
              <a:t> </a:t>
            </a:r>
            <a:r>
              <a:rPr b="1" lang="es" sz="1800">
                <a:solidFill>
                  <a:srgbClr val="193364"/>
                </a:solidFill>
              </a:rPr>
              <a:t>Example</a:t>
            </a:r>
            <a:r>
              <a:rPr lang="es" sz="1800">
                <a:solidFill>
                  <a:schemeClr val="dk2"/>
                </a:solidFill>
              </a:rPr>
              <a:t>: Suppose we compute odometry estimates between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rPr lang="es" sz="1800">
                <a:solidFill>
                  <a:schemeClr val="dk2"/>
                </a:solidFill>
              </a:rPr>
              <a:t>We can take average of the estimates to obtain consistent results</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35" name="Google Shape;135;p19"/>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Geometric Consistency Example</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pic>
        <p:nvPicPr>
          <p:cNvPr id="136" name="Google Shape;136;p19" title="{&quot;red&quot;:89,&quot;green&quot;:89,&quot;blue&quot;:89,&quot;origURL&quot;:&quot;https://www.codecogs.com/eqnedit.php?latex=(t_1%2Ct_2)#0&quot;,&quot;size&quot;:24,&quot;width&quot;:670.9133858267717,&quot;height&quot;:269.00787401574803}"/>
          <p:cNvPicPr preferRelativeResize="0"/>
          <p:nvPr/>
        </p:nvPicPr>
        <p:blipFill>
          <a:blip r:embed="rId3">
            <a:alphaModFix/>
          </a:blip>
          <a:stretch>
            <a:fillRect/>
          </a:stretch>
        </p:blipFill>
        <p:spPr>
          <a:xfrm>
            <a:off x="1395875" y="1490147"/>
            <a:ext cx="539571" cy="215908"/>
          </a:xfrm>
          <a:prstGeom prst="rect">
            <a:avLst/>
          </a:prstGeom>
          <a:noFill/>
          <a:ln>
            <a:noFill/>
          </a:ln>
        </p:spPr>
      </p:pic>
      <p:pic>
        <p:nvPicPr>
          <p:cNvPr id="137" name="Google Shape;137;p19" title="{&quot;red&quot;:89,&quot;green&quot;:89,&quot;blue&quot;:89,&quot;origURL&quot;:&quot;https://www.codecogs.com/eqnedit.php?latex=(t_2%2Ct_3)#0&quot;,&quot;size&quot;:24,&quot;width&quot;:670.9133858267717,&quot;height&quot;:269.00787401574803}"/>
          <p:cNvPicPr preferRelativeResize="0"/>
          <p:nvPr/>
        </p:nvPicPr>
        <p:blipFill>
          <a:blip r:embed="rId4">
            <a:alphaModFix/>
          </a:blip>
          <a:stretch>
            <a:fillRect/>
          </a:stretch>
        </p:blipFill>
        <p:spPr>
          <a:xfrm>
            <a:off x="1987004" y="1490100"/>
            <a:ext cx="539571" cy="216000"/>
          </a:xfrm>
          <a:prstGeom prst="rect">
            <a:avLst/>
          </a:prstGeom>
          <a:noFill/>
          <a:ln>
            <a:noFill/>
          </a:ln>
        </p:spPr>
      </p:pic>
      <p:pic>
        <p:nvPicPr>
          <p:cNvPr id="138" name="Google Shape;138;p19" title="{&quot;red&quot;:89,&quot;green&quot;:89,&quot;blue&quot;:89,&quot;origURL&quot;:&quot;https://www.codecogs.com/eqnedit.php?latex=(t_1%2Ct_3)#0&quot;,&quot;size&quot;:24,&quot;width&quot;:670.9133858267717,&quot;height&quot;:269.00787401574803}"/>
          <p:cNvPicPr preferRelativeResize="0"/>
          <p:nvPr/>
        </p:nvPicPr>
        <p:blipFill>
          <a:blip r:embed="rId5">
            <a:alphaModFix/>
          </a:blip>
          <a:stretch>
            <a:fillRect/>
          </a:stretch>
        </p:blipFill>
        <p:spPr>
          <a:xfrm>
            <a:off x="2578133" y="1490100"/>
            <a:ext cx="539571" cy="216000"/>
          </a:xfrm>
          <a:prstGeom prst="rect">
            <a:avLst/>
          </a:prstGeom>
          <a:noFill/>
          <a:ln>
            <a:noFill/>
          </a:ln>
        </p:spPr>
      </p:pic>
      <p:pic>
        <p:nvPicPr>
          <p:cNvPr id="139" name="Google Shape;139;p19"/>
          <p:cNvPicPr preferRelativeResize="0"/>
          <p:nvPr/>
        </p:nvPicPr>
        <p:blipFill rotWithShape="1">
          <a:blip r:embed="rId6">
            <a:alphaModFix/>
          </a:blip>
          <a:srcRect b="8800" l="10210" r="6171" t="9038"/>
          <a:stretch/>
        </p:blipFill>
        <p:spPr>
          <a:xfrm>
            <a:off x="737182" y="2737542"/>
            <a:ext cx="1359351" cy="1335649"/>
          </a:xfrm>
          <a:prstGeom prst="rect">
            <a:avLst/>
          </a:prstGeom>
          <a:noFill/>
          <a:ln>
            <a:noFill/>
          </a:ln>
        </p:spPr>
      </p:pic>
      <p:pic>
        <p:nvPicPr>
          <p:cNvPr id="140" name="Google Shape;140;p19"/>
          <p:cNvPicPr preferRelativeResize="0"/>
          <p:nvPr/>
        </p:nvPicPr>
        <p:blipFill rotWithShape="1">
          <a:blip r:embed="rId6">
            <a:alphaModFix/>
          </a:blip>
          <a:srcRect b="8800" l="10210" r="6171" t="9038"/>
          <a:stretch/>
        </p:blipFill>
        <p:spPr>
          <a:xfrm>
            <a:off x="2968095" y="2737542"/>
            <a:ext cx="1359351" cy="1335649"/>
          </a:xfrm>
          <a:prstGeom prst="rect">
            <a:avLst/>
          </a:prstGeom>
          <a:noFill/>
          <a:ln>
            <a:noFill/>
          </a:ln>
        </p:spPr>
      </p:pic>
      <p:pic>
        <p:nvPicPr>
          <p:cNvPr id="141" name="Google Shape;141;p19"/>
          <p:cNvPicPr preferRelativeResize="0"/>
          <p:nvPr/>
        </p:nvPicPr>
        <p:blipFill rotWithShape="1">
          <a:blip r:embed="rId6">
            <a:alphaModFix/>
          </a:blip>
          <a:srcRect b="8800" l="10210" r="6171" t="9038"/>
          <a:stretch/>
        </p:blipFill>
        <p:spPr>
          <a:xfrm>
            <a:off x="5199007" y="2737542"/>
            <a:ext cx="1359351" cy="1335649"/>
          </a:xfrm>
          <a:prstGeom prst="rect">
            <a:avLst/>
          </a:prstGeom>
          <a:noFill/>
          <a:ln>
            <a:noFill/>
          </a:ln>
        </p:spPr>
      </p:pic>
      <p:cxnSp>
        <p:nvCxnSpPr>
          <p:cNvPr id="142" name="Google Shape;142;p19"/>
          <p:cNvCxnSpPr>
            <a:stCxn id="139" idx="3"/>
            <a:endCxn id="140" idx="1"/>
          </p:cNvCxnSpPr>
          <p:nvPr/>
        </p:nvCxnSpPr>
        <p:spPr>
          <a:xfrm>
            <a:off x="2096533" y="3405367"/>
            <a:ext cx="871500" cy="0"/>
          </a:xfrm>
          <a:prstGeom prst="straightConnector1">
            <a:avLst/>
          </a:prstGeom>
          <a:noFill/>
          <a:ln cap="flat" cmpd="sng" w="28575">
            <a:solidFill>
              <a:schemeClr val="dk2"/>
            </a:solidFill>
            <a:prstDash val="solid"/>
            <a:round/>
            <a:headEnd len="med" w="med" type="none"/>
            <a:tailEnd len="med" w="med" type="triangle"/>
          </a:ln>
        </p:spPr>
      </p:cxnSp>
      <p:cxnSp>
        <p:nvCxnSpPr>
          <p:cNvPr id="143" name="Google Shape;143;p19"/>
          <p:cNvCxnSpPr>
            <a:stCxn id="140" idx="3"/>
            <a:endCxn id="141" idx="1"/>
          </p:cNvCxnSpPr>
          <p:nvPr/>
        </p:nvCxnSpPr>
        <p:spPr>
          <a:xfrm>
            <a:off x="4327445" y="3405367"/>
            <a:ext cx="871500" cy="0"/>
          </a:xfrm>
          <a:prstGeom prst="straightConnector1">
            <a:avLst/>
          </a:prstGeom>
          <a:noFill/>
          <a:ln cap="flat" cmpd="sng" w="28575">
            <a:solidFill>
              <a:schemeClr val="dk2"/>
            </a:solidFill>
            <a:prstDash val="solid"/>
            <a:round/>
            <a:headEnd len="med" w="med" type="none"/>
            <a:tailEnd len="med" w="med" type="triangle"/>
          </a:ln>
        </p:spPr>
      </p:cxnSp>
      <p:cxnSp>
        <p:nvCxnSpPr>
          <p:cNvPr id="144" name="Google Shape;144;p19"/>
          <p:cNvCxnSpPr/>
          <p:nvPr/>
        </p:nvCxnSpPr>
        <p:spPr>
          <a:xfrm flipH="1" rot="10800000">
            <a:off x="1519582" y="2608817"/>
            <a:ext cx="4212300" cy="9000"/>
          </a:xfrm>
          <a:prstGeom prst="straightConnector1">
            <a:avLst/>
          </a:prstGeom>
          <a:noFill/>
          <a:ln cap="flat" cmpd="sng" w="28575">
            <a:solidFill>
              <a:schemeClr val="dk2"/>
            </a:solidFill>
            <a:prstDash val="solid"/>
            <a:round/>
            <a:headEnd len="med" w="med" type="none"/>
            <a:tailEnd len="med" w="med" type="triangle"/>
          </a:ln>
        </p:spPr>
      </p:cxnSp>
      <p:pic>
        <p:nvPicPr>
          <p:cNvPr id="145" name="Google Shape;145;p19" title="{&quot;red&quot;:89,&quot;green&quot;:89,&quot;blue&quot;:89,&quot;origURL&quot;:&quot;https://www.codecogs.com/eqnedit.php?latex=t_1#0&quot;,&quot;size&quot;:24,&quot;width&quot;:670.9133858267717,&quot;height&quot;:269.00787401574803}"/>
          <p:cNvPicPr preferRelativeResize="0"/>
          <p:nvPr/>
        </p:nvPicPr>
        <p:blipFill>
          <a:blip r:embed="rId7">
            <a:alphaModFix/>
          </a:blip>
          <a:stretch>
            <a:fillRect/>
          </a:stretch>
        </p:blipFill>
        <p:spPr>
          <a:xfrm>
            <a:off x="1308270" y="3965362"/>
            <a:ext cx="186811" cy="230400"/>
          </a:xfrm>
          <a:prstGeom prst="rect">
            <a:avLst/>
          </a:prstGeom>
          <a:noFill/>
          <a:ln>
            <a:noFill/>
          </a:ln>
        </p:spPr>
      </p:pic>
      <p:pic>
        <p:nvPicPr>
          <p:cNvPr id="146" name="Google Shape;146;p19" title="{&quot;red&quot;:89,&quot;green&quot;:89,&quot;blue&quot;:89,&quot;origURL&quot;:&quot;https://www.codecogs.com/eqnedit.php?latex=t_2#0&quot;,&quot;size&quot;:24,&quot;width&quot;:670.9133858267717,&quot;height&quot;:269.00787401574803}"/>
          <p:cNvPicPr preferRelativeResize="0"/>
          <p:nvPr/>
        </p:nvPicPr>
        <p:blipFill>
          <a:blip r:embed="rId8">
            <a:alphaModFix/>
          </a:blip>
          <a:stretch>
            <a:fillRect/>
          </a:stretch>
        </p:blipFill>
        <p:spPr>
          <a:xfrm>
            <a:off x="3513720" y="3965362"/>
            <a:ext cx="193038" cy="230400"/>
          </a:xfrm>
          <a:prstGeom prst="rect">
            <a:avLst/>
          </a:prstGeom>
          <a:noFill/>
          <a:ln>
            <a:noFill/>
          </a:ln>
        </p:spPr>
      </p:pic>
      <p:pic>
        <p:nvPicPr>
          <p:cNvPr id="147" name="Google Shape;147;p19" title="{&quot;red&quot;:89,&quot;green&quot;:89,&quot;blue&quot;:89,&quot;origURL&quot;:&quot;https://www.codecogs.com/eqnedit.php?latex=t_3#0&quot;,&quot;size&quot;:24,&quot;width&quot;:670.9133858267717,&quot;height&quot;:269.00787401574803}"/>
          <p:cNvPicPr preferRelativeResize="0"/>
          <p:nvPr/>
        </p:nvPicPr>
        <p:blipFill>
          <a:blip r:embed="rId9">
            <a:alphaModFix/>
          </a:blip>
          <a:stretch>
            <a:fillRect/>
          </a:stretch>
        </p:blipFill>
        <p:spPr>
          <a:xfrm>
            <a:off x="5770107" y="3963074"/>
            <a:ext cx="195840" cy="230400"/>
          </a:xfrm>
          <a:prstGeom prst="rect">
            <a:avLst/>
          </a:prstGeom>
          <a:noFill/>
          <a:ln>
            <a:noFill/>
          </a:ln>
        </p:spPr>
      </p:pic>
      <p:pic>
        <p:nvPicPr>
          <p:cNvPr id="148" name="Google Shape;148;p19" title="{&quot;red&quot;:89,&quot;green&quot;:89,&quot;blue&quot;:89,&quot;origURL&quot;:&quot;https://www.codecogs.com/eqnedit.php?latex=a%20%2B%20b%20-%20c%20%3D%20r#0&quot;,&quot;size&quot;:24,&quot;width&quot;:670.9133858267717,&quot;height&quot;:269.00787401574803}"/>
          <p:cNvPicPr preferRelativeResize="0"/>
          <p:nvPr/>
        </p:nvPicPr>
        <p:blipFill>
          <a:blip r:embed="rId10">
            <a:alphaModFix/>
          </a:blip>
          <a:stretch>
            <a:fillRect/>
          </a:stretch>
        </p:blipFill>
        <p:spPr>
          <a:xfrm>
            <a:off x="6929005" y="2490738"/>
            <a:ext cx="1140567" cy="162000"/>
          </a:xfrm>
          <a:prstGeom prst="rect">
            <a:avLst/>
          </a:prstGeom>
          <a:noFill/>
          <a:ln>
            <a:noFill/>
          </a:ln>
        </p:spPr>
      </p:pic>
      <p:pic>
        <p:nvPicPr>
          <p:cNvPr id="149" name="Google Shape;149;p19" title="{&quot;red&quot;:89,&quot;green&quot;:89,&quot;blue&quot;:89,&quot;origURL&quot;:&quot;https://www.codecogs.com/eqnedit.php?latex=%20a%20%3D%2030cm%20#0&quot;,&quot;size&quot;:24,&quot;width&quot;:670.9133858267717,&quot;height&quot;:269.00787401574803}"/>
          <p:cNvPicPr preferRelativeResize="0"/>
          <p:nvPr/>
        </p:nvPicPr>
        <p:blipFill>
          <a:blip r:embed="rId11">
            <a:alphaModFix/>
          </a:blip>
          <a:stretch>
            <a:fillRect/>
          </a:stretch>
        </p:blipFill>
        <p:spPr>
          <a:xfrm>
            <a:off x="2057838" y="3120850"/>
            <a:ext cx="948857" cy="162000"/>
          </a:xfrm>
          <a:prstGeom prst="rect">
            <a:avLst/>
          </a:prstGeom>
          <a:noFill/>
          <a:ln>
            <a:noFill/>
          </a:ln>
        </p:spPr>
      </p:pic>
      <p:pic>
        <p:nvPicPr>
          <p:cNvPr id="150" name="Google Shape;150;p19" title="{&quot;red&quot;:89,&quot;green&quot;:89,&quot;blue&quot;:89,&quot;origURL&quot;:&quot;https://www.codecogs.com/eqnedit.php?latex=%20b%20%3D%2030cm%20#0&quot;,&quot;size&quot;:24,&quot;width&quot;:670.9133858267717,&quot;height&quot;:269.00787401574803}"/>
          <p:cNvPicPr preferRelativeResize="0"/>
          <p:nvPr/>
        </p:nvPicPr>
        <p:blipFill>
          <a:blip r:embed="rId12">
            <a:alphaModFix/>
          </a:blip>
          <a:stretch>
            <a:fillRect/>
          </a:stretch>
        </p:blipFill>
        <p:spPr>
          <a:xfrm>
            <a:off x="4320938" y="3120850"/>
            <a:ext cx="884520" cy="162000"/>
          </a:xfrm>
          <a:prstGeom prst="rect">
            <a:avLst/>
          </a:prstGeom>
          <a:noFill/>
          <a:ln>
            <a:noFill/>
          </a:ln>
        </p:spPr>
      </p:pic>
      <p:pic>
        <p:nvPicPr>
          <p:cNvPr id="151" name="Google Shape;151;p19" title="{&quot;red&quot;:89,&quot;green&quot;:89,&quot;blue&quot;:89,&quot;origURL&quot;:&quot;https://www.codecogs.com/eqnedit.php?latex=%20c%20%3D%2050cm%20#0&quot;,&quot;size&quot;:24,&quot;width&quot;:670.9133858267717,&quot;height&quot;:269.00787401574803}"/>
          <p:cNvPicPr preferRelativeResize="0"/>
          <p:nvPr/>
        </p:nvPicPr>
        <p:blipFill>
          <a:blip r:embed="rId13">
            <a:alphaModFix/>
          </a:blip>
          <a:stretch>
            <a:fillRect/>
          </a:stretch>
        </p:blipFill>
        <p:spPr>
          <a:xfrm>
            <a:off x="3084463" y="2370918"/>
            <a:ext cx="930764" cy="162000"/>
          </a:xfrm>
          <a:prstGeom prst="rect">
            <a:avLst/>
          </a:prstGeom>
          <a:noFill/>
          <a:ln>
            <a:noFill/>
          </a:ln>
        </p:spPr>
      </p:pic>
      <p:pic>
        <p:nvPicPr>
          <p:cNvPr id="152" name="Google Shape;152;p19" title="{&quot;red&quot;:89,&quot;green&quot;:89,&quot;blue&quot;:89,&quot;origURL&quot;:&quot;https://www.codecogs.com/eqnedit.php?latex=%20r%20%3D%2030%20%2B%2030%20-%2050%20%3D%2010#0&quot;,&quot;size&quot;:24,&quot;width&quot;:670.9133858267717,&quot;height&quot;:269.00787401574803}"/>
          <p:cNvPicPr preferRelativeResize="0"/>
          <p:nvPr/>
        </p:nvPicPr>
        <p:blipFill>
          <a:blip r:embed="rId14">
            <a:alphaModFix/>
          </a:blip>
          <a:stretch>
            <a:fillRect/>
          </a:stretch>
        </p:blipFill>
        <p:spPr>
          <a:xfrm>
            <a:off x="6386450" y="2846863"/>
            <a:ext cx="2057400" cy="162000"/>
          </a:xfrm>
          <a:prstGeom prst="rect">
            <a:avLst/>
          </a:prstGeom>
          <a:noFill/>
          <a:ln>
            <a:noFill/>
          </a:ln>
        </p:spPr>
      </p:pic>
      <p:pic>
        <p:nvPicPr>
          <p:cNvPr id="153" name="Google Shape;153;p19" title="{&quot;red&quot;:89,&quot;green&quot;:89,&quot;blue&quot;:89,&quot;origURL&quot;:&quot;https://www.codecogs.com/eqnedit.php?latex=%5Chat%7Ba%7D%20%3D%20%3F%20#0&quot;,&quot;size&quot;:24,&quot;width&quot;:670.9133858267717,&quot;height&quot;:269.00787401574803}"/>
          <p:cNvPicPr preferRelativeResize="0"/>
          <p:nvPr/>
        </p:nvPicPr>
        <p:blipFill>
          <a:blip r:embed="rId15">
            <a:alphaModFix/>
          </a:blip>
          <a:stretch>
            <a:fillRect/>
          </a:stretch>
        </p:blipFill>
        <p:spPr>
          <a:xfrm>
            <a:off x="6630653" y="3282850"/>
            <a:ext cx="437400" cy="162000"/>
          </a:xfrm>
          <a:prstGeom prst="rect">
            <a:avLst/>
          </a:prstGeom>
          <a:noFill/>
          <a:ln>
            <a:noFill/>
          </a:ln>
        </p:spPr>
      </p:pic>
      <p:pic>
        <p:nvPicPr>
          <p:cNvPr id="154" name="Google Shape;154;p19" title="{&quot;red&quot;:89,&quot;green&quot;:89,&quot;blue&quot;:89,&quot;origURL&quot;:&quot;https://www.codecogs.com/eqnedit.php?latex=%5Chat%7Bb%7D%20%3D%20%3F%20#0&quot;,&quot;size&quot;:24,&quot;width&quot;:670.9133858267717,&quot;height&quot;:269.00787401574803}"/>
          <p:cNvPicPr preferRelativeResize="0"/>
          <p:nvPr/>
        </p:nvPicPr>
        <p:blipFill>
          <a:blip r:embed="rId16">
            <a:alphaModFix/>
          </a:blip>
          <a:stretch>
            <a:fillRect/>
          </a:stretch>
        </p:blipFill>
        <p:spPr>
          <a:xfrm>
            <a:off x="7308912" y="3233773"/>
            <a:ext cx="415385" cy="216000"/>
          </a:xfrm>
          <a:prstGeom prst="rect">
            <a:avLst/>
          </a:prstGeom>
          <a:noFill/>
          <a:ln>
            <a:noFill/>
          </a:ln>
        </p:spPr>
      </p:pic>
      <p:pic>
        <p:nvPicPr>
          <p:cNvPr id="155" name="Google Shape;155;p19" title="{&quot;red&quot;:89,&quot;green&quot;:89,&quot;blue&quot;:89,&quot;origURL&quot;:&quot;https://www.codecogs.com/eqnedit.php?latex=%5Chat%7Bc%7D%20%3D%20%3F%20#0&quot;,&quot;size&quot;:24,&quot;width&quot;:670.9133858267717,&quot;height&quot;:269.00787401574803}"/>
          <p:cNvPicPr preferRelativeResize="0"/>
          <p:nvPr/>
        </p:nvPicPr>
        <p:blipFill>
          <a:blip r:embed="rId17">
            <a:alphaModFix/>
          </a:blip>
          <a:stretch>
            <a:fillRect/>
          </a:stretch>
        </p:blipFill>
        <p:spPr>
          <a:xfrm>
            <a:off x="7920007" y="3282842"/>
            <a:ext cx="417150" cy="162000"/>
          </a:xfrm>
          <a:prstGeom prst="rect">
            <a:avLst/>
          </a:prstGeom>
          <a:noFill/>
          <a:ln>
            <a:noFill/>
          </a:ln>
        </p:spPr>
      </p:pic>
      <p:grpSp>
        <p:nvGrpSpPr>
          <p:cNvPr id="156" name="Google Shape;156;p19"/>
          <p:cNvGrpSpPr/>
          <p:nvPr/>
        </p:nvGrpSpPr>
        <p:grpSpPr>
          <a:xfrm>
            <a:off x="1095318" y="4449088"/>
            <a:ext cx="712880" cy="694332"/>
            <a:chOff x="1095318" y="4449088"/>
            <a:chExt cx="712880" cy="694332"/>
          </a:xfrm>
        </p:grpSpPr>
        <p:sp>
          <p:nvSpPr>
            <p:cNvPr id="157" name="Google Shape;157;p19"/>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158" name="Google Shape;158;p19"/>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159" name="Google Shape;159;p19"/>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160" name="Google Shape;160;p19"/>
            <p:cNvPicPr preferRelativeResize="0"/>
            <p:nvPr/>
          </p:nvPicPr>
          <p:blipFill>
            <a:blip r:embed="rId18">
              <a:alphaModFix/>
            </a:blip>
            <a:stretch>
              <a:fillRect/>
            </a:stretch>
          </p:blipFill>
          <p:spPr>
            <a:xfrm flipH="1" rot="133010">
              <a:off x="1106374" y="4460147"/>
              <a:ext cx="583062" cy="583197"/>
            </a:xfrm>
            <a:prstGeom prst="rect">
              <a:avLst/>
            </a:prstGeom>
            <a:noFill/>
            <a:ln>
              <a:noFill/>
            </a:ln>
          </p:spPr>
        </p:pic>
      </p:grpSp>
      <p:sp>
        <p:nvSpPr>
          <p:cNvPr id="161" name="Google Shape;161;p19"/>
          <p:cNvSpPr txBox="1"/>
          <p:nvPr/>
        </p:nvSpPr>
        <p:spPr>
          <a:xfrm>
            <a:off x="3966775" y="4645975"/>
            <a:ext cx="36006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*Courtesy of Maani Ghaffari, Ryan Eustice, Frank Dellaert, Michael Kaess, Cyrill Stachniss, Pranav Ganti, Luca Carlone</a:t>
            </a:r>
            <a:endParaRPr sz="8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0"/>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s" sz="1200">
                <a:solidFill>
                  <a:srgbClr val="193364"/>
                </a:solidFill>
              </a:rPr>
              <a:t>Factor Graph: </a:t>
            </a:r>
            <a:r>
              <a:rPr lang="es" sz="1200">
                <a:solidFill>
                  <a:schemeClr val="dk1"/>
                </a:solidFill>
              </a:rPr>
              <a:t>Mathematical framework for solving estimation/inference problems and obtain consistency</a:t>
            </a:r>
            <a:endParaRPr sz="1200">
              <a:solidFill>
                <a:schemeClr val="dk1"/>
              </a:solidFill>
            </a:endParaRPr>
          </a:p>
          <a:p>
            <a:pPr indent="0" lvl="0" marL="0" rtl="0" algn="just">
              <a:spcBef>
                <a:spcPts val="0"/>
              </a:spcBef>
              <a:spcAft>
                <a:spcPts val="0"/>
              </a:spcAft>
              <a:buNone/>
            </a:pPr>
            <a:r>
              <a:t/>
            </a:r>
            <a:endParaRPr sz="1200">
              <a:solidFill>
                <a:schemeClr val="dk1"/>
              </a:solidFill>
            </a:endParaRPr>
          </a:p>
          <a:p>
            <a:pPr indent="-304800" lvl="0" marL="457200" rtl="0" algn="just">
              <a:spcBef>
                <a:spcPts val="0"/>
              </a:spcBef>
              <a:spcAft>
                <a:spcPts val="0"/>
              </a:spcAft>
              <a:buClr>
                <a:schemeClr val="dk1"/>
              </a:buClr>
              <a:buSzPts val="1200"/>
              <a:buChar char="-"/>
            </a:pPr>
            <a:r>
              <a:rPr lang="es" sz="1200">
                <a:solidFill>
                  <a:schemeClr val="dk1"/>
                </a:solidFill>
              </a:rPr>
              <a:t>Problem representation as a graph</a:t>
            </a:r>
            <a:endParaRPr sz="1200">
              <a:solidFill>
                <a:schemeClr val="dk1"/>
              </a:solidFill>
            </a:endParaRPr>
          </a:p>
          <a:p>
            <a:pPr indent="-304800" lvl="0" marL="457200" rtl="0" algn="just">
              <a:spcBef>
                <a:spcPts val="0"/>
              </a:spcBef>
              <a:spcAft>
                <a:spcPts val="0"/>
              </a:spcAft>
              <a:buClr>
                <a:schemeClr val="dk1"/>
              </a:buClr>
              <a:buSzPts val="1200"/>
              <a:buChar char="-"/>
            </a:pPr>
            <a:r>
              <a:rPr b="1" lang="es" sz="1200">
                <a:solidFill>
                  <a:srgbClr val="193364"/>
                </a:solidFill>
              </a:rPr>
              <a:t>Nodes/Vertices</a:t>
            </a:r>
            <a:r>
              <a:rPr lang="es" sz="1200">
                <a:solidFill>
                  <a:schemeClr val="dk1"/>
                </a:solidFill>
              </a:rPr>
              <a:t>: are optimization variable. </a:t>
            </a:r>
            <a:endParaRPr sz="1200">
              <a:solidFill>
                <a:schemeClr val="dk1"/>
              </a:solidFill>
            </a:endParaRPr>
          </a:p>
          <a:p>
            <a:pPr indent="0" lvl="0" marL="457200" rtl="0" algn="just">
              <a:spcBef>
                <a:spcPts val="0"/>
              </a:spcBef>
              <a:spcAft>
                <a:spcPts val="0"/>
              </a:spcAft>
              <a:buNone/>
            </a:pPr>
            <a:r>
              <a:rPr lang="es" sz="1200">
                <a:solidFill>
                  <a:schemeClr val="dk1"/>
                </a:solidFill>
              </a:rPr>
              <a:t>Can be of different types (continuous or discrete, poses or landmarks, etc.)</a:t>
            </a:r>
            <a:endParaRPr sz="1200">
              <a:solidFill>
                <a:schemeClr val="dk1"/>
              </a:solidFill>
            </a:endParaRPr>
          </a:p>
          <a:p>
            <a:pPr indent="-304800" lvl="0" marL="457200" rtl="0" algn="just">
              <a:spcBef>
                <a:spcPts val="0"/>
              </a:spcBef>
              <a:spcAft>
                <a:spcPts val="0"/>
              </a:spcAft>
              <a:buClr>
                <a:schemeClr val="dk1"/>
              </a:buClr>
              <a:buSzPts val="1200"/>
              <a:buChar char="-"/>
            </a:pPr>
            <a:r>
              <a:rPr b="1" lang="es" sz="1200">
                <a:solidFill>
                  <a:srgbClr val="193364"/>
                </a:solidFill>
              </a:rPr>
              <a:t>Factors/Edges:</a:t>
            </a:r>
            <a:r>
              <a:rPr lang="es" sz="1200">
                <a:solidFill>
                  <a:schemeClr val="dk1"/>
                </a:solidFill>
              </a:rPr>
              <a:t> represent relationship/constraints between variables (e.g. relative pose estimates, sensor measurements)</a:t>
            </a:r>
            <a:endParaRPr sz="1200">
              <a:solidFill>
                <a:schemeClr val="dk1"/>
              </a:solidFill>
            </a:endParaRPr>
          </a:p>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67" name="Google Shape;167;p20"/>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sz="2400">
                <a:solidFill>
                  <a:srgbClr val="193364"/>
                </a:solidFill>
              </a:rPr>
              <a:t>Factor Graph</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pic>
        <p:nvPicPr>
          <p:cNvPr id="168" name="Google Shape;168;p20"/>
          <p:cNvPicPr preferRelativeResize="0"/>
          <p:nvPr/>
        </p:nvPicPr>
        <p:blipFill rotWithShape="1">
          <a:blip r:embed="rId3">
            <a:alphaModFix/>
          </a:blip>
          <a:srcRect b="8800" l="10210" r="6171" t="9038"/>
          <a:stretch/>
        </p:blipFill>
        <p:spPr>
          <a:xfrm>
            <a:off x="436594" y="2979927"/>
            <a:ext cx="926262" cy="910111"/>
          </a:xfrm>
          <a:prstGeom prst="rect">
            <a:avLst/>
          </a:prstGeom>
          <a:noFill/>
          <a:ln>
            <a:noFill/>
          </a:ln>
        </p:spPr>
      </p:pic>
      <p:pic>
        <p:nvPicPr>
          <p:cNvPr id="169" name="Google Shape;169;p20"/>
          <p:cNvPicPr preferRelativeResize="0"/>
          <p:nvPr/>
        </p:nvPicPr>
        <p:blipFill rotWithShape="1">
          <a:blip r:embed="rId3">
            <a:alphaModFix/>
          </a:blip>
          <a:srcRect b="8800" l="10210" r="6171" t="9038"/>
          <a:stretch/>
        </p:blipFill>
        <p:spPr>
          <a:xfrm>
            <a:off x="1956738" y="2979927"/>
            <a:ext cx="926262" cy="910111"/>
          </a:xfrm>
          <a:prstGeom prst="rect">
            <a:avLst/>
          </a:prstGeom>
          <a:noFill/>
          <a:ln>
            <a:noFill/>
          </a:ln>
        </p:spPr>
      </p:pic>
      <p:pic>
        <p:nvPicPr>
          <p:cNvPr id="170" name="Google Shape;170;p20"/>
          <p:cNvPicPr preferRelativeResize="0"/>
          <p:nvPr/>
        </p:nvPicPr>
        <p:blipFill rotWithShape="1">
          <a:blip r:embed="rId3">
            <a:alphaModFix/>
          </a:blip>
          <a:srcRect b="8800" l="10210" r="6171" t="9038"/>
          <a:stretch/>
        </p:blipFill>
        <p:spPr>
          <a:xfrm>
            <a:off x="3476881" y="2979927"/>
            <a:ext cx="926262" cy="910111"/>
          </a:xfrm>
          <a:prstGeom prst="rect">
            <a:avLst/>
          </a:prstGeom>
          <a:noFill/>
          <a:ln>
            <a:noFill/>
          </a:ln>
        </p:spPr>
      </p:pic>
      <p:cxnSp>
        <p:nvCxnSpPr>
          <p:cNvPr id="171" name="Google Shape;171;p20"/>
          <p:cNvCxnSpPr>
            <a:stCxn id="168" idx="3"/>
            <a:endCxn id="169" idx="1"/>
          </p:cNvCxnSpPr>
          <p:nvPr/>
        </p:nvCxnSpPr>
        <p:spPr>
          <a:xfrm>
            <a:off x="1362855" y="3434982"/>
            <a:ext cx="594000" cy="0"/>
          </a:xfrm>
          <a:prstGeom prst="straightConnector1">
            <a:avLst/>
          </a:prstGeom>
          <a:noFill/>
          <a:ln cap="flat" cmpd="sng" w="19475">
            <a:solidFill>
              <a:schemeClr val="dk2"/>
            </a:solidFill>
            <a:prstDash val="solid"/>
            <a:round/>
            <a:headEnd len="med" w="med" type="none"/>
            <a:tailEnd len="med" w="med" type="triangle"/>
          </a:ln>
        </p:spPr>
      </p:cxnSp>
      <p:cxnSp>
        <p:nvCxnSpPr>
          <p:cNvPr id="172" name="Google Shape;172;p20"/>
          <p:cNvCxnSpPr>
            <a:stCxn id="169" idx="3"/>
            <a:endCxn id="170" idx="1"/>
          </p:cNvCxnSpPr>
          <p:nvPr/>
        </p:nvCxnSpPr>
        <p:spPr>
          <a:xfrm>
            <a:off x="2882999" y="3434982"/>
            <a:ext cx="594000" cy="0"/>
          </a:xfrm>
          <a:prstGeom prst="straightConnector1">
            <a:avLst/>
          </a:prstGeom>
          <a:noFill/>
          <a:ln cap="flat" cmpd="sng" w="19475">
            <a:solidFill>
              <a:schemeClr val="dk2"/>
            </a:solidFill>
            <a:prstDash val="solid"/>
            <a:round/>
            <a:headEnd len="med" w="med" type="none"/>
            <a:tailEnd len="med" w="med" type="triangle"/>
          </a:ln>
        </p:spPr>
      </p:cxnSp>
      <p:cxnSp>
        <p:nvCxnSpPr>
          <p:cNvPr id="173" name="Google Shape;173;p20"/>
          <p:cNvCxnSpPr/>
          <p:nvPr/>
        </p:nvCxnSpPr>
        <p:spPr>
          <a:xfrm flipH="1" rot="10800000">
            <a:off x="969721" y="2892213"/>
            <a:ext cx="2870261" cy="6133"/>
          </a:xfrm>
          <a:prstGeom prst="straightConnector1">
            <a:avLst/>
          </a:prstGeom>
          <a:noFill/>
          <a:ln cap="flat" cmpd="sng" w="19475">
            <a:solidFill>
              <a:schemeClr val="dk2"/>
            </a:solidFill>
            <a:prstDash val="solid"/>
            <a:round/>
            <a:headEnd len="med" w="med" type="none"/>
            <a:tailEnd len="med" w="med" type="triangle"/>
          </a:ln>
        </p:spPr>
      </p:cxnSp>
      <p:grpSp>
        <p:nvGrpSpPr>
          <p:cNvPr id="174" name="Google Shape;174;p20"/>
          <p:cNvGrpSpPr/>
          <p:nvPr/>
        </p:nvGrpSpPr>
        <p:grpSpPr>
          <a:xfrm>
            <a:off x="1095318" y="4449088"/>
            <a:ext cx="712880" cy="694332"/>
            <a:chOff x="1095318" y="4449088"/>
            <a:chExt cx="712880" cy="694332"/>
          </a:xfrm>
        </p:grpSpPr>
        <p:sp>
          <p:nvSpPr>
            <p:cNvPr id="175" name="Google Shape;175;p20"/>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176" name="Google Shape;176;p20"/>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177" name="Google Shape;177;p20"/>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178" name="Google Shape;178;p20"/>
            <p:cNvPicPr preferRelativeResize="0"/>
            <p:nvPr/>
          </p:nvPicPr>
          <p:blipFill>
            <a:blip r:embed="rId4">
              <a:alphaModFix/>
            </a:blip>
            <a:stretch>
              <a:fillRect/>
            </a:stretch>
          </p:blipFill>
          <p:spPr>
            <a:xfrm flipH="1" rot="133010">
              <a:off x="1106374" y="4460147"/>
              <a:ext cx="583062" cy="583197"/>
            </a:xfrm>
            <a:prstGeom prst="rect">
              <a:avLst/>
            </a:prstGeom>
            <a:noFill/>
            <a:ln>
              <a:noFill/>
            </a:ln>
          </p:spPr>
        </p:pic>
      </p:grpSp>
      <p:grpSp>
        <p:nvGrpSpPr>
          <p:cNvPr id="179" name="Google Shape;179;p20"/>
          <p:cNvGrpSpPr/>
          <p:nvPr/>
        </p:nvGrpSpPr>
        <p:grpSpPr>
          <a:xfrm>
            <a:off x="5069522" y="2762920"/>
            <a:ext cx="3666498" cy="1087198"/>
            <a:chOff x="4679980" y="2633200"/>
            <a:chExt cx="4103982" cy="1216921"/>
          </a:xfrm>
        </p:grpSpPr>
        <p:sp>
          <p:nvSpPr>
            <p:cNvPr id="180" name="Google Shape;180;p20"/>
            <p:cNvSpPr/>
            <p:nvPr/>
          </p:nvSpPr>
          <p:spPr>
            <a:xfrm>
              <a:off x="4679980" y="3238250"/>
              <a:ext cx="535302" cy="536328"/>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sp>
          <p:nvSpPr>
            <p:cNvPr id="181" name="Google Shape;181;p20"/>
            <p:cNvSpPr/>
            <p:nvPr/>
          </p:nvSpPr>
          <p:spPr>
            <a:xfrm>
              <a:off x="6464320" y="3238250"/>
              <a:ext cx="535302" cy="536328"/>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sp>
          <p:nvSpPr>
            <p:cNvPr id="182" name="Google Shape;182;p20"/>
            <p:cNvSpPr/>
            <p:nvPr/>
          </p:nvSpPr>
          <p:spPr>
            <a:xfrm>
              <a:off x="8248660" y="3238250"/>
              <a:ext cx="535302" cy="536328"/>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cxnSp>
          <p:nvCxnSpPr>
            <p:cNvPr id="183" name="Google Shape;183;p20"/>
            <p:cNvCxnSpPr>
              <a:stCxn id="180" idx="6"/>
              <a:endCxn id="181" idx="2"/>
            </p:cNvCxnSpPr>
            <p:nvPr/>
          </p:nvCxnSpPr>
          <p:spPr>
            <a:xfrm>
              <a:off x="5215282" y="3506414"/>
              <a:ext cx="1248900" cy="0"/>
            </a:xfrm>
            <a:prstGeom prst="straightConnector1">
              <a:avLst/>
            </a:prstGeom>
            <a:noFill/>
            <a:ln cap="flat" cmpd="sng" w="8500">
              <a:solidFill>
                <a:srgbClr val="193364"/>
              </a:solidFill>
              <a:prstDash val="solid"/>
              <a:round/>
              <a:headEnd len="med" w="med" type="none"/>
              <a:tailEnd len="med" w="med" type="none"/>
            </a:ln>
          </p:spPr>
        </p:cxnSp>
        <p:cxnSp>
          <p:nvCxnSpPr>
            <p:cNvPr id="184" name="Google Shape;184;p20"/>
            <p:cNvCxnSpPr>
              <a:stCxn id="181" idx="6"/>
              <a:endCxn id="182" idx="2"/>
            </p:cNvCxnSpPr>
            <p:nvPr/>
          </p:nvCxnSpPr>
          <p:spPr>
            <a:xfrm>
              <a:off x="6999622" y="3506414"/>
              <a:ext cx="1248900" cy="0"/>
            </a:xfrm>
            <a:prstGeom prst="straightConnector1">
              <a:avLst/>
            </a:prstGeom>
            <a:noFill/>
            <a:ln cap="flat" cmpd="sng" w="8500">
              <a:solidFill>
                <a:srgbClr val="193364"/>
              </a:solidFill>
              <a:prstDash val="solid"/>
              <a:round/>
              <a:headEnd len="med" w="med" type="none"/>
              <a:tailEnd len="med" w="med" type="none"/>
            </a:ln>
          </p:spPr>
        </p:cxnSp>
        <p:sp>
          <p:nvSpPr>
            <p:cNvPr id="185" name="Google Shape;185;p20"/>
            <p:cNvSpPr/>
            <p:nvPr/>
          </p:nvSpPr>
          <p:spPr>
            <a:xfrm>
              <a:off x="5122992" y="2978752"/>
              <a:ext cx="3191214" cy="353501"/>
            </a:xfrm>
            <a:custGeom>
              <a:rect b="b" l="l" r="r" t="t"/>
              <a:pathLst>
                <a:path extrusionOk="0" h="13298" w="129273">
                  <a:moveTo>
                    <a:pt x="0" y="12144"/>
                  </a:moveTo>
                  <a:cubicBezTo>
                    <a:pt x="10629" y="10124"/>
                    <a:pt x="42226" y="-168"/>
                    <a:pt x="63771" y="24"/>
                  </a:cubicBezTo>
                  <a:cubicBezTo>
                    <a:pt x="85317" y="216"/>
                    <a:pt x="118356" y="11086"/>
                    <a:pt x="129273" y="13298"/>
                  </a:cubicBezTo>
                </a:path>
              </a:pathLst>
            </a:custGeom>
            <a:noFill/>
            <a:ln cap="flat" cmpd="sng" w="8500">
              <a:solidFill>
                <a:srgbClr val="193364"/>
              </a:solidFill>
              <a:prstDash val="solid"/>
              <a:round/>
              <a:headEnd len="med" w="med" type="none"/>
              <a:tailEnd len="med" w="med" type="none"/>
            </a:ln>
          </p:spPr>
        </p:sp>
        <p:pic>
          <p:nvPicPr>
            <p:cNvPr id="186" name="Google Shape;186;p20" title="{&quot;red&quot;:89,&quot;green&quot;:89,&quot;blue&quot;:89,&quot;origURL&quot;:&quot;https://www.codecogs.com/eqnedit.php?latex=T_1#0&quot;,&quot;size&quot;:18,&quot;width&quot;:193.70078740157481,&quot;height&quot;:158.33858267716536}"/>
            <p:cNvPicPr preferRelativeResize="0"/>
            <p:nvPr/>
          </p:nvPicPr>
          <p:blipFill>
            <a:blip r:embed="rId5">
              <a:alphaModFix/>
            </a:blip>
            <a:stretch>
              <a:fillRect/>
            </a:stretch>
          </p:blipFill>
          <p:spPr>
            <a:xfrm>
              <a:off x="4842000" y="3402000"/>
              <a:ext cx="216000" cy="216000"/>
            </a:xfrm>
            <a:prstGeom prst="rect">
              <a:avLst/>
            </a:prstGeom>
            <a:noFill/>
            <a:ln>
              <a:noFill/>
            </a:ln>
          </p:spPr>
        </p:pic>
        <p:pic>
          <p:nvPicPr>
            <p:cNvPr id="187" name="Google Shape;187;p20" title="{&quot;red&quot;:89,&quot;green&quot;:89,&quot;blue&quot;:89,&quot;origURL&quot;:&quot;https://www.codecogs.com/eqnedit.php?latex=T_2#0&quot;,&quot;size&quot;:18,&quot;width&quot;:193.70078740157481,&quot;height&quot;:158.33858267716536}"/>
            <p:cNvPicPr preferRelativeResize="0"/>
            <p:nvPr/>
          </p:nvPicPr>
          <p:blipFill>
            <a:blip r:embed="rId6">
              <a:alphaModFix/>
            </a:blip>
            <a:stretch>
              <a:fillRect/>
            </a:stretch>
          </p:blipFill>
          <p:spPr>
            <a:xfrm>
              <a:off x="6637700" y="3402838"/>
              <a:ext cx="224599" cy="214313"/>
            </a:xfrm>
            <a:prstGeom prst="rect">
              <a:avLst/>
            </a:prstGeom>
            <a:noFill/>
            <a:ln>
              <a:noFill/>
            </a:ln>
          </p:spPr>
        </p:pic>
        <p:pic>
          <p:nvPicPr>
            <p:cNvPr id="188" name="Google Shape;188;p20" title="{&quot;red&quot;:89,&quot;green&quot;:89,&quot;blue&quot;:89,&quot;origURL&quot;:&quot;https://www.codecogs.com/eqnedit.php?latex=T_3#0&quot;,&quot;size&quot;:18,&quot;width&quot;:193.70078740157481,&quot;height&quot;:158.33858267716536}"/>
            <p:cNvPicPr preferRelativeResize="0"/>
            <p:nvPr/>
          </p:nvPicPr>
          <p:blipFill>
            <a:blip r:embed="rId7">
              <a:alphaModFix/>
            </a:blip>
            <a:stretch>
              <a:fillRect/>
            </a:stretch>
          </p:blipFill>
          <p:spPr>
            <a:xfrm>
              <a:off x="8442000" y="3401125"/>
              <a:ext cx="226314" cy="217742"/>
            </a:xfrm>
            <a:prstGeom prst="rect">
              <a:avLst/>
            </a:prstGeom>
            <a:noFill/>
            <a:ln>
              <a:noFill/>
            </a:ln>
          </p:spPr>
        </p:pic>
        <p:pic>
          <p:nvPicPr>
            <p:cNvPr id="189" name="Google Shape;189;p20" title="{&quot;red&quot;:89,&quot;green&quot;:89,&quot;blue&quot;:89,&quot;origURL&quot;:&quot;https://www.codecogs.com/eqnedit.php?latex=%5Chat%7BT%7D_%7B12%7D#0&quot;,&quot;size&quot;:18,&quot;width&quot;:193.70078740157481,&quot;height&quot;:158.33858267716536}"/>
            <p:cNvPicPr preferRelativeResize="0"/>
            <p:nvPr/>
          </p:nvPicPr>
          <p:blipFill>
            <a:blip r:embed="rId8">
              <a:alphaModFix/>
            </a:blip>
            <a:stretch>
              <a:fillRect/>
            </a:stretch>
          </p:blipFill>
          <p:spPr>
            <a:xfrm>
              <a:off x="5690113" y="3565513"/>
              <a:ext cx="315468" cy="282893"/>
            </a:xfrm>
            <a:prstGeom prst="rect">
              <a:avLst/>
            </a:prstGeom>
            <a:noFill/>
            <a:ln>
              <a:noFill/>
            </a:ln>
          </p:spPr>
        </p:pic>
        <p:pic>
          <p:nvPicPr>
            <p:cNvPr id="190" name="Google Shape;190;p20" title="{&quot;red&quot;:89,&quot;green&quot;:89,&quot;blue&quot;:89,&quot;origURL&quot;:&quot;https://www.codecogs.com/eqnedit.php?latex=%5Chat%7BT%7D_%7B23%7D#0&quot;,&quot;size&quot;:18,&quot;width&quot;:193.70078740157481,&quot;height&quot;:158.33858267716536}"/>
            <p:cNvPicPr preferRelativeResize="0"/>
            <p:nvPr/>
          </p:nvPicPr>
          <p:blipFill>
            <a:blip r:embed="rId9">
              <a:alphaModFix/>
            </a:blip>
            <a:stretch>
              <a:fillRect/>
            </a:stretch>
          </p:blipFill>
          <p:spPr>
            <a:xfrm>
              <a:off x="7493550" y="3563800"/>
              <a:ext cx="317182" cy="286321"/>
            </a:xfrm>
            <a:prstGeom prst="rect">
              <a:avLst/>
            </a:prstGeom>
            <a:noFill/>
            <a:ln>
              <a:noFill/>
            </a:ln>
          </p:spPr>
        </p:pic>
        <p:pic>
          <p:nvPicPr>
            <p:cNvPr id="191" name="Google Shape;191;p20" title="{&quot;red&quot;:89,&quot;green&quot;:89,&quot;blue&quot;:89,&quot;origURL&quot;:&quot;https://www.codecogs.com/eqnedit.php?latex=%5Chat%7BT%7D_%7B13%7D#0&quot;,&quot;size&quot;:18,&quot;width&quot;:193.70078740157481,&quot;height&quot;:158.33858267716536}"/>
            <p:cNvPicPr preferRelativeResize="0"/>
            <p:nvPr/>
          </p:nvPicPr>
          <p:blipFill>
            <a:blip r:embed="rId10">
              <a:alphaModFix/>
            </a:blip>
            <a:stretch>
              <a:fillRect/>
            </a:stretch>
          </p:blipFill>
          <p:spPr>
            <a:xfrm>
              <a:off x="6591400" y="2633200"/>
              <a:ext cx="317182" cy="286322"/>
            </a:xfrm>
            <a:prstGeom prst="rect">
              <a:avLst/>
            </a:prstGeom>
            <a:noFill/>
            <a:ln>
              <a:noFill/>
            </a:ln>
          </p:spPr>
        </p:pic>
      </p:grpSp>
      <p:pic>
        <p:nvPicPr>
          <p:cNvPr id="192" name="Google Shape;192;p20" title="{&quot;red&quot;:89,&quot;green&quot;:89,&quot;blue&quot;:89,&quot;origURL&quot;:&quot;https://www.codecogs.com/eqnedit.php?latex=%5Chat%7BT%7D_%7B13%7D#0&quot;,&quot;size&quot;:18,&quot;width&quot;:193.70078740157481,&quot;height&quot;:158.33858267716536}"/>
          <p:cNvPicPr preferRelativeResize="0"/>
          <p:nvPr/>
        </p:nvPicPr>
        <p:blipFill>
          <a:blip r:embed="rId10">
            <a:alphaModFix/>
          </a:blip>
          <a:stretch>
            <a:fillRect/>
          </a:stretch>
        </p:blipFill>
        <p:spPr>
          <a:xfrm>
            <a:off x="2235713" y="2679474"/>
            <a:ext cx="172800" cy="157904"/>
          </a:xfrm>
          <a:prstGeom prst="rect">
            <a:avLst/>
          </a:prstGeom>
          <a:noFill/>
          <a:ln>
            <a:noFill/>
          </a:ln>
        </p:spPr>
      </p:pic>
      <p:pic>
        <p:nvPicPr>
          <p:cNvPr id="193" name="Google Shape;193;p20" title="{&quot;red&quot;:89,&quot;green&quot;:89,&quot;blue&quot;:89,&quot;origURL&quot;:&quot;https://www.codecogs.com/eqnedit.php?latex=%5Chat%7BT%7D_%7B12%7D#0&quot;,&quot;size&quot;:18,&quot;width&quot;:193.70078740157481,&quot;height&quot;:158.33858267716536}"/>
          <p:cNvPicPr preferRelativeResize="0"/>
          <p:nvPr/>
        </p:nvPicPr>
        <p:blipFill>
          <a:blip r:embed="rId8">
            <a:alphaModFix/>
          </a:blip>
          <a:stretch>
            <a:fillRect/>
          </a:stretch>
        </p:blipFill>
        <p:spPr>
          <a:xfrm>
            <a:off x="1573400" y="3246200"/>
            <a:ext cx="172800" cy="154924"/>
          </a:xfrm>
          <a:prstGeom prst="rect">
            <a:avLst/>
          </a:prstGeom>
          <a:noFill/>
          <a:ln>
            <a:noFill/>
          </a:ln>
        </p:spPr>
      </p:pic>
      <p:pic>
        <p:nvPicPr>
          <p:cNvPr id="194" name="Google Shape;194;p20" title="{&quot;red&quot;:89,&quot;green&quot;:89,&quot;blue&quot;:89,&quot;origURL&quot;:&quot;https://www.codecogs.com/eqnedit.php?latex=%5Chat%7BT%7D_%7B23%7D#0&quot;,&quot;size&quot;:18,&quot;width&quot;:193.70078740157481,&quot;height&quot;:158.33858267716536}"/>
          <p:cNvPicPr preferRelativeResize="0"/>
          <p:nvPr/>
        </p:nvPicPr>
        <p:blipFill>
          <a:blip r:embed="rId9">
            <a:alphaModFix/>
          </a:blip>
          <a:stretch>
            <a:fillRect/>
          </a:stretch>
        </p:blipFill>
        <p:spPr>
          <a:xfrm>
            <a:off x="3093538" y="3244712"/>
            <a:ext cx="172800" cy="157904"/>
          </a:xfrm>
          <a:prstGeom prst="rect">
            <a:avLst/>
          </a:prstGeom>
          <a:noFill/>
          <a:ln>
            <a:noFill/>
          </a:ln>
        </p:spPr>
      </p:pic>
      <p:pic>
        <p:nvPicPr>
          <p:cNvPr id="195" name="Google Shape;195;p20" title="{&quot;red&quot;:89,&quot;green&quot;:89,&quot;blue&quot;:89,&quot;origURL&quot;:&quot;https://www.codecogs.com/eqnedit.php?latex=T_1#0&quot;,&quot;size&quot;:18,&quot;width&quot;:193.70078740157481,&quot;height&quot;:158.33858267716536}"/>
          <p:cNvPicPr preferRelativeResize="0"/>
          <p:nvPr/>
        </p:nvPicPr>
        <p:blipFill>
          <a:blip r:embed="rId5">
            <a:alphaModFix/>
          </a:blip>
          <a:stretch>
            <a:fillRect/>
          </a:stretch>
        </p:blipFill>
        <p:spPr>
          <a:xfrm>
            <a:off x="778575" y="3823063"/>
            <a:ext cx="144000" cy="144000"/>
          </a:xfrm>
          <a:prstGeom prst="rect">
            <a:avLst/>
          </a:prstGeom>
          <a:noFill/>
          <a:ln>
            <a:noFill/>
          </a:ln>
        </p:spPr>
      </p:pic>
      <p:pic>
        <p:nvPicPr>
          <p:cNvPr id="196" name="Google Shape;196;p20" title="{&quot;red&quot;:89,&quot;green&quot;:89,&quot;blue&quot;:89,&quot;origURL&quot;:&quot;https://www.codecogs.com/eqnedit.php?latex=T_2#0&quot;,&quot;size&quot;:18,&quot;width&quot;:193.70078740157481,&quot;height&quot;:158.33858267716536}"/>
          <p:cNvPicPr preferRelativeResize="0"/>
          <p:nvPr/>
        </p:nvPicPr>
        <p:blipFill>
          <a:blip r:embed="rId6">
            <a:alphaModFix/>
          </a:blip>
          <a:stretch>
            <a:fillRect/>
          </a:stretch>
        </p:blipFill>
        <p:spPr>
          <a:xfrm>
            <a:off x="2318700" y="3822375"/>
            <a:ext cx="151200" cy="145385"/>
          </a:xfrm>
          <a:prstGeom prst="rect">
            <a:avLst/>
          </a:prstGeom>
          <a:noFill/>
          <a:ln>
            <a:noFill/>
          </a:ln>
        </p:spPr>
      </p:pic>
      <p:pic>
        <p:nvPicPr>
          <p:cNvPr id="197" name="Google Shape;197;p20" title="{&quot;red&quot;:89,&quot;green&quot;:89,&quot;blue&quot;:89,&quot;origURL&quot;:&quot;https://www.codecogs.com/eqnedit.php?latex=T_3#0&quot;,&quot;size&quot;:18,&quot;width&quot;:193.70078740157481,&quot;height&quot;:158.33858267716536}"/>
          <p:cNvPicPr preferRelativeResize="0"/>
          <p:nvPr/>
        </p:nvPicPr>
        <p:blipFill>
          <a:blip r:embed="rId7">
            <a:alphaModFix/>
          </a:blip>
          <a:stretch>
            <a:fillRect/>
          </a:stretch>
        </p:blipFill>
        <p:spPr>
          <a:xfrm>
            <a:off x="3866013" y="3822038"/>
            <a:ext cx="154800" cy="146038"/>
          </a:xfrm>
          <a:prstGeom prst="rect">
            <a:avLst/>
          </a:prstGeom>
          <a:noFill/>
          <a:ln>
            <a:noFill/>
          </a:ln>
        </p:spPr>
      </p:pic>
      <p:sp>
        <p:nvSpPr>
          <p:cNvPr id="198" name="Google Shape;198;p20"/>
          <p:cNvSpPr txBox="1"/>
          <p:nvPr/>
        </p:nvSpPr>
        <p:spPr>
          <a:xfrm>
            <a:off x="3966775" y="4645975"/>
            <a:ext cx="36006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*Courtesy of Maani Ghaffari, Ryan Eustice, Frank Dellaert, Michael Kaess, Cyrill Stachniss, Pranav Ganti, Luca Carlone</a:t>
            </a:r>
            <a:endParaRPr sz="8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1"/>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457200" lvl="0" marL="3657600" rtl="0" algn="just">
              <a:spcBef>
                <a:spcPts val="0"/>
              </a:spcBef>
              <a:spcAft>
                <a:spcPts val="0"/>
              </a:spcAft>
              <a:buNone/>
            </a:pPr>
            <a:r>
              <a:rPr b="1" lang="es" sz="1200">
                <a:solidFill>
                  <a:srgbClr val="193364"/>
                </a:solidFill>
              </a:rPr>
              <a:t>Pose/factor graph optimization: </a:t>
            </a:r>
            <a:endParaRPr b="1" sz="1200">
              <a:solidFill>
                <a:srgbClr val="193364"/>
              </a:solidFill>
            </a:endParaRPr>
          </a:p>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204" name="Google Shape;204;p21"/>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Factor Graph</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grpSp>
        <p:nvGrpSpPr>
          <p:cNvPr id="205" name="Google Shape;205;p21"/>
          <p:cNvGrpSpPr/>
          <p:nvPr/>
        </p:nvGrpSpPr>
        <p:grpSpPr>
          <a:xfrm>
            <a:off x="1095318" y="4449088"/>
            <a:ext cx="712880" cy="694332"/>
            <a:chOff x="1095318" y="4449088"/>
            <a:chExt cx="712880" cy="694332"/>
          </a:xfrm>
        </p:grpSpPr>
        <p:sp>
          <p:nvSpPr>
            <p:cNvPr id="206" name="Google Shape;206;p21"/>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207" name="Google Shape;207;p21"/>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208" name="Google Shape;208;p21"/>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209" name="Google Shape;209;p21"/>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grpSp>
        <p:nvGrpSpPr>
          <p:cNvPr id="210" name="Google Shape;210;p21"/>
          <p:cNvGrpSpPr/>
          <p:nvPr/>
        </p:nvGrpSpPr>
        <p:grpSpPr>
          <a:xfrm>
            <a:off x="510072" y="2993761"/>
            <a:ext cx="3666406" cy="1087198"/>
            <a:chOff x="4679980" y="2633200"/>
            <a:chExt cx="4103880" cy="1216921"/>
          </a:xfrm>
        </p:grpSpPr>
        <p:sp>
          <p:nvSpPr>
            <p:cNvPr id="211" name="Google Shape;211;p21"/>
            <p:cNvSpPr/>
            <p:nvPr/>
          </p:nvSpPr>
          <p:spPr>
            <a:xfrm>
              <a:off x="4679980" y="3238250"/>
              <a:ext cx="535200" cy="536400"/>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sp>
          <p:nvSpPr>
            <p:cNvPr id="212" name="Google Shape;212;p21"/>
            <p:cNvSpPr/>
            <p:nvPr/>
          </p:nvSpPr>
          <p:spPr>
            <a:xfrm>
              <a:off x="6464320" y="3238250"/>
              <a:ext cx="535200" cy="536400"/>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sp>
          <p:nvSpPr>
            <p:cNvPr id="213" name="Google Shape;213;p21"/>
            <p:cNvSpPr/>
            <p:nvPr/>
          </p:nvSpPr>
          <p:spPr>
            <a:xfrm>
              <a:off x="8248660" y="3238250"/>
              <a:ext cx="535200" cy="536400"/>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cxnSp>
          <p:nvCxnSpPr>
            <p:cNvPr id="214" name="Google Shape;214;p21"/>
            <p:cNvCxnSpPr>
              <a:stCxn id="211" idx="6"/>
              <a:endCxn id="212" idx="2"/>
            </p:cNvCxnSpPr>
            <p:nvPr/>
          </p:nvCxnSpPr>
          <p:spPr>
            <a:xfrm>
              <a:off x="5215180" y="3506450"/>
              <a:ext cx="1249200" cy="0"/>
            </a:xfrm>
            <a:prstGeom prst="straightConnector1">
              <a:avLst/>
            </a:prstGeom>
            <a:noFill/>
            <a:ln cap="flat" cmpd="sng" w="8500">
              <a:solidFill>
                <a:srgbClr val="193364"/>
              </a:solidFill>
              <a:prstDash val="solid"/>
              <a:round/>
              <a:headEnd len="med" w="med" type="none"/>
              <a:tailEnd len="med" w="med" type="none"/>
            </a:ln>
          </p:spPr>
        </p:cxnSp>
        <p:cxnSp>
          <p:nvCxnSpPr>
            <p:cNvPr id="215" name="Google Shape;215;p21"/>
            <p:cNvCxnSpPr>
              <a:stCxn id="212" idx="6"/>
              <a:endCxn id="213" idx="2"/>
            </p:cNvCxnSpPr>
            <p:nvPr/>
          </p:nvCxnSpPr>
          <p:spPr>
            <a:xfrm>
              <a:off x="6999520" y="3506450"/>
              <a:ext cx="1249200" cy="0"/>
            </a:xfrm>
            <a:prstGeom prst="straightConnector1">
              <a:avLst/>
            </a:prstGeom>
            <a:noFill/>
            <a:ln cap="flat" cmpd="sng" w="8500">
              <a:solidFill>
                <a:srgbClr val="193364"/>
              </a:solidFill>
              <a:prstDash val="solid"/>
              <a:round/>
              <a:headEnd len="med" w="med" type="none"/>
              <a:tailEnd len="med" w="med" type="none"/>
            </a:ln>
          </p:spPr>
        </p:cxnSp>
        <p:sp>
          <p:nvSpPr>
            <p:cNvPr id="216" name="Google Shape;216;p21"/>
            <p:cNvSpPr/>
            <p:nvPr/>
          </p:nvSpPr>
          <p:spPr>
            <a:xfrm>
              <a:off x="5122992" y="2978752"/>
              <a:ext cx="3191104" cy="353494"/>
            </a:xfrm>
            <a:custGeom>
              <a:rect b="b" l="l" r="r" t="t"/>
              <a:pathLst>
                <a:path extrusionOk="0" h="13298" w="129273">
                  <a:moveTo>
                    <a:pt x="0" y="12144"/>
                  </a:moveTo>
                  <a:cubicBezTo>
                    <a:pt x="10629" y="10124"/>
                    <a:pt x="42226" y="-168"/>
                    <a:pt x="63771" y="24"/>
                  </a:cubicBezTo>
                  <a:cubicBezTo>
                    <a:pt x="85317" y="216"/>
                    <a:pt x="118356" y="11086"/>
                    <a:pt x="129273" y="13298"/>
                  </a:cubicBezTo>
                </a:path>
              </a:pathLst>
            </a:custGeom>
            <a:noFill/>
            <a:ln cap="flat" cmpd="sng" w="8500">
              <a:solidFill>
                <a:srgbClr val="193364"/>
              </a:solidFill>
              <a:prstDash val="solid"/>
              <a:round/>
              <a:headEnd len="med" w="med" type="none"/>
              <a:tailEnd len="med" w="med" type="none"/>
            </a:ln>
          </p:spPr>
        </p:sp>
        <p:pic>
          <p:nvPicPr>
            <p:cNvPr id="217" name="Google Shape;217;p21" title="{&quot;red&quot;:89,&quot;green&quot;:89,&quot;blue&quot;:89,&quot;origURL&quot;:&quot;https://www.codecogs.com/eqnedit.php?latex=T_1#0&quot;,&quot;size&quot;:18,&quot;width&quot;:193.70078740157481,&quot;height&quot;:158.33858267716536}"/>
            <p:cNvPicPr preferRelativeResize="0"/>
            <p:nvPr/>
          </p:nvPicPr>
          <p:blipFill>
            <a:blip r:embed="rId4">
              <a:alphaModFix/>
            </a:blip>
            <a:stretch>
              <a:fillRect/>
            </a:stretch>
          </p:blipFill>
          <p:spPr>
            <a:xfrm>
              <a:off x="4842000" y="3402000"/>
              <a:ext cx="216000" cy="216000"/>
            </a:xfrm>
            <a:prstGeom prst="rect">
              <a:avLst/>
            </a:prstGeom>
            <a:noFill/>
            <a:ln>
              <a:noFill/>
            </a:ln>
          </p:spPr>
        </p:pic>
        <p:pic>
          <p:nvPicPr>
            <p:cNvPr id="218" name="Google Shape;218;p21" title="{&quot;red&quot;:89,&quot;green&quot;:89,&quot;blue&quot;:89,&quot;origURL&quot;:&quot;https://www.codecogs.com/eqnedit.php?latex=T_2#0&quot;,&quot;size&quot;:18,&quot;width&quot;:193.70078740157481,&quot;height&quot;:158.33858267716536}"/>
            <p:cNvPicPr preferRelativeResize="0"/>
            <p:nvPr/>
          </p:nvPicPr>
          <p:blipFill>
            <a:blip r:embed="rId5">
              <a:alphaModFix/>
            </a:blip>
            <a:stretch>
              <a:fillRect/>
            </a:stretch>
          </p:blipFill>
          <p:spPr>
            <a:xfrm>
              <a:off x="6637700" y="3402838"/>
              <a:ext cx="224599" cy="214313"/>
            </a:xfrm>
            <a:prstGeom prst="rect">
              <a:avLst/>
            </a:prstGeom>
            <a:noFill/>
            <a:ln>
              <a:noFill/>
            </a:ln>
          </p:spPr>
        </p:pic>
        <p:pic>
          <p:nvPicPr>
            <p:cNvPr id="219" name="Google Shape;219;p21" title="{&quot;red&quot;:89,&quot;green&quot;:89,&quot;blue&quot;:89,&quot;origURL&quot;:&quot;https://www.codecogs.com/eqnedit.php?latex=T_3#0&quot;,&quot;size&quot;:18,&quot;width&quot;:193.70078740157481,&quot;height&quot;:158.33858267716536}"/>
            <p:cNvPicPr preferRelativeResize="0"/>
            <p:nvPr/>
          </p:nvPicPr>
          <p:blipFill>
            <a:blip r:embed="rId6">
              <a:alphaModFix/>
            </a:blip>
            <a:stretch>
              <a:fillRect/>
            </a:stretch>
          </p:blipFill>
          <p:spPr>
            <a:xfrm>
              <a:off x="8442000" y="3401125"/>
              <a:ext cx="226314" cy="217742"/>
            </a:xfrm>
            <a:prstGeom prst="rect">
              <a:avLst/>
            </a:prstGeom>
            <a:noFill/>
            <a:ln>
              <a:noFill/>
            </a:ln>
          </p:spPr>
        </p:pic>
        <p:pic>
          <p:nvPicPr>
            <p:cNvPr id="220" name="Google Shape;220;p21" title="{&quot;red&quot;:89,&quot;green&quot;:89,&quot;blue&quot;:89,&quot;origURL&quot;:&quot;https://www.codecogs.com/eqnedit.php?latex=%5Chat%7BT%7D_%7B12%7D#0&quot;,&quot;size&quot;:18,&quot;width&quot;:193.70078740157481,&quot;height&quot;:158.33858267716536}"/>
            <p:cNvPicPr preferRelativeResize="0"/>
            <p:nvPr/>
          </p:nvPicPr>
          <p:blipFill>
            <a:blip r:embed="rId7">
              <a:alphaModFix/>
            </a:blip>
            <a:stretch>
              <a:fillRect/>
            </a:stretch>
          </p:blipFill>
          <p:spPr>
            <a:xfrm>
              <a:off x="5690113" y="3565513"/>
              <a:ext cx="315468" cy="282893"/>
            </a:xfrm>
            <a:prstGeom prst="rect">
              <a:avLst/>
            </a:prstGeom>
            <a:noFill/>
            <a:ln>
              <a:noFill/>
            </a:ln>
          </p:spPr>
        </p:pic>
        <p:pic>
          <p:nvPicPr>
            <p:cNvPr id="221" name="Google Shape;221;p21" title="{&quot;red&quot;:89,&quot;green&quot;:89,&quot;blue&quot;:89,&quot;origURL&quot;:&quot;https://www.codecogs.com/eqnedit.php?latex=%5Chat%7BT%7D_%7B23%7D#0&quot;,&quot;size&quot;:18,&quot;width&quot;:193.70078740157481,&quot;height&quot;:158.33858267716536}"/>
            <p:cNvPicPr preferRelativeResize="0"/>
            <p:nvPr/>
          </p:nvPicPr>
          <p:blipFill>
            <a:blip r:embed="rId8">
              <a:alphaModFix/>
            </a:blip>
            <a:stretch>
              <a:fillRect/>
            </a:stretch>
          </p:blipFill>
          <p:spPr>
            <a:xfrm>
              <a:off x="7493550" y="3563800"/>
              <a:ext cx="317182" cy="286321"/>
            </a:xfrm>
            <a:prstGeom prst="rect">
              <a:avLst/>
            </a:prstGeom>
            <a:noFill/>
            <a:ln>
              <a:noFill/>
            </a:ln>
          </p:spPr>
        </p:pic>
        <p:pic>
          <p:nvPicPr>
            <p:cNvPr id="222" name="Google Shape;222;p21" title="{&quot;red&quot;:89,&quot;green&quot;:89,&quot;blue&quot;:89,&quot;origURL&quot;:&quot;https://www.codecogs.com/eqnedit.php?latex=%5Chat%7BT%7D_%7B13%7D#0&quot;,&quot;size&quot;:18,&quot;width&quot;:193.70078740157481,&quot;height&quot;:158.33858267716536}"/>
            <p:cNvPicPr preferRelativeResize="0"/>
            <p:nvPr/>
          </p:nvPicPr>
          <p:blipFill>
            <a:blip r:embed="rId9">
              <a:alphaModFix/>
            </a:blip>
            <a:stretch>
              <a:fillRect/>
            </a:stretch>
          </p:blipFill>
          <p:spPr>
            <a:xfrm>
              <a:off x="6591400" y="2633200"/>
              <a:ext cx="317182" cy="286322"/>
            </a:xfrm>
            <a:prstGeom prst="rect">
              <a:avLst/>
            </a:prstGeom>
            <a:noFill/>
            <a:ln>
              <a:noFill/>
            </a:ln>
          </p:spPr>
        </p:pic>
      </p:grpSp>
      <p:grpSp>
        <p:nvGrpSpPr>
          <p:cNvPr id="223" name="Google Shape;223;p21"/>
          <p:cNvGrpSpPr/>
          <p:nvPr/>
        </p:nvGrpSpPr>
        <p:grpSpPr>
          <a:xfrm>
            <a:off x="359994" y="1410275"/>
            <a:ext cx="3966549" cy="1225900"/>
            <a:chOff x="436594" y="2742175"/>
            <a:chExt cx="3966549" cy="1225900"/>
          </a:xfrm>
        </p:grpSpPr>
        <p:pic>
          <p:nvPicPr>
            <p:cNvPr id="224" name="Google Shape;224;p21"/>
            <p:cNvPicPr preferRelativeResize="0"/>
            <p:nvPr/>
          </p:nvPicPr>
          <p:blipFill rotWithShape="1">
            <a:blip r:embed="rId10">
              <a:alphaModFix/>
            </a:blip>
            <a:srcRect b="8800" l="10210" r="6171" t="9038"/>
            <a:stretch/>
          </p:blipFill>
          <p:spPr>
            <a:xfrm>
              <a:off x="436594" y="2979927"/>
              <a:ext cx="926262" cy="910111"/>
            </a:xfrm>
            <a:prstGeom prst="rect">
              <a:avLst/>
            </a:prstGeom>
            <a:noFill/>
            <a:ln>
              <a:noFill/>
            </a:ln>
          </p:spPr>
        </p:pic>
        <p:pic>
          <p:nvPicPr>
            <p:cNvPr id="225" name="Google Shape;225;p21"/>
            <p:cNvPicPr preferRelativeResize="0"/>
            <p:nvPr/>
          </p:nvPicPr>
          <p:blipFill rotWithShape="1">
            <a:blip r:embed="rId10">
              <a:alphaModFix/>
            </a:blip>
            <a:srcRect b="8800" l="10210" r="6171" t="9038"/>
            <a:stretch/>
          </p:blipFill>
          <p:spPr>
            <a:xfrm>
              <a:off x="1956738" y="2979927"/>
              <a:ext cx="926262" cy="910111"/>
            </a:xfrm>
            <a:prstGeom prst="rect">
              <a:avLst/>
            </a:prstGeom>
            <a:noFill/>
            <a:ln>
              <a:noFill/>
            </a:ln>
          </p:spPr>
        </p:pic>
        <p:pic>
          <p:nvPicPr>
            <p:cNvPr id="226" name="Google Shape;226;p21"/>
            <p:cNvPicPr preferRelativeResize="0"/>
            <p:nvPr/>
          </p:nvPicPr>
          <p:blipFill rotWithShape="1">
            <a:blip r:embed="rId10">
              <a:alphaModFix/>
            </a:blip>
            <a:srcRect b="8800" l="10210" r="6171" t="9038"/>
            <a:stretch/>
          </p:blipFill>
          <p:spPr>
            <a:xfrm>
              <a:off x="3476881" y="2979927"/>
              <a:ext cx="926262" cy="910111"/>
            </a:xfrm>
            <a:prstGeom prst="rect">
              <a:avLst/>
            </a:prstGeom>
            <a:noFill/>
            <a:ln>
              <a:noFill/>
            </a:ln>
          </p:spPr>
        </p:pic>
        <p:cxnSp>
          <p:nvCxnSpPr>
            <p:cNvPr id="227" name="Google Shape;227;p21"/>
            <p:cNvCxnSpPr>
              <a:stCxn id="224" idx="3"/>
              <a:endCxn id="225" idx="1"/>
            </p:cNvCxnSpPr>
            <p:nvPr/>
          </p:nvCxnSpPr>
          <p:spPr>
            <a:xfrm>
              <a:off x="1362856" y="3434982"/>
              <a:ext cx="594000" cy="0"/>
            </a:xfrm>
            <a:prstGeom prst="straightConnector1">
              <a:avLst/>
            </a:prstGeom>
            <a:noFill/>
            <a:ln cap="flat" cmpd="sng" w="19475">
              <a:solidFill>
                <a:schemeClr val="dk2"/>
              </a:solidFill>
              <a:prstDash val="solid"/>
              <a:round/>
              <a:headEnd len="med" w="med" type="none"/>
              <a:tailEnd len="med" w="med" type="triangle"/>
            </a:ln>
          </p:spPr>
        </p:cxnSp>
        <p:cxnSp>
          <p:nvCxnSpPr>
            <p:cNvPr id="228" name="Google Shape;228;p21"/>
            <p:cNvCxnSpPr>
              <a:stCxn id="225" idx="3"/>
              <a:endCxn id="226" idx="1"/>
            </p:cNvCxnSpPr>
            <p:nvPr/>
          </p:nvCxnSpPr>
          <p:spPr>
            <a:xfrm>
              <a:off x="2882999" y="3434982"/>
              <a:ext cx="594000" cy="0"/>
            </a:xfrm>
            <a:prstGeom prst="straightConnector1">
              <a:avLst/>
            </a:prstGeom>
            <a:noFill/>
            <a:ln cap="flat" cmpd="sng" w="19475">
              <a:solidFill>
                <a:schemeClr val="dk2"/>
              </a:solidFill>
              <a:prstDash val="solid"/>
              <a:round/>
              <a:headEnd len="med" w="med" type="none"/>
              <a:tailEnd len="med" w="med" type="triangle"/>
            </a:ln>
          </p:spPr>
        </p:cxnSp>
        <p:cxnSp>
          <p:nvCxnSpPr>
            <p:cNvPr id="229" name="Google Shape;229;p21"/>
            <p:cNvCxnSpPr/>
            <p:nvPr/>
          </p:nvCxnSpPr>
          <p:spPr>
            <a:xfrm flipH="1" rot="10800000">
              <a:off x="969721" y="2892346"/>
              <a:ext cx="2870400" cy="6000"/>
            </a:xfrm>
            <a:prstGeom prst="straightConnector1">
              <a:avLst/>
            </a:prstGeom>
            <a:noFill/>
            <a:ln cap="flat" cmpd="sng" w="19475">
              <a:solidFill>
                <a:schemeClr val="dk2"/>
              </a:solidFill>
              <a:prstDash val="solid"/>
              <a:round/>
              <a:headEnd len="med" w="med" type="none"/>
              <a:tailEnd len="med" w="med" type="triangle"/>
            </a:ln>
          </p:spPr>
        </p:cxnSp>
        <p:pic>
          <p:nvPicPr>
            <p:cNvPr id="230" name="Google Shape;230;p21" title="{&quot;red&quot;:89,&quot;green&quot;:89,&quot;blue&quot;:89,&quot;origURL&quot;:&quot;https://www.codecogs.com/eqnedit.php?latex=T_1#0&quot;,&quot;size&quot;:18,&quot;width&quot;:193.70078740157481,&quot;height&quot;:158.33858267716536}"/>
            <p:cNvPicPr preferRelativeResize="0"/>
            <p:nvPr/>
          </p:nvPicPr>
          <p:blipFill>
            <a:blip r:embed="rId4">
              <a:alphaModFix/>
            </a:blip>
            <a:stretch>
              <a:fillRect/>
            </a:stretch>
          </p:blipFill>
          <p:spPr>
            <a:xfrm>
              <a:off x="778575" y="3823063"/>
              <a:ext cx="144000" cy="144000"/>
            </a:xfrm>
            <a:prstGeom prst="rect">
              <a:avLst/>
            </a:prstGeom>
            <a:noFill/>
            <a:ln>
              <a:noFill/>
            </a:ln>
          </p:spPr>
        </p:pic>
        <p:pic>
          <p:nvPicPr>
            <p:cNvPr id="231" name="Google Shape;231;p21" title="{&quot;red&quot;:89,&quot;green&quot;:89,&quot;blue&quot;:89,&quot;origURL&quot;:&quot;https://www.codecogs.com/eqnedit.php?latex=T_2#0&quot;,&quot;size&quot;:18,&quot;width&quot;:193.70078740157481,&quot;height&quot;:158.33858267716536}"/>
            <p:cNvPicPr preferRelativeResize="0"/>
            <p:nvPr/>
          </p:nvPicPr>
          <p:blipFill>
            <a:blip r:embed="rId5">
              <a:alphaModFix/>
            </a:blip>
            <a:stretch>
              <a:fillRect/>
            </a:stretch>
          </p:blipFill>
          <p:spPr>
            <a:xfrm>
              <a:off x="2318700" y="3822375"/>
              <a:ext cx="151200" cy="145385"/>
            </a:xfrm>
            <a:prstGeom prst="rect">
              <a:avLst/>
            </a:prstGeom>
            <a:noFill/>
            <a:ln>
              <a:noFill/>
            </a:ln>
          </p:spPr>
        </p:pic>
        <p:pic>
          <p:nvPicPr>
            <p:cNvPr id="232" name="Google Shape;232;p21" title="{&quot;red&quot;:89,&quot;green&quot;:89,&quot;blue&quot;:89,&quot;origURL&quot;:&quot;https://www.codecogs.com/eqnedit.php?latex=T_3#0&quot;,&quot;size&quot;:18,&quot;width&quot;:193.70078740157481,&quot;height&quot;:158.33858267716536}"/>
            <p:cNvPicPr preferRelativeResize="0"/>
            <p:nvPr/>
          </p:nvPicPr>
          <p:blipFill>
            <a:blip r:embed="rId6">
              <a:alphaModFix/>
            </a:blip>
            <a:stretch>
              <a:fillRect/>
            </a:stretch>
          </p:blipFill>
          <p:spPr>
            <a:xfrm>
              <a:off x="3866013" y="3822038"/>
              <a:ext cx="154800" cy="146038"/>
            </a:xfrm>
            <a:prstGeom prst="rect">
              <a:avLst/>
            </a:prstGeom>
            <a:noFill/>
            <a:ln>
              <a:noFill/>
            </a:ln>
          </p:spPr>
        </p:pic>
        <p:pic>
          <p:nvPicPr>
            <p:cNvPr id="233" name="Google Shape;233;p21" title="{&quot;red&quot;:89,&quot;green&quot;:89,&quot;blue&quot;:89,&quot;origURL&quot;:&quot;https://www.codecogs.com/eqnedit.php?latex=%20a%20%3D%2030cm%20#0&quot;,&quot;size&quot;:24,&quot;width&quot;:670.9133858267717,&quot;height&quot;:269.00787401574803}"/>
            <p:cNvPicPr preferRelativeResize="0"/>
            <p:nvPr/>
          </p:nvPicPr>
          <p:blipFill>
            <a:blip r:embed="rId11">
              <a:alphaModFix/>
            </a:blip>
            <a:stretch>
              <a:fillRect/>
            </a:stretch>
          </p:blipFill>
          <p:spPr>
            <a:xfrm>
              <a:off x="1310032" y="3239772"/>
              <a:ext cx="613092" cy="104675"/>
            </a:xfrm>
            <a:prstGeom prst="rect">
              <a:avLst/>
            </a:prstGeom>
            <a:noFill/>
            <a:ln>
              <a:noFill/>
            </a:ln>
          </p:spPr>
        </p:pic>
        <p:pic>
          <p:nvPicPr>
            <p:cNvPr id="234" name="Google Shape;234;p21" title="{&quot;red&quot;:89,&quot;green&quot;:89,&quot;blue&quot;:89,&quot;origURL&quot;:&quot;https://www.codecogs.com/eqnedit.php?latex=%20b%20%3D%2030cm%20#0&quot;,&quot;size&quot;:24,&quot;width&quot;:670.9133858267717,&quot;height&quot;:269.00787401574803}"/>
            <p:cNvPicPr preferRelativeResize="0"/>
            <p:nvPr/>
          </p:nvPicPr>
          <p:blipFill>
            <a:blip r:embed="rId12">
              <a:alphaModFix/>
            </a:blip>
            <a:stretch>
              <a:fillRect/>
            </a:stretch>
          </p:blipFill>
          <p:spPr>
            <a:xfrm>
              <a:off x="2873440" y="3250383"/>
              <a:ext cx="613100" cy="112292"/>
            </a:xfrm>
            <a:prstGeom prst="rect">
              <a:avLst/>
            </a:prstGeom>
            <a:noFill/>
            <a:ln>
              <a:noFill/>
            </a:ln>
          </p:spPr>
        </p:pic>
        <p:pic>
          <p:nvPicPr>
            <p:cNvPr id="235" name="Google Shape;235;p21" title="{&quot;red&quot;:89,&quot;green&quot;:89,&quot;blue&quot;:89,&quot;origURL&quot;:&quot;https://www.codecogs.com/eqnedit.php?latex=%20c%20%3D%2050cm%20#0&quot;,&quot;size&quot;:24,&quot;width&quot;:670.9133858267717,&quot;height&quot;:269.00787401574803}"/>
            <p:cNvPicPr preferRelativeResize="0"/>
            <p:nvPr/>
          </p:nvPicPr>
          <p:blipFill>
            <a:blip r:embed="rId13">
              <a:alphaModFix/>
            </a:blip>
            <a:stretch>
              <a:fillRect/>
            </a:stretch>
          </p:blipFill>
          <p:spPr>
            <a:xfrm>
              <a:off x="2063426" y="2742175"/>
              <a:ext cx="601412" cy="104675"/>
            </a:xfrm>
            <a:prstGeom prst="rect">
              <a:avLst/>
            </a:prstGeom>
            <a:noFill/>
            <a:ln>
              <a:noFill/>
            </a:ln>
          </p:spPr>
        </p:pic>
      </p:grpSp>
      <p:pic>
        <p:nvPicPr>
          <p:cNvPr id="236" name="Google Shape;236;p21"/>
          <p:cNvPicPr preferRelativeResize="0"/>
          <p:nvPr/>
        </p:nvPicPr>
        <p:blipFill>
          <a:blip r:embed="rId14">
            <a:alphaModFix/>
          </a:blip>
          <a:stretch>
            <a:fillRect/>
          </a:stretch>
        </p:blipFill>
        <p:spPr>
          <a:xfrm>
            <a:off x="5251025" y="1506075"/>
            <a:ext cx="2259043" cy="528525"/>
          </a:xfrm>
          <a:prstGeom prst="rect">
            <a:avLst/>
          </a:prstGeom>
          <a:noFill/>
          <a:ln>
            <a:noFill/>
          </a:ln>
        </p:spPr>
      </p:pic>
      <p:sp>
        <p:nvSpPr>
          <p:cNvPr id="237" name="Google Shape;237;p21"/>
          <p:cNvSpPr txBox="1"/>
          <p:nvPr/>
        </p:nvSpPr>
        <p:spPr>
          <a:xfrm>
            <a:off x="3837775" y="339050"/>
            <a:ext cx="2344500" cy="12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238" name="Google Shape;238;p21"/>
          <p:cNvSpPr txBox="1"/>
          <p:nvPr/>
        </p:nvSpPr>
        <p:spPr>
          <a:xfrm>
            <a:off x="3966775" y="4645975"/>
            <a:ext cx="36006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*Courtesy of Maani Ghaffari, Ryan Eustice, Frank Dellaert, Michael Kaess, Cyrill Stachniss, Pranav Ganti, Luca Carlone</a:t>
            </a:r>
            <a:endParaRPr sz="8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2"/>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457200" lvl="0" marL="3657600" rtl="0" algn="just">
              <a:spcBef>
                <a:spcPts val="0"/>
              </a:spcBef>
              <a:spcAft>
                <a:spcPts val="0"/>
              </a:spcAft>
              <a:buNone/>
            </a:pPr>
            <a:r>
              <a:rPr b="1" lang="es" sz="1200">
                <a:solidFill>
                  <a:srgbClr val="193364"/>
                </a:solidFill>
              </a:rPr>
              <a:t>Pose/factor graph optimization: </a:t>
            </a:r>
            <a:endParaRPr b="1" sz="1200">
              <a:solidFill>
                <a:srgbClr val="193364"/>
              </a:solidFill>
            </a:endParaRPr>
          </a:p>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244" name="Google Shape;244;p22"/>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Factor Graph</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grpSp>
        <p:nvGrpSpPr>
          <p:cNvPr id="245" name="Google Shape;245;p22"/>
          <p:cNvGrpSpPr/>
          <p:nvPr/>
        </p:nvGrpSpPr>
        <p:grpSpPr>
          <a:xfrm>
            <a:off x="1095318" y="4449088"/>
            <a:ext cx="712880" cy="694332"/>
            <a:chOff x="1095318" y="4449088"/>
            <a:chExt cx="712880" cy="694332"/>
          </a:xfrm>
        </p:grpSpPr>
        <p:sp>
          <p:nvSpPr>
            <p:cNvPr id="246" name="Google Shape;246;p22"/>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247" name="Google Shape;247;p22"/>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248" name="Google Shape;248;p22"/>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249" name="Google Shape;249;p22"/>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grpSp>
        <p:nvGrpSpPr>
          <p:cNvPr id="250" name="Google Shape;250;p22"/>
          <p:cNvGrpSpPr/>
          <p:nvPr/>
        </p:nvGrpSpPr>
        <p:grpSpPr>
          <a:xfrm>
            <a:off x="510072" y="2993761"/>
            <a:ext cx="3666406" cy="1087198"/>
            <a:chOff x="4679980" y="2633200"/>
            <a:chExt cx="4103880" cy="1216921"/>
          </a:xfrm>
        </p:grpSpPr>
        <p:sp>
          <p:nvSpPr>
            <p:cNvPr id="251" name="Google Shape;251;p22"/>
            <p:cNvSpPr/>
            <p:nvPr/>
          </p:nvSpPr>
          <p:spPr>
            <a:xfrm>
              <a:off x="4679980" y="3238250"/>
              <a:ext cx="535200" cy="536400"/>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sp>
          <p:nvSpPr>
            <p:cNvPr id="252" name="Google Shape;252;p22"/>
            <p:cNvSpPr/>
            <p:nvPr/>
          </p:nvSpPr>
          <p:spPr>
            <a:xfrm>
              <a:off x="6464320" y="3238250"/>
              <a:ext cx="535200" cy="536400"/>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sp>
          <p:nvSpPr>
            <p:cNvPr id="253" name="Google Shape;253;p22"/>
            <p:cNvSpPr/>
            <p:nvPr/>
          </p:nvSpPr>
          <p:spPr>
            <a:xfrm>
              <a:off x="8248660" y="3238250"/>
              <a:ext cx="535200" cy="536400"/>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cxnSp>
          <p:nvCxnSpPr>
            <p:cNvPr id="254" name="Google Shape;254;p22"/>
            <p:cNvCxnSpPr>
              <a:stCxn id="251" idx="6"/>
              <a:endCxn id="252" idx="2"/>
            </p:cNvCxnSpPr>
            <p:nvPr/>
          </p:nvCxnSpPr>
          <p:spPr>
            <a:xfrm>
              <a:off x="5215180" y="3506450"/>
              <a:ext cx="1249200" cy="0"/>
            </a:xfrm>
            <a:prstGeom prst="straightConnector1">
              <a:avLst/>
            </a:prstGeom>
            <a:noFill/>
            <a:ln cap="flat" cmpd="sng" w="8500">
              <a:solidFill>
                <a:srgbClr val="193364"/>
              </a:solidFill>
              <a:prstDash val="solid"/>
              <a:round/>
              <a:headEnd len="med" w="med" type="none"/>
              <a:tailEnd len="med" w="med" type="none"/>
            </a:ln>
          </p:spPr>
        </p:cxnSp>
        <p:cxnSp>
          <p:nvCxnSpPr>
            <p:cNvPr id="255" name="Google Shape;255;p22"/>
            <p:cNvCxnSpPr>
              <a:stCxn id="252" idx="6"/>
              <a:endCxn id="253" idx="2"/>
            </p:cNvCxnSpPr>
            <p:nvPr/>
          </p:nvCxnSpPr>
          <p:spPr>
            <a:xfrm>
              <a:off x="6999520" y="3506450"/>
              <a:ext cx="1249200" cy="0"/>
            </a:xfrm>
            <a:prstGeom prst="straightConnector1">
              <a:avLst/>
            </a:prstGeom>
            <a:noFill/>
            <a:ln cap="flat" cmpd="sng" w="8500">
              <a:solidFill>
                <a:srgbClr val="193364"/>
              </a:solidFill>
              <a:prstDash val="solid"/>
              <a:round/>
              <a:headEnd len="med" w="med" type="none"/>
              <a:tailEnd len="med" w="med" type="none"/>
            </a:ln>
          </p:spPr>
        </p:cxnSp>
        <p:sp>
          <p:nvSpPr>
            <p:cNvPr id="256" name="Google Shape;256;p22"/>
            <p:cNvSpPr/>
            <p:nvPr/>
          </p:nvSpPr>
          <p:spPr>
            <a:xfrm>
              <a:off x="5122992" y="2978752"/>
              <a:ext cx="3191104" cy="353494"/>
            </a:xfrm>
            <a:custGeom>
              <a:rect b="b" l="l" r="r" t="t"/>
              <a:pathLst>
                <a:path extrusionOk="0" h="13298" w="129273">
                  <a:moveTo>
                    <a:pt x="0" y="12144"/>
                  </a:moveTo>
                  <a:cubicBezTo>
                    <a:pt x="10629" y="10124"/>
                    <a:pt x="42226" y="-168"/>
                    <a:pt x="63771" y="24"/>
                  </a:cubicBezTo>
                  <a:cubicBezTo>
                    <a:pt x="85317" y="216"/>
                    <a:pt x="118356" y="11086"/>
                    <a:pt x="129273" y="13298"/>
                  </a:cubicBezTo>
                </a:path>
              </a:pathLst>
            </a:custGeom>
            <a:noFill/>
            <a:ln cap="flat" cmpd="sng" w="8500">
              <a:solidFill>
                <a:srgbClr val="193364"/>
              </a:solidFill>
              <a:prstDash val="solid"/>
              <a:round/>
              <a:headEnd len="med" w="med" type="none"/>
              <a:tailEnd len="med" w="med" type="none"/>
            </a:ln>
          </p:spPr>
        </p:sp>
        <p:pic>
          <p:nvPicPr>
            <p:cNvPr id="257" name="Google Shape;257;p22" title="{&quot;red&quot;:89,&quot;green&quot;:89,&quot;blue&quot;:89,&quot;origURL&quot;:&quot;https://www.codecogs.com/eqnedit.php?latex=T_1#0&quot;,&quot;size&quot;:18,&quot;width&quot;:193.70078740157481,&quot;height&quot;:158.33858267716536}"/>
            <p:cNvPicPr preferRelativeResize="0"/>
            <p:nvPr/>
          </p:nvPicPr>
          <p:blipFill>
            <a:blip r:embed="rId4">
              <a:alphaModFix/>
            </a:blip>
            <a:stretch>
              <a:fillRect/>
            </a:stretch>
          </p:blipFill>
          <p:spPr>
            <a:xfrm>
              <a:off x="4842000" y="3402000"/>
              <a:ext cx="216000" cy="216000"/>
            </a:xfrm>
            <a:prstGeom prst="rect">
              <a:avLst/>
            </a:prstGeom>
            <a:noFill/>
            <a:ln>
              <a:noFill/>
            </a:ln>
          </p:spPr>
        </p:pic>
        <p:pic>
          <p:nvPicPr>
            <p:cNvPr id="258" name="Google Shape;258;p22" title="{&quot;red&quot;:89,&quot;green&quot;:89,&quot;blue&quot;:89,&quot;origURL&quot;:&quot;https://www.codecogs.com/eqnedit.php?latex=T_2#0&quot;,&quot;size&quot;:18,&quot;width&quot;:193.70078740157481,&quot;height&quot;:158.33858267716536}"/>
            <p:cNvPicPr preferRelativeResize="0"/>
            <p:nvPr/>
          </p:nvPicPr>
          <p:blipFill>
            <a:blip r:embed="rId5">
              <a:alphaModFix/>
            </a:blip>
            <a:stretch>
              <a:fillRect/>
            </a:stretch>
          </p:blipFill>
          <p:spPr>
            <a:xfrm>
              <a:off x="6637700" y="3402838"/>
              <a:ext cx="224599" cy="214313"/>
            </a:xfrm>
            <a:prstGeom prst="rect">
              <a:avLst/>
            </a:prstGeom>
            <a:noFill/>
            <a:ln>
              <a:noFill/>
            </a:ln>
          </p:spPr>
        </p:pic>
        <p:pic>
          <p:nvPicPr>
            <p:cNvPr id="259" name="Google Shape;259;p22" title="{&quot;red&quot;:89,&quot;green&quot;:89,&quot;blue&quot;:89,&quot;origURL&quot;:&quot;https://www.codecogs.com/eqnedit.php?latex=T_3#0&quot;,&quot;size&quot;:18,&quot;width&quot;:193.70078740157481,&quot;height&quot;:158.33858267716536}"/>
            <p:cNvPicPr preferRelativeResize="0"/>
            <p:nvPr/>
          </p:nvPicPr>
          <p:blipFill>
            <a:blip r:embed="rId6">
              <a:alphaModFix/>
            </a:blip>
            <a:stretch>
              <a:fillRect/>
            </a:stretch>
          </p:blipFill>
          <p:spPr>
            <a:xfrm>
              <a:off x="8442000" y="3401125"/>
              <a:ext cx="226314" cy="217742"/>
            </a:xfrm>
            <a:prstGeom prst="rect">
              <a:avLst/>
            </a:prstGeom>
            <a:noFill/>
            <a:ln>
              <a:noFill/>
            </a:ln>
          </p:spPr>
        </p:pic>
        <p:pic>
          <p:nvPicPr>
            <p:cNvPr id="260" name="Google Shape;260;p22" title="{&quot;red&quot;:89,&quot;green&quot;:89,&quot;blue&quot;:89,&quot;origURL&quot;:&quot;https://www.codecogs.com/eqnedit.php?latex=%5Chat%7BT%7D_%7B12%7D#0&quot;,&quot;size&quot;:18,&quot;width&quot;:193.70078740157481,&quot;height&quot;:158.33858267716536}"/>
            <p:cNvPicPr preferRelativeResize="0"/>
            <p:nvPr/>
          </p:nvPicPr>
          <p:blipFill>
            <a:blip r:embed="rId7">
              <a:alphaModFix/>
            </a:blip>
            <a:stretch>
              <a:fillRect/>
            </a:stretch>
          </p:blipFill>
          <p:spPr>
            <a:xfrm>
              <a:off x="5690113" y="3565513"/>
              <a:ext cx="315468" cy="282893"/>
            </a:xfrm>
            <a:prstGeom prst="rect">
              <a:avLst/>
            </a:prstGeom>
            <a:noFill/>
            <a:ln>
              <a:noFill/>
            </a:ln>
          </p:spPr>
        </p:pic>
        <p:pic>
          <p:nvPicPr>
            <p:cNvPr id="261" name="Google Shape;261;p22" title="{&quot;red&quot;:89,&quot;green&quot;:89,&quot;blue&quot;:89,&quot;origURL&quot;:&quot;https://www.codecogs.com/eqnedit.php?latex=%5Chat%7BT%7D_%7B23%7D#0&quot;,&quot;size&quot;:18,&quot;width&quot;:193.70078740157481,&quot;height&quot;:158.33858267716536}"/>
            <p:cNvPicPr preferRelativeResize="0"/>
            <p:nvPr/>
          </p:nvPicPr>
          <p:blipFill>
            <a:blip r:embed="rId8">
              <a:alphaModFix/>
            </a:blip>
            <a:stretch>
              <a:fillRect/>
            </a:stretch>
          </p:blipFill>
          <p:spPr>
            <a:xfrm>
              <a:off x="7493550" y="3563800"/>
              <a:ext cx="317182" cy="286321"/>
            </a:xfrm>
            <a:prstGeom prst="rect">
              <a:avLst/>
            </a:prstGeom>
            <a:noFill/>
            <a:ln>
              <a:noFill/>
            </a:ln>
          </p:spPr>
        </p:pic>
        <p:pic>
          <p:nvPicPr>
            <p:cNvPr id="262" name="Google Shape;262;p22" title="{&quot;red&quot;:89,&quot;green&quot;:89,&quot;blue&quot;:89,&quot;origURL&quot;:&quot;https://www.codecogs.com/eqnedit.php?latex=%5Chat%7BT%7D_%7B13%7D#0&quot;,&quot;size&quot;:18,&quot;width&quot;:193.70078740157481,&quot;height&quot;:158.33858267716536}"/>
            <p:cNvPicPr preferRelativeResize="0"/>
            <p:nvPr/>
          </p:nvPicPr>
          <p:blipFill>
            <a:blip r:embed="rId9">
              <a:alphaModFix/>
            </a:blip>
            <a:stretch>
              <a:fillRect/>
            </a:stretch>
          </p:blipFill>
          <p:spPr>
            <a:xfrm>
              <a:off x="6591400" y="2633200"/>
              <a:ext cx="317182" cy="286322"/>
            </a:xfrm>
            <a:prstGeom prst="rect">
              <a:avLst/>
            </a:prstGeom>
            <a:noFill/>
            <a:ln>
              <a:noFill/>
            </a:ln>
          </p:spPr>
        </p:pic>
      </p:grpSp>
      <p:grpSp>
        <p:nvGrpSpPr>
          <p:cNvPr id="263" name="Google Shape;263;p22"/>
          <p:cNvGrpSpPr/>
          <p:nvPr/>
        </p:nvGrpSpPr>
        <p:grpSpPr>
          <a:xfrm>
            <a:off x="359994" y="1410275"/>
            <a:ext cx="3966549" cy="1225900"/>
            <a:chOff x="436594" y="2742175"/>
            <a:chExt cx="3966549" cy="1225900"/>
          </a:xfrm>
        </p:grpSpPr>
        <p:pic>
          <p:nvPicPr>
            <p:cNvPr id="264" name="Google Shape;264;p22"/>
            <p:cNvPicPr preferRelativeResize="0"/>
            <p:nvPr/>
          </p:nvPicPr>
          <p:blipFill rotWithShape="1">
            <a:blip r:embed="rId10">
              <a:alphaModFix/>
            </a:blip>
            <a:srcRect b="8800" l="10210" r="6171" t="9038"/>
            <a:stretch/>
          </p:blipFill>
          <p:spPr>
            <a:xfrm>
              <a:off x="436594" y="2979927"/>
              <a:ext cx="926262" cy="910111"/>
            </a:xfrm>
            <a:prstGeom prst="rect">
              <a:avLst/>
            </a:prstGeom>
            <a:noFill/>
            <a:ln>
              <a:noFill/>
            </a:ln>
          </p:spPr>
        </p:pic>
        <p:pic>
          <p:nvPicPr>
            <p:cNvPr id="265" name="Google Shape;265;p22"/>
            <p:cNvPicPr preferRelativeResize="0"/>
            <p:nvPr/>
          </p:nvPicPr>
          <p:blipFill rotWithShape="1">
            <a:blip r:embed="rId10">
              <a:alphaModFix/>
            </a:blip>
            <a:srcRect b="8800" l="10210" r="6171" t="9038"/>
            <a:stretch/>
          </p:blipFill>
          <p:spPr>
            <a:xfrm>
              <a:off x="1956738" y="2979927"/>
              <a:ext cx="926262" cy="910111"/>
            </a:xfrm>
            <a:prstGeom prst="rect">
              <a:avLst/>
            </a:prstGeom>
            <a:noFill/>
            <a:ln>
              <a:noFill/>
            </a:ln>
          </p:spPr>
        </p:pic>
        <p:pic>
          <p:nvPicPr>
            <p:cNvPr id="266" name="Google Shape;266;p22"/>
            <p:cNvPicPr preferRelativeResize="0"/>
            <p:nvPr/>
          </p:nvPicPr>
          <p:blipFill rotWithShape="1">
            <a:blip r:embed="rId10">
              <a:alphaModFix/>
            </a:blip>
            <a:srcRect b="8800" l="10210" r="6171" t="9038"/>
            <a:stretch/>
          </p:blipFill>
          <p:spPr>
            <a:xfrm>
              <a:off x="3476881" y="2979927"/>
              <a:ext cx="926262" cy="910111"/>
            </a:xfrm>
            <a:prstGeom prst="rect">
              <a:avLst/>
            </a:prstGeom>
            <a:noFill/>
            <a:ln>
              <a:noFill/>
            </a:ln>
          </p:spPr>
        </p:pic>
        <p:cxnSp>
          <p:nvCxnSpPr>
            <p:cNvPr id="267" name="Google Shape;267;p22"/>
            <p:cNvCxnSpPr>
              <a:stCxn id="264" idx="3"/>
              <a:endCxn id="265" idx="1"/>
            </p:cNvCxnSpPr>
            <p:nvPr/>
          </p:nvCxnSpPr>
          <p:spPr>
            <a:xfrm>
              <a:off x="1362856" y="3434982"/>
              <a:ext cx="594000" cy="0"/>
            </a:xfrm>
            <a:prstGeom prst="straightConnector1">
              <a:avLst/>
            </a:prstGeom>
            <a:noFill/>
            <a:ln cap="flat" cmpd="sng" w="19475">
              <a:solidFill>
                <a:schemeClr val="dk2"/>
              </a:solidFill>
              <a:prstDash val="solid"/>
              <a:round/>
              <a:headEnd len="med" w="med" type="none"/>
              <a:tailEnd len="med" w="med" type="triangle"/>
            </a:ln>
          </p:spPr>
        </p:cxnSp>
        <p:cxnSp>
          <p:nvCxnSpPr>
            <p:cNvPr id="268" name="Google Shape;268;p22"/>
            <p:cNvCxnSpPr>
              <a:stCxn id="265" idx="3"/>
              <a:endCxn id="266" idx="1"/>
            </p:cNvCxnSpPr>
            <p:nvPr/>
          </p:nvCxnSpPr>
          <p:spPr>
            <a:xfrm>
              <a:off x="2882999" y="3434982"/>
              <a:ext cx="594000" cy="0"/>
            </a:xfrm>
            <a:prstGeom prst="straightConnector1">
              <a:avLst/>
            </a:prstGeom>
            <a:noFill/>
            <a:ln cap="flat" cmpd="sng" w="19475">
              <a:solidFill>
                <a:schemeClr val="dk2"/>
              </a:solidFill>
              <a:prstDash val="solid"/>
              <a:round/>
              <a:headEnd len="med" w="med" type="none"/>
              <a:tailEnd len="med" w="med" type="triangle"/>
            </a:ln>
          </p:spPr>
        </p:cxnSp>
        <p:cxnSp>
          <p:nvCxnSpPr>
            <p:cNvPr id="269" name="Google Shape;269;p22"/>
            <p:cNvCxnSpPr/>
            <p:nvPr/>
          </p:nvCxnSpPr>
          <p:spPr>
            <a:xfrm flipH="1" rot="10800000">
              <a:off x="969721" y="2892346"/>
              <a:ext cx="2870400" cy="6000"/>
            </a:xfrm>
            <a:prstGeom prst="straightConnector1">
              <a:avLst/>
            </a:prstGeom>
            <a:noFill/>
            <a:ln cap="flat" cmpd="sng" w="19475">
              <a:solidFill>
                <a:schemeClr val="dk2"/>
              </a:solidFill>
              <a:prstDash val="solid"/>
              <a:round/>
              <a:headEnd len="med" w="med" type="none"/>
              <a:tailEnd len="med" w="med" type="triangle"/>
            </a:ln>
          </p:spPr>
        </p:cxnSp>
        <p:pic>
          <p:nvPicPr>
            <p:cNvPr id="270" name="Google Shape;270;p22" title="{&quot;red&quot;:89,&quot;green&quot;:89,&quot;blue&quot;:89,&quot;origURL&quot;:&quot;https://www.codecogs.com/eqnedit.php?latex=T_1#0&quot;,&quot;size&quot;:18,&quot;width&quot;:193.70078740157481,&quot;height&quot;:158.33858267716536}"/>
            <p:cNvPicPr preferRelativeResize="0"/>
            <p:nvPr/>
          </p:nvPicPr>
          <p:blipFill>
            <a:blip r:embed="rId4">
              <a:alphaModFix/>
            </a:blip>
            <a:stretch>
              <a:fillRect/>
            </a:stretch>
          </p:blipFill>
          <p:spPr>
            <a:xfrm>
              <a:off x="778575" y="3823063"/>
              <a:ext cx="144000" cy="144000"/>
            </a:xfrm>
            <a:prstGeom prst="rect">
              <a:avLst/>
            </a:prstGeom>
            <a:noFill/>
            <a:ln>
              <a:noFill/>
            </a:ln>
          </p:spPr>
        </p:pic>
        <p:pic>
          <p:nvPicPr>
            <p:cNvPr id="271" name="Google Shape;271;p22" title="{&quot;red&quot;:89,&quot;green&quot;:89,&quot;blue&quot;:89,&quot;origURL&quot;:&quot;https://www.codecogs.com/eqnedit.php?latex=T_2#0&quot;,&quot;size&quot;:18,&quot;width&quot;:193.70078740157481,&quot;height&quot;:158.33858267716536}"/>
            <p:cNvPicPr preferRelativeResize="0"/>
            <p:nvPr/>
          </p:nvPicPr>
          <p:blipFill>
            <a:blip r:embed="rId5">
              <a:alphaModFix/>
            </a:blip>
            <a:stretch>
              <a:fillRect/>
            </a:stretch>
          </p:blipFill>
          <p:spPr>
            <a:xfrm>
              <a:off x="2318700" y="3822375"/>
              <a:ext cx="151200" cy="145385"/>
            </a:xfrm>
            <a:prstGeom prst="rect">
              <a:avLst/>
            </a:prstGeom>
            <a:noFill/>
            <a:ln>
              <a:noFill/>
            </a:ln>
          </p:spPr>
        </p:pic>
        <p:pic>
          <p:nvPicPr>
            <p:cNvPr id="272" name="Google Shape;272;p22" title="{&quot;red&quot;:89,&quot;green&quot;:89,&quot;blue&quot;:89,&quot;origURL&quot;:&quot;https://www.codecogs.com/eqnedit.php?latex=T_3#0&quot;,&quot;size&quot;:18,&quot;width&quot;:193.70078740157481,&quot;height&quot;:158.33858267716536}"/>
            <p:cNvPicPr preferRelativeResize="0"/>
            <p:nvPr/>
          </p:nvPicPr>
          <p:blipFill>
            <a:blip r:embed="rId6">
              <a:alphaModFix/>
            </a:blip>
            <a:stretch>
              <a:fillRect/>
            </a:stretch>
          </p:blipFill>
          <p:spPr>
            <a:xfrm>
              <a:off x="3866013" y="3822038"/>
              <a:ext cx="154800" cy="146038"/>
            </a:xfrm>
            <a:prstGeom prst="rect">
              <a:avLst/>
            </a:prstGeom>
            <a:noFill/>
            <a:ln>
              <a:noFill/>
            </a:ln>
          </p:spPr>
        </p:pic>
        <p:pic>
          <p:nvPicPr>
            <p:cNvPr id="273" name="Google Shape;273;p22" title="{&quot;red&quot;:89,&quot;green&quot;:89,&quot;blue&quot;:89,&quot;origURL&quot;:&quot;https://www.codecogs.com/eqnedit.php?latex=%20a%20%3D%2030cm%20#0&quot;,&quot;size&quot;:24,&quot;width&quot;:670.9133858267717,&quot;height&quot;:269.00787401574803}"/>
            <p:cNvPicPr preferRelativeResize="0"/>
            <p:nvPr/>
          </p:nvPicPr>
          <p:blipFill>
            <a:blip r:embed="rId11">
              <a:alphaModFix/>
            </a:blip>
            <a:stretch>
              <a:fillRect/>
            </a:stretch>
          </p:blipFill>
          <p:spPr>
            <a:xfrm>
              <a:off x="1310032" y="3239772"/>
              <a:ext cx="613092" cy="104675"/>
            </a:xfrm>
            <a:prstGeom prst="rect">
              <a:avLst/>
            </a:prstGeom>
            <a:noFill/>
            <a:ln>
              <a:noFill/>
            </a:ln>
          </p:spPr>
        </p:pic>
        <p:pic>
          <p:nvPicPr>
            <p:cNvPr id="274" name="Google Shape;274;p22" title="{&quot;red&quot;:89,&quot;green&quot;:89,&quot;blue&quot;:89,&quot;origURL&quot;:&quot;https://www.codecogs.com/eqnedit.php?latex=%20b%20%3D%2030cm%20#0&quot;,&quot;size&quot;:24,&quot;width&quot;:670.9133858267717,&quot;height&quot;:269.00787401574803}"/>
            <p:cNvPicPr preferRelativeResize="0"/>
            <p:nvPr/>
          </p:nvPicPr>
          <p:blipFill>
            <a:blip r:embed="rId12">
              <a:alphaModFix/>
            </a:blip>
            <a:stretch>
              <a:fillRect/>
            </a:stretch>
          </p:blipFill>
          <p:spPr>
            <a:xfrm>
              <a:off x="2873440" y="3250383"/>
              <a:ext cx="613100" cy="112292"/>
            </a:xfrm>
            <a:prstGeom prst="rect">
              <a:avLst/>
            </a:prstGeom>
            <a:noFill/>
            <a:ln>
              <a:noFill/>
            </a:ln>
          </p:spPr>
        </p:pic>
        <p:pic>
          <p:nvPicPr>
            <p:cNvPr id="275" name="Google Shape;275;p22" title="{&quot;red&quot;:89,&quot;green&quot;:89,&quot;blue&quot;:89,&quot;origURL&quot;:&quot;https://www.codecogs.com/eqnedit.php?latex=%20c%20%3D%2050cm%20#0&quot;,&quot;size&quot;:24,&quot;width&quot;:670.9133858267717,&quot;height&quot;:269.00787401574803}"/>
            <p:cNvPicPr preferRelativeResize="0"/>
            <p:nvPr/>
          </p:nvPicPr>
          <p:blipFill>
            <a:blip r:embed="rId13">
              <a:alphaModFix/>
            </a:blip>
            <a:stretch>
              <a:fillRect/>
            </a:stretch>
          </p:blipFill>
          <p:spPr>
            <a:xfrm>
              <a:off x="2063426" y="2742175"/>
              <a:ext cx="601412" cy="104675"/>
            </a:xfrm>
            <a:prstGeom prst="rect">
              <a:avLst/>
            </a:prstGeom>
            <a:noFill/>
            <a:ln>
              <a:noFill/>
            </a:ln>
          </p:spPr>
        </p:pic>
      </p:grpSp>
      <p:pic>
        <p:nvPicPr>
          <p:cNvPr id="276" name="Google Shape;276;p22"/>
          <p:cNvPicPr preferRelativeResize="0"/>
          <p:nvPr/>
        </p:nvPicPr>
        <p:blipFill>
          <a:blip r:embed="rId14">
            <a:alphaModFix/>
          </a:blip>
          <a:stretch>
            <a:fillRect/>
          </a:stretch>
        </p:blipFill>
        <p:spPr>
          <a:xfrm>
            <a:off x="5251025" y="1506075"/>
            <a:ext cx="2259043" cy="528525"/>
          </a:xfrm>
          <a:prstGeom prst="rect">
            <a:avLst/>
          </a:prstGeom>
          <a:noFill/>
          <a:ln>
            <a:noFill/>
          </a:ln>
        </p:spPr>
      </p:pic>
      <p:graphicFrame>
        <p:nvGraphicFramePr>
          <p:cNvPr id="277" name="Google Shape;277;p22"/>
          <p:cNvGraphicFramePr/>
          <p:nvPr/>
        </p:nvGraphicFramePr>
        <p:xfrm>
          <a:off x="5316875" y="2300561"/>
          <a:ext cx="3000000" cy="3000000"/>
        </p:xfrm>
        <a:graphic>
          <a:graphicData uri="http://schemas.openxmlformats.org/drawingml/2006/table">
            <a:tbl>
              <a:tblPr>
                <a:noFill/>
                <a:tableStyleId>{1B1081EC-A0A6-41FB-9FD4-7EDB2B2B40E8}</a:tableStyleId>
              </a:tblPr>
              <a:tblGrid>
                <a:gridCol w="794700"/>
                <a:gridCol w="794700"/>
                <a:gridCol w="794700"/>
              </a:tblGrid>
              <a:tr h="259650">
                <a:tc>
                  <a:txBody>
                    <a:bodyPr/>
                    <a:lstStyle/>
                    <a:p>
                      <a:pPr indent="0" lvl="0" marL="0" rtl="0" algn="l">
                        <a:spcBef>
                          <a:spcPts val="0"/>
                        </a:spcBef>
                        <a:spcAft>
                          <a:spcPts val="0"/>
                        </a:spcAft>
                        <a:buNone/>
                      </a:pPr>
                      <a:r>
                        <a:t/>
                      </a:r>
                      <a:endParaRPr/>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r>
              <a:tr h="259650">
                <a:tc>
                  <a:txBody>
                    <a:bodyPr/>
                    <a:lstStyle/>
                    <a:p>
                      <a:pPr indent="0" lvl="0" marL="0" rtl="0" algn="ctr">
                        <a:spcBef>
                          <a:spcPts val="0"/>
                        </a:spcBef>
                        <a:spcAft>
                          <a:spcPts val="0"/>
                        </a:spcAft>
                        <a:buNone/>
                      </a:pPr>
                      <a:r>
                        <a:rPr lang="es" sz="1200"/>
                        <a:t>∞</a:t>
                      </a:r>
                      <a:endParaRPr sz="1200"/>
                    </a:p>
                  </a:txBody>
                  <a:tcPr marT="18000" marB="18000" marR="91425" marL="91425"/>
                </a:tc>
                <a:tc>
                  <a:txBody>
                    <a:bodyPr/>
                    <a:lstStyle/>
                    <a:p>
                      <a:pPr indent="0" lvl="0" marL="0" rtl="0" algn="ctr">
                        <a:spcBef>
                          <a:spcPts val="0"/>
                        </a:spcBef>
                        <a:spcAft>
                          <a:spcPts val="0"/>
                        </a:spcAft>
                        <a:buNone/>
                      </a:pPr>
                      <a:r>
                        <a:t/>
                      </a:r>
                      <a:endParaRPr sz="1200"/>
                    </a:p>
                  </a:txBody>
                  <a:tcPr marT="18000" marB="18000" marR="91425" marL="91425"/>
                </a:tc>
                <a:tc>
                  <a:txBody>
                    <a:bodyPr/>
                    <a:lstStyle/>
                    <a:p>
                      <a:pPr indent="0" lvl="0" marL="0" rtl="0" algn="ctr">
                        <a:spcBef>
                          <a:spcPts val="0"/>
                        </a:spcBef>
                        <a:spcAft>
                          <a:spcPts val="0"/>
                        </a:spcAft>
                        <a:buNone/>
                      </a:pPr>
                      <a:r>
                        <a:t/>
                      </a:r>
                      <a:endParaRPr sz="1200"/>
                    </a:p>
                  </a:txBody>
                  <a:tcPr marT="18000" marB="18000" marR="91425" marL="91425"/>
                </a:tc>
              </a:tr>
              <a:tr h="259650">
                <a:tc>
                  <a:txBody>
                    <a:bodyPr/>
                    <a:lstStyle/>
                    <a:p>
                      <a:pPr indent="0" lvl="0" marL="0" rtl="0" algn="ctr">
                        <a:spcBef>
                          <a:spcPts val="0"/>
                        </a:spcBef>
                        <a:spcAft>
                          <a:spcPts val="0"/>
                        </a:spcAft>
                        <a:buNone/>
                      </a:pPr>
                      <a:r>
                        <a:rPr lang="es" sz="1200"/>
                        <a:t>2</a:t>
                      </a:r>
                      <a:endParaRPr sz="1200"/>
                    </a:p>
                  </a:txBody>
                  <a:tcPr marT="0" marB="0" marR="91425" marL="91425"/>
                </a:tc>
                <a:tc>
                  <a:txBody>
                    <a:bodyPr/>
                    <a:lstStyle/>
                    <a:p>
                      <a:pPr indent="0" lvl="0" marL="0" rtl="0" algn="ctr">
                        <a:spcBef>
                          <a:spcPts val="0"/>
                        </a:spcBef>
                        <a:spcAft>
                          <a:spcPts val="0"/>
                        </a:spcAft>
                        <a:buNone/>
                      </a:pPr>
                      <a:r>
                        <a:t/>
                      </a:r>
                      <a:endParaRPr sz="1200"/>
                    </a:p>
                  </a:txBody>
                  <a:tcPr marT="18000" marB="18000" marR="91425" marL="91425"/>
                </a:tc>
                <a:tc>
                  <a:txBody>
                    <a:bodyPr/>
                    <a:lstStyle/>
                    <a:p>
                      <a:pPr indent="0" lvl="0" marL="0" rtl="0" algn="ctr">
                        <a:spcBef>
                          <a:spcPts val="0"/>
                        </a:spcBef>
                        <a:spcAft>
                          <a:spcPts val="0"/>
                        </a:spcAft>
                        <a:buNone/>
                      </a:pPr>
                      <a:r>
                        <a:t/>
                      </a:r>
                      <a:endParaRPr sz="1200"/>
                    </a:p>
                  </a:txBody>
                  <a:tcPr marT="18000" marB="18000" marR="91425" marL="91425"/>
                </a:tc>
              </a:tr>
              <a:tr h="259650">
                <a:tc>
                  <a:txBody>
                    <a:bodyPr/>
                    <a:lstStyle/>
                    <a:p>
                      <a:pPr indent="0" lvl="0" marL="0" rtl="0" algn="ctr">
                        <a:spcBef>
                          <a:spcPts val="0"/>
                        </a:spcBef>
                        <a:spcAft>
                          <a:spcPts val="0"/>
                        </a:spcAft>
                        <a:buNone/>
                      </a:pPr>
                      <a:r>
                        <a:rPr lang="es" sz="1200"/>
                        <a:t>1.5</a:t>
                      </a:r>
                      <a:endParaRPr sz="1200"/>
                    </a:p>
                  </a:txBody>
                  <a:tcPr marT="18000" marB="18000" marR="91425" marL="91425"/>
                </a:tc>
                <a:tc>
                  <a:txBody>
                    <a:bodyPr/>
                    <a:lstStyle/>
                    <a:p>
                      <a:pPr indent="0" lvl="0" marL="0" rtl="0" algn="ctr">
                        <a:spcBef>
                          <a:spcPts val="0"/>
                        </a:spcBef>
                        <a:spcAft>
                          <a:spcPts val="0"/>
                        </a:spcAft>
                        <a:buNone/>
                      </a:pPr>
                      <a:r>
                        <a:t/>
                      </a:r>
                      <a:endParaRPr sz="1200"/>
                    </a:p>
                  </a:txBody>
                  <a:tcPr marT="18000" marB="18000" marR="91425" marL="91425"/>
                </a:tc>
                <a:tc>
                  <a:txBody>
                    <a:bodyPr/>
                    <a:lstStyle/>
                    <a:p>
                      <a:pPr indent="0" lvl="0" marL="0" rtl="0" algn="ctr">
                        <a:spcBef>
                          <a:spcPts val="0"/>
                        </a:spcBef>
                        <a:spcAft>
                          <a:spcPts val="0"/>
                        </a:spcAft>
                        <a:buNone/>
                      </a:pPr>
                      <a:r>
                        <a:t/>
                      </a:r>
                      <a:endParaRPr sz="1200"/>
                    </a:p>
                  </a:txBody>
                  <a:tcPr marT="18000" marB="18000" marR="91425" marL="91425"/>
                </a:tc>
              </a:tr>
              <a:tr h="259650">
                <a:tc>
                  <a:txBody>
                    <a:bodyPr/>
                    <a:lstStyle/>
                    <a:p>
                      <a:pPr indent="0" lvl="0" marL="0" rtl="0" algn="ctr">
                        <a:spcBef>
                          <a:spcPts val="0"/>
                        </a:spcBef>
                        <a:spcAft>
                          <a:spcPts val="0"/>
                        </a:spcAft>
                        <a:buNone/>
                      </a:pPr>
                      <a:r>
                        <a:rPr lang="es" sz="1200"/>
                        <a:t>1</a:t>
                      </a:r>
                      <a:endParaRPr sz="1200"/>
                    </a:p>
                  </a:txBody>
                  <a:tcPr marT="18000" marB="18000" marR="91425" marL="91425"/>
                </a:tc>
                <a:tc>
                  <a:txBody>
                    <a:bodyPr/>
                    <a:lstStyle/>
                    <a:p>
                      <a:pPr indent="0" lvl="0" marL="0" rtl="0" algn="ctr">
                        <a:spcBef>
                          <a:spcPts val="0"/>
                        </a:spcBef>
                        <a:spcAft>
                          <a:spcPts val="0"/>
                        </a:spcAft>
                        <a:buNone/>
                      </a:pPr>
                      <a:r>
                        <a:t/>
                      </a:r>
                      <a:endParaRPr sz="1200"/>
                    </a:p>
                  </a:txBody>
                  <a:tcPr marT="18000" marB="18000" marR="91425" marL="91425"/>
                </a:tc>
                <a:tc>
                  <a:txBody>
                    <a:bodyPr/>
                    <a:lstStyle/>
                    <a:p>
                      <a:pPr indent="0" lvl="0" marL="0" rtl="0" algn="ctr">
                        <a:spcBef>
                          <a:spcPts val="0"/>
                        </a:spcBef>
                        <a:spcAft>
                          <a:spcPts val="0"/>
                        </a:spcAft>
                        <a:buNone/>
                      </a:pPr>
                      <a:r>
                        <a:t/>
                      </a:r>
                      <a:endParaRPr sz="1200"/>
                    </a:p>
                  </a:txBody>
                  <a:tcPr marT="18000" marB="18000" marR="91425" marL="91425"/>
                </a:tc>
              </a:tr>
              <a:tr h="259650">
                <a:tc>
                  <a:txBody>
                    <a:bodyPr/>
                    <a:lstStyle/>
                    <a:p>
                      <a:pPr indent="0" lvl="0" marL="0" rtl="0" algn="ctr">
                        <a:spcBef>
                          <a:spcPts val="0"/>
                        </a:spcBef>
                        <a:spcAft>
                          <a:spcPts val="0"/>
                        </a:spcAft>
                        <a:buNone/>
                      </a:pPr>
                      <a:r>
                        <a:rPr lang="es" sz="1200"/>
                        <a:t>0.5</a:t>
                      </a:r>
                      <a:endParaRPr sz="1200"/>
                    </a:p>
                  </a:txBody>
                  <a:tcPr marT="18000" marB="18000" marR="91425" marL="91425"/>
                </a:tc>
                <a:tc>
                  <a:txBody>
                    <a:bodyPr/>
                    <a:lstStyle/>
                    <a:p>
                      <a:pPr indent="0" lvl="0" marL="0" rtl="0" algn="ctr">
                        <a:spcBef>
                          <a:spcPts val="0"/>
                        </a:spcBef>
                        <a:spcAft>
                          <a:spcPts val="0"/>
                        </a:spcAft>
                        <a:buNone/>
                      </a:pPr>
                      <a:r>
                        <a:t/>
                      </a:r>
                      <a:endParaRPr sz="1200"/>
                    </a:p>
                  </a:txBody>
                  <a:tcPr marT="18000" marB="18000" marR="91425" marL="91425"/>
                </a:tc>
                <a:tc>
                  <a:txBody>
                    <a:bodyPr/>
                    <a:lstStyle/>
                    <a:p>
                      <a:pPr indent="0" lvl="0" marL="0" rtl="0" algn="ctr">
                        <a:spcBef>
                          <a:spcPts val="0"/>
                        </a:spcBef>
                        <a:spcAft>
                          <a:spcPts val="0"/>
                        </a:spcAft>
                        <a:buNone/>
                      </a:pPr>
                      <a:r>
                        <a:t/>
                      </a:r>
                      <a:endParaRPr sz="1200"/>
                    </a:p>
                  </a:txBody>
                  <a:tcPr marT="18000" marB="18000" marR="91425" marL="91425"/>
                </a:tc>
              </a:tr>
              <a:tr h="259650">
                <a:tc>
                  <a:txBody>
                    <a:bodyPr/>
                    <a:lstStyle/>
                    <a:p>
                      <a:pPr indent="0" lvl="0" marL="0" rtl="0" algn="ctr">
                        <a:spcBef>
                          <a:spcPts val="0"/>
                        </a:spcBef>
                        <a:spcAft>
                          <a:spcPts val="0"/>
                        </a:spcAft>
                        <a:buNone/>
                      </a:pPr>
                      <a:r>
                        <a:rPr lang="es" sz="1200"/>
                        <a:t>0</a:t>
                      </a:r>
                      <a:endParaRPr sz="1200"/>
                    </a:p>
                  </a:txBody>
                  <a:tcPr marT="18000" marB="18000" marR="91425" marL="91425"/>
                </a:tc>
                <a:tc>
                  <a:txBody>
                    <a:bodyPr/>
                    <a:lstStyle/>
                    <a:p>
                      <a:pPr indent="0" lvl="0" marL="0" rtl="0" algn="ctr">
                        <a:spcBef>
                          <a:spcPts val="0"/>
                        </a:spcBef>
                        <a:spcAft>
                          <a:spcPts val="0"/>
                        </a:spcAft>
                        <a:buNone/>
                      </a:pPr>
                      <a:r>
                        <a:t/>
                      </a:r>
                      <a:endParaRPr sz="1200"/>
                    </a:p>
                  </a:txBody>
                  <a:tcPr marT="18000" marB="18000" marR="91425" marL="91425"/>
                </a:tc>
                <a:tc>
                  <a:txBody>
                    <a:bodyPr/>
                    <a:lstStyle/>
                    <a:p>
                      <a:pPr indent="0" lvl="0" marL="0" rtl="0" algn="ctr">
                        <a:spcBef>
                          <a:spcPts val="0"/>
                        </a:spcBef>
                        <a:spcAft>
                          <a:spcPts val="0"/>
                        </a:spcAft>
                        <a:buNone/>
                      </a:pPr>
                      <a:r>
                        <a:t/>
                      </a:r>
                      <a:endParaRPr sz="1200"/>
                    </a:p>
                  </a:txBody>
                  <a:tcPr marT="18000" marB="18000" marR="91425" marL="91425"/>
                </a:tc>
              </a:tr>
            </a:tbl>
          </a:graphicData>
        </a:graphic>
      </p:graphicFrame>
      <p:sp>
        <p:nvSpPr>
          <p:cNvPr id="278" name="Google Shape;278;p22"/>
          <p:cNvSpPr txBox="1"/>
          <p:nvPr/>
        </p:nvSpPr>
        <p:spPr>
          <a:xfrm>
            <a:off x="3837775" y="339050"/>
            <a:ext cx="2344500" cy="12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279" name="Google Shape;279;p22" title="{&quot;red&quot;:89,&quot;green&quot;:89,&quot;blue&quot;:89,&quot;origURL&quot;:&quot;https://www.codecogs.com/eqnedit.php?latex=%5Clambda#0&quot;,&quot;size&quot;:18,&quot;width&quot;:184.60629921259843,&quot;height&quot;:100.53543307086615}"/>
          <p:cNvPicPr preferRelativeResize="0"/>
          <p:nvPr/>
        </p:nvPicPr>
        <p:blipFill>
          <a:blip r:embed="rId15">
            <a:alphaModFix/>
          </a:blip>
          <a:stretch>
            <a:fillRect/>
          </a:stretch>
        </p:blipFill>
        <p:spPr>
          <a:xfrm>
            <a:off x="5634050" y="2338832"/>
            <a:ext cx="125158" cy="181737"/>
          </a:xfrm>
          <a:prstGeom prst="rect">
            <a:avLst/>
          </a:prstGeom>
          <a:noFill/>
          <a:ln>
            <a:noFill/>
          </a:ln>
        </p:spPr>
      </p:pic>
      <p:pic>
        <p:nvPicPr>
          <p:cNvPr id="280" name="Google Shape;280;p22" title="{&quot;red&quot;:89,&quot;green&quot;:89,&quot;blue&quot;:89,&quot;origURL&quot;:&quot;https://www.codecogs.com/eqnedit.php?latex=T_2#0&quot;,&quot;size&quot;:18,&quot;width&quot;:184.60629921259843,&quot;height&quot;:100.53543307086615}"/>
          <p:cNvPicPr preferRelativeResize="0"/>
          <p:nvPr/>
        </p:nvPicPr>
        <p:blipFill>
          <a:blip r:embed="rId5">
            <a:alphaModFix/>
          </a:blip>
          <a:stretch>
            <a:fillRect/>
          </a:stretch>
        </p:blipFill>
        <p:spPr>
          <a:xfrm>
            <a:off x="6362650" y="2329746"/>
            <a:ext cx="224599" cy="214313"/>
          </a:xfrm>
          <a:prstGeom prst="rect">
            <a:avLst/>
          </a:prstGeom>
          <a:noFill/>
          <a:ln>
            <a:noFill/>
          </a:ln>
        </p:spPr>
      </p:pic>
      <p:pic>
        <p:nvPicPr>
          <p:cNvPr id="281" name="Google Shape;281;p22" title="{&quot;red&quot;:89,&quot;green&quot;:89,&quot;blue&quot;:89,&quot;origURL&quot;:&quot;https://www.codecogs.com/eqnedit.php?latex=T_3#0&quot;,&quot;size&quot;:18,&quot;width&quot;:184.60629921259843,&quot;height&quot;:100.53543307086615}"/>
          <p:cNvPicPr preferRelativeResize="0"/>
          <p:nvPr/>
        </p:nvPicPr>
        <p:blipFill>
          <a:blip r:embed="rId6">
            <a:alphaModFix/>
          </a:blip>
          <a:stretch>
            <a:fillRect/>
          </a:stretch>
        </p:blipFill>
        <p:spPr>
          <a:xfrm>
            <a:off x="7235525" y="2328033"/>
            <a:ext cx="226314" cy="217742"/>
          </a:xfrm>
          <a:prstGeom prst="rect">
            <a:avLst/>
          </a:prstGeom>
          <a:noFill/>
          <a:ln>
            <a:noFill/>
          </a:ln>
        </p:spPr>
      </p:pic>
      <p:sp>
        <p:nvSpPr>
          <p:cNvPr id="282" name="Google Shape;282;p22"/>
          <p:cNvSpPr txBox="1"/>
          <p:nvPr/>
        </p:nvSpPr>
        <p:spPr>
          <a:xfrm>
            <a:off x="3966775" y="4645975"/>
            <a:ext cx="36006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*Courtesy of Maani Ghaffari, Ryan Eustice, Frank Dellaert, Michael Kaess, Cyrill Stachniss, Pranav Ganti, Luca Carlone</a:t>
            </a:r>
            <a:endParaRPr sz="8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3"/>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457200" lvl="0" marL="3657600" rtl="0" algn="just">
              <a:spcBef>
                <a:spcPts val="0"/>
              </a:spcBef>
              <a:spcAft>
                <a:spcPts val="0"/>
              </a:spcAft>
              <a:buNone/>
            </a:pPr>
            <a:r>
              <a:rPr b="1" lang="es" sz="1200">
                <a:solidFill>
                  <a:srgbClr val="193364"/>
                </a:solidFill>
              </a:rPr>
              <a:t>Pose/factor graph optimization: </a:t>
            </a:r>
            <a:endParaRPr b="1" sz="1200">
              <a:solidFill>
                <a:srgbClr val="193364"/>
              </a:solidFill>
            </a:endParaRPr>
          </a:p>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288" name="Google Shape;288;p23"/>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Factor Graph</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grpSp>
        <p:nvGrpSpPr>
          <p:cNvPr id="289" name="Google Shape;289;p23"/>
          <p:cNvGrpSpPr/>
          <p:nvPr/>
        </p:nvGrpSpPr>
        <p:grpSpPr>
          <a:xfrm>
            <a:off x="1095318" y="4449088"/>
            <a:ext cx="712880" cy="694332"/>
            <a:chOff x="1095318" y="4449088"/>
            <a:chExt cx="712880" cy="694332"/>
          </a:xfrm>
        </p:grpSpPr>
        <p:sp>
          <p:nvSpPr>
            <p:cNvPr id="290" name="Google Shape;290;p23"/>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291" name="Google Shape;291;p23"/>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292" name="Google Shape;292;p23"/>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293" name="Google Shape;293;p23"/>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grpSp>
        <p:nvGrpSpPr>
          <p:cNvPr id="294" name="Google Shape;294;p23"/>
          <p:cNvGrpSpPr/>
          <p:nvPr/>
        </p:nvGrpSpPr>
        <p:grpSpPr>
          <a:xfrm>
            <a:off x="510072" y="2993761"/>
            <a:ext cx="3666406" cy="1087198"/>
            <a:chOff x="4679980" y="2633200"/>
            <a:chExt cx="4103880" cy="1216921"/>
          </a:xfrm>
        </p:grpSpPr>
        <p:sp>
          <p:nvSpPr>
            <p:cNvPr id="295" name="Google Shape;295;p23"/>
            <p:cNvSpPr/>
            <p:nvPr/>
          </p:nvSpPr>
          <p:spPr>
            <a:xfrm>
              <a:off x="4679980" y="3238250"/>
              <a:ext cx="535200" cy="536400"/>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sp>
          <p:nvSpPr>
            <p:cNvPr id="296" name="Google Shape;296;p23"/>
            <p:cNvSpPr/>
            <p:nvPr/>
          </p:nvSpPr>
          <p:spPr>
            <a:xfrm>
              <a:off x="6464320" y="3238250"/>
              <a:ext cx="535200" cy="536400"/>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sp>
          <p:nvSpPr>
            <p:cNvPr id="297" name="Google Shape;297;p23"/>
            <p:cNvSpPr/>
            <p:nvPr/>
          </p:nvSpPr>
          <p:spPr>
            <a:xfrm>
              <a:off x="8248660" y="3238250"/>
              <a:ext cx="535200" cy="536400"/>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cxnSp>
          <p:nvCxnSpPr>
            <p:cNvPr id="298" name="Google Shape;298;p23"/>
            <p:cNvCxnSpPr>
              <a:stCxn id="295" idx="6"/>
              <a:endCxn id="296" idx="2"/>
            </p:cNvCxnSpPr>
            <p:nvPr/>
          </p:nvCxnSpPr>
          <p:spPr>
            <a:xfrm>
              <a:off x="5215180" y="3506450"/>
              <a:ext cx="1249200" cy="0"/>
            </a:xfrm>
            <a:prstGeom prst="straightConnector1">
              <a:avLst/>
            </a:prstGeom>
            <a:noFill/>
            <a:ln cap="flat" cmpd="sng" w="8500">
              <a:solidFill>
                <a:srgbClr val="193364"/>
              </a:solidFill>
              <a:prstDash val="solid"/>
              <a:round/>
              <a:headEnd len="med" w="med" type="none"/>
              <a:tailEnd len="med" w="med" type="none"/>
            </a:ln>
          </p:spPr>
        </p:cxnSp>
        <p:cxnSp>
          <p:nvCxnSpPr>
            <p:cNvPr id="299" name="Google Shape;299;p23"/>
            <p:cNvCxnSpPr>
              <a:stCxn id="296" idx="6"/>
              <a:endCxn id="297" idx="2"/>
            </p:cNvCxnSpPr>
            <p:nvPr/>
          </p:nvCxnSpPr>
          <p:spPr>
            <a:xfrm>
              <a:off x="6999520" y="3506450"/>
              <a:ext cx="1249200" cy="0"/>
            </a:xfrm>
            <a:prstGeom prst="straightConnector1">
              <a:avLst/>
            </a:prstGeom>
            <a:noFill/>
            <a:ln cap="flat" cmpd="sng" w="8500">
              <a:solidFill>
                <a:srgbClr val="193364"/>
              </a:solidFill>
              <a:prstDash val="solid"/>
              <a:round/>
              <a:headEnd len="med" w="med" type="none"/>
              <a:tailEnd len="med" w="med" type="none"/>
            </a:ln>
          </p:spPr>
        </p:cxnSp>
        <p:sp>
          <p:nvSpPr>
            <p:cNvPr id="300" name="Google Shape;300;p23"/>
            <p:cNvSpPr/>
            <p:nvPr/>
          </p:nvSpPr>
          <p:spPr>
            <a:xfrm>
              <a:off x="5122992" y="2978752"/>
              <a:ext cx="3191104" cy="353494"/>
            </a:xfrm>
            <a:custGeom>
              <a:rect b="b" l="l" r="r" t="t"/>
              <a:pathLst>
                <a:path extrusionOk="0" h="13298" w="129273">
                  <a:moveTo>
                    <a:pt x="0" y="12144"/>
                  </a:moveTo>
                  <a:cubicBezTo>
                    <a:pt x="10629" y="10124"/>
                    <a:pt x="42226" y="-168"/>
                    <a:pt x="63771" y="24"/>
                  </a:cubicBezTo>
                  <a:cubicBezTo>
                    <a:pt x="85317" y="216"/>
                    <a:pt x="118356" y="11086"/>
                    <a:pt x="129273" y="13298"/>
                  </a:cubicBezTo>
                </a:path>
              </a:pathLst>
            </a:custGeom>
            <a:noFill/>
            <a:ln cap="flat" cmpd="sng" w="8500">
              <a:solidFill>
                <a:srgbClr val="193364"/>
              </a:solidFill>
              <a:prstDash val="solid"/>
              <a:round/>
              <a:headEnd len="med" w="med" type="none"/>
              <a:tailEnd len="med" w="med" type="none"/>
            </a:ln>
          </p:spPr>
        </p:sp>
        <p:pic>
          <p:nvPicPr>
            <p:cNvPr id="301" name="Google Shape;301;p23" title="{&quot;red&quot;:89,&quot;green&quot;:89,&quot;blue&quot;:89,&quot;origURL&quot;:&quot;https://www.codecogs.com/eqnedit.php?latex=T_1#0&quot;,&quot;size&quot;:18,&quot;width&quot;:193.70078740157481,&quot;height&quot;:158.33858267716536}"/>
            <p:cNvPicPr preferRelativeResize="0"/>
            <p:nvPr/>
          </p:nvPicPr>
          <p:blipFill>
            <a:blip r:embed="rId4">
              <a:alphaModFix/>
            </a:blip>
            <a:stretch>
              <a:fillRect/>
            </a:stretch>
          </p:blipFill>
          <p:spPr>
            <a:xfrm>
              <a:off x="4842000" y="3402000"/>
              <a:ext cx="216000" cy="216000"/>
            </a:xfrm>
            <a:prstGeom prst="rect">
              <a:avLst/>
            </a:prstGeom>
            <a:noFill/>
            <a:ln>
              <a:noFill/>
            </a:ln>
          </p:spPr>
        </p:pic>
        <p:pic>
          <p:nvPicPr>
            <p:cNvPr id="302" name="Google Shape;302;p23" title="{&quot;red&quot;:89,&quot;green&quot;:89,&quot;blue&quot;:89,&quot;origURL&quot;:&quot;https://www.codecogs.com/eqnedit.php?latex=T_2#0&quot;,&quot;size&quot;:18,&quot;width&quot;:193.70078740157481,&quot;height&quot;:158.33858267716536}"/>
            <p:cNvPicPr preferRelativeResize="0"/>
            <p:nvPr/>
          </p:nvPicPr>
          <p:blipFill>
            <a:blip r:embed="rId5">
              <a:alphaModFix/>
            </a:blip>
            <a:stretch>
              <a:fillRect/>
            </a:stretch>
          </p:blipFill>
          <p:spPr>
            <a:xfrm>
              <a:off x="6637700" y="3402838"/>
              <a:ext cx="224599" cy="214313"/>
            </a:xfrm>
            <a:prstGeom prst="rect">
              <a:avLst/>
            </a:prstGeom>
            <a:noFill/>
            <a:ln>
              <a:noFill/>
            </a:ln>
          </p:spPr>
        </p:pic>
        <p:pic>
          <p:nvPicPr>
            <p:cNvPr id="303" name="Google Shape;303;p23" title="{&quot;red&quot;:89,&quot;green&quot;:89,&quot;blue&quot;:89,&quot;origURL&quot;:&quot;https://www.codecogs.com/eqnedit.php?latex=T_3#0&quot;,&quot;size&quot;:18,&quot;width&quot;:193.70078740157481,&quot;height&quot;:158.33858267716536}"/>
            <p:cNvPicPr preferRelativeResize="0"/>
            <p:nvPr/>
          </p:nvPicPr>
          <p:blipFill>
            <a:blip r:embed="rId6">
              <a:alphaModFix/>
            </a:blip>
            <a:stretch>
              <a:fillRect/>
            </a:stretch>
          </p:blipFill>
          <p:spPr>
            <a:xfrm>
              <a:off x="8442000" y="3401125"/>
              <a:ext cx="226314" cy="217742"/>
            </a:xfrm>
            <a:prstGeom prst="rect">
              <a:avLst/>
            </a:prstGeom>
            <a:noFill/>
            <a:ln>
              <a:noFill/>
            </a:ln>
          </p:spPr>
        </p:pic>
        <p:pic>
          <p:nvPicPr>
            <p:cNvPr id="304" name="Google Shape;304;p23" title="{&quot;red&quot;:89,&quot;green&quot;:89,&quot;blue&quot;:89,&quot;origURL&quot;:&quot;https://www.codecogs.com/eqnedit.php?latex=%5Chat%7BT%7D_%7B12%7D#0&quot;,&quot;size&quot;:18,&quot;width&quot;:193.70078740157481,&quot;height&quot;:158.33858267716536}"/>
            <p:cNvPicPr preferRelativeResize="0"/>
            <p:nvPr/>
          </p:nvPicPr>
          <p:blipFill>
            <a:blip r:embed="rId7">
              <a:alphaModFix/>
            </a:blip>
            <a:stretch>
              <a:fillRect/>
            </a:stretch>
          </p:blipFill>
          <p:spPr>
            <a:xfrm>
              <a:off x="5690113" y="3565513"/>
              <a:ext cx="315468" cy="282893"/>
            </a:xfrm>
            <a:prstGeom prst="rect">
              <a:avLst/>
            </a:prstGeom>
            <a:noFill/>
            <a:ln>
              <a:noFill/>
            </a:ln>
          </p:spPr>
        </p:pic>
        <p:pic>
          <p:nvPicPr>
            <p:cNvPr id="305" name="Google Shape;305;p23" title="{&quot;red&quot;:89,&quot;green&quot;:89,&quot;blue&quot;:89,&quot;origURL&quot;:&quot;https://www.codecogs.com/eqnedit.php?latex=%5Chat%7BT%7D_%7B23%7D#0&quot;,&quot;size&quot;:18,&quot;width&quot;:193.70078740157481,&quot;height&quot;:158.33858267716536}"/>
            <p:cNvPicPr preferRelativeResize="0"/>
            <p:nvPr/>
          </p:nvPicPr>
          <p:blipFill>
            <a:blip r:embed="rId8">
              <a:alphaModFix/>
            </a:blip>
            <a:stretch>
              <a:fillRect/>
            </a:stretch>
          </p:blipFill>
          <p:spPr>
            <a:xfrm>
              <a:off x="7493550" y="3563800"/>
              <a:ext cx="317182" cy="286321"/>
            </a:xfrm>
            <a:prstGeom prst="rect">
              <a:avLst/>
            </a:prstGeom>
            <a:noFill/>
            <a:ln>
              <a:noFill/>
            </a:ln>
          </p:spPr>
        </p:pic>
        <p:pic>
          <p:nvPicPr>
            <p:cNvPr id="306" name="Google Shape;306;p23" title="{&quot;red&quot;:89,&quot;green&quot;:89,&quot;blue&quot;:89,&quot;origURL&quot;:&quot;https://www.codecogs.com/eqnedit.php?latex=%5Chat%7BT%7D_%7B13%7D#0&quot;,&quot;size&quot;:18,&quot;width&quot;:193.70078740157481,&quot;height&quot;:158.33858267716536}"/>
            <p:cNvPicPr preferRelativeResize="0"/>
            <p:nvPr/>
          </p:nvPicPr>
          <p:blipFill>
            <a:blip r:embed="rId9">
              <a:alphaModFix/>
            </a:blip>
            <a:stretch>
              <a:fillRect/>
            </a:stretch>
          </p:blipFill>
          <p:spPr>
            <a:xfrm>
              <a:off x="6591400" y="2633200"/>
              <a:ext cx="317182" cy="286322"/>
            </a:xfrm>
            <a:prstGeom prst="rect">
              <a:avLst/>
            </a:prstGeom>
            <a:noFill/>
            <a:ln>
              <a:noFill/>
            </a:ln>
          </p:spPr>
        </p:pic>
      </p:grpSp>
      <p:grpSp>
        <p:nvGrpSpPr>
          <p:cNvPr id="307" name="Google Shape;307;p23"/>
          <p:cNvGrpSpPr/>
          <p:nvPr/>
        </p:nvGrpSpPr>
        <p:grpSpPr>
          <a:xfrm>
            <a:off x="359994" y="1410275"/>
            <a:ext cx="3966549" cy="1225900"/>
            <a:chOff x="436594" y="2742175"/>
            <a:chExt cx="3966549" cy="1225900"/>
          </a:xfrm>
        </p:grpSpPr>
        <p:pic>
          <p:nvPicPr>
            <p:cNvPr id="308" name="Google Shape;308;p23"/>
            <p:cNvPicPr preferRelativeResize="0"/>
            <p:nvPr/>
          </p:nvPicPr>
          <p:blipFill rotWithShape="1">
            <a:blip r:embed="rId10">
              <a:alphaModFix/>
            </a:blip>
            <a:srcRect b="8800" l="10210" r="6171" t="9038"/>
            <a:stretch/>
          </p:blipFill>
          <p:spPr>
            <a:xfrm>
              <a:off x="436594" y="2979927"/>
              <a:ext cx="926262" cy="910111"/>
            </a:xfrm>
            <a:prstGeom prst="rect">
              <a:avLst/>
            </a:prstGeom>
            <a:noFill/>
            <a:ln>
              <a:noFill/>
            </a:ln>
          </p:spPr>
        </p:pic>
        <p:pic>
          <p:nvPicPr>
            <p:cNvPr id="309" name="Google Shape;309;p23"/>
            <p:cNvPicPr preferRelativeResize="0"/>
            <p:nvPr/>
          </p:nvPicPr>
          <p:blipFill rotWithShape="1">
            <a:blip r:embed="rId10">
              <a:alphaModFix/>
            </a:blip>
            <a:srcRect b="8800" l="10210" r="6171" t="9038"/>
            <a:stretch/>
          </p:blipFill>
          <p:spPr>
            <a:xfrm>
              <a:off x="1956738" y="2979927"/>
              <a:ext cx="926262" cy="910111"/>
            </a:xfrm>
            <a:prstGeom prst="rect">
              <a:avLst/>
            </a:prstGeom>
            <a:noFill/>
            <a:ln>
              <a:noFill/>
            </a:ln>
          </p:spPr>
        </p:pic>
        <p:pic>
          <p:nvPicPr>
            <p:cNvPr id="310" name="Google Shape;310;p23"/>
            <p:cNvPicPr preferRelativeResize="0"/>
            <p:nvPr/>
          </p:nvPicPr>
          <p:blipFill rotWithShape="1">
            <a:blip r:embed="rId10">
              <a:alphaModFix/>
            </a:blip>
            <a:srcRect b="8800" l="10210" r="6171" t="9038"/>
            <a:stretch/>
          </p:blipFill>
          <p:spPr>
            <a:xfrm>
              <a:off x="3476881" y="2979927"/>
              <a:ext cx="926262" cy="910111"/>
            </a:xfrm>
            <a:prstGeom prst="rect">
              <a:avLst/>
            </a:prstGeom>
            <a:noFill/>
            <a:ln>
              <a:noFill/>
            </a:ln>
          </p:spPr>
        </p:pic>
        <p:cxnSp>
          <p:nvCxnSpPr>
            <p:cNvPr id="311" name="Google Shape;311;p23"/>
            <p:cNvCxnSpPr>
              <a:stCxn id="308" idx="3"/>
              <a:endCxn id="309" idx="1"/>
            </p:cNvCxnSpPr>
            <p:nvPr/>
          </p:nvCxnSpPr>
          <p:spPr>
            <a:xfrm>
              <a:off x="1362856" y="3434982"/>
              <a:ext cx="594000" cy="0"/>
            </a:xfrm>
            <a:prstGeom prst="straightConnector1">
              <a:avLst/>
            </a:prstGeom>
            <a:noFill/>
            <a:ln cap="flat" cmpd="sng" w="19475">
              <a:solidFill>
                <a:schemeClr val="dk2"/>
              </a:solidFill>
              <a:prstDash val="solid"/>
              <a:round/>
              <a:headEnd len="med" w="med" type="none"/>
              <a:tailEnd len="med" w="med" type="triangle"/>
            </a:ln>
          </p:spPr>
        </p:cxnSp>
        <p:cxnSp>
          <p:nvCxnSpPr>
            <p:cNvPr id="312" name="Google Shape;312;p23"/>
            <p:cNvCxnSpPr>
              <a:stCxn id="309" idx="3"/>
              <a:endCxn id="310" idx="1"/>
            </p:cNvCxnSpPr>
            <p:nvPr/>
          </p:nvCxnSpPr>
          <p:spPr>
            <a:xfrm>
              <a:off x="2882999" y="3434982"/>
              <a:ext cx="594000" cy="0"/>
            </a:xfrm>
            <a:prstGeom prst="straightConnector1">
              <a:avLst/>
            </a:prstGeom>
            <a:noFill/>
            <a:ln cap="flat" cmpd="sng" w="19475">
              <a:solidFill>
                <a:schemeClr val="dk2"/>
              </a:solidFill>
              <a:prstDash val="solid"/>
              <a:round/>
              <a:headEnd len="med" w="med" type="none"/>
              <a:tailEnd len="med" w="med" type="triangle"/>
            </a:ln>
          </p:spPr>
        </p:cxnSp>
        <p:cxnSp>
          <p:nvCxnSpPr>
            <p:cNvPr id="313" name="Google Shape;313;p23"/>
            <p:cNvCxnSpPr/>
            <p:nvPr/>
          </p:nvCxnSpPr>
          <p:spPr>
            <a:xfrm flipH="1" rot="10800000">
              <a:off x="969721" y="2892346"/>
              <a:ext cx="2870400" cy="6000"/>
            </a:xfrm>
            <a:prstGeom prst="straightConnector1">
              <a:avLst/>
            </a:prstGeom>
            <a:noFill/>
            <a:ln cap="flat" cmpd="sng" w="19475">
              <a:solidFill>
                <a:schemeClr val="dk2"/>
              </a:solidFill>
              <a:prstDash val="solid"/>
              <a:round/>
              <a:headEnd len="med" w="med" type="none"/>
              <a:tailEnd len="med" w="med" type="triangle"/>
            </a:ln>
          </p:spPr>
        </p:cxnSp>
        <p:pic>
          <p:nvPicPr>
            <p:cNvPr id="314" name="Google Shape;314;p23" title="{&quot;red&quot;:89,&quot;green&quot;:89,&quot;blue&quot;:89,&quot;origURL&quot;:&quot;https://www.codecogs.com/eqnedit.php?latex=T_1#0&quot;,&quot;size&quot;:18,&quot;width&quot;:193.70078740157481,&quot;height&quot;:158.33858267716536}"/>
            <p:cNvPicPr preferRelativeResize="0"/>
            <p:nvPr/>
          </p:nvPicPr>
          <p:blipFill>
            <a:blip r:embed="rId4">
              <a:alphaModFix/>
            </a:blip>
            <a:stretch>
              <a:fillRect/>
            </a:stretch>
          </p:blipFill>
          <p:spPr>
            <a:xfrm>
              <a:off x="778575" y="3823063"/>
              <a:ext cx="144000" cy="144000"/>
            </a:xfrm>
            <a:prstGeom prst="rect">
              <a:avLst/>
            </a:prstGeom>
            <a:noFill/>
            <a:ln>
              <a:noFill/>
            </a:ln>
          </p:spPr>
        </p:pic>
        <p:pic>
          <p:nvPicPr>
            <p:cNvPr id="315" name="Google Shape;315;p23" title="{&quot;red&quot;:89,&quot;green&quot;:89,&quot;blue&quot;:89,&quot;origURL&quot;:&quot;https://www.codecogs.com/eqnedit.php?latex=T_2#0&quot;,&quot;size&quot;:18,&quot;width&quot;:193.70078740157481,&quot;height&quot;:158.33858267716536}"/>
            <p:cNvPicPr preferRelativeResize="0"/>
            <p:nvPr/>
          </p:nvPicPr>
          <p:blipFill>
            <a:blip r:embed="rId5">
              <a:alphaModFix/>
            </a:blip>
            <a:stretch>
              <a:fillRect/>
            </a:stretch>
          </p:blipFill>
          <p:spPr>
            <a:xfrm>
              <a:off x="2318700" y="3822375"/>
              <a:ext cx="151200" cy="145385"/>
            </a:xfrm>
            <a:prstGeom prst="rect">
              <a:avLst/>
            </a:prstGeom>
            <a:noFill/>
            <a:ln>
              <a:noFill/>
            </a:ln>
          </p:spPr>
        </p:pic>
        <p:pic>
          <p:nvPicPr>
            <p:cNvPr id="316" name="Google Shape;316;p23" title="{&quot;red&quot;:89,&quot;green&quot;:89,&quot;blue&quot;:89,&quot;origURL&quot;:&quot;https://www.codecogs.com/eqnedit.php?latex=T_3#0&quot;,&quot;size&quot;:18,&quot;width&quot;:193.70078740157481,&quot;height&quot;:158.33858267716536}"/>
            <p:cNvPicPr preferRelativeResize="0"/>
            <p:nvPr/>
          </p:nvPicPr>
          <p:blipFill>
            <a:blip r:embed="rId6">
              <a:alphaModFix/>
            </a:blip>
            <a:stretch>
              <a:fillRect/>
            </a:stretch>
          </p:blipFill>
          <p:spPr>
            <a:xfrm>
              <a:off x="3866013" y="3822038"/>
              <a:ext cx="154800" cy="146038"/>
            </a:xfrm>
            <a:prstGeom prst="rect">
              <a:avLst/>
            </a:prstGeom>
            <a:noFill/>
            <a:ln>
              <a:noFill/>
            </a:ln>
          </p:spPr>
        </p:pic>
        <p:pic>
          <p:nvPicPr>
            <p:cNvPr id="317" name="Google Shape;317;p23" title="{&quot;red&quot;:89,&quot;green&quot;:89,&quot;blue&quot;:89,&quot;origURL&quot;:&quot;https://www.codecogs.com/eqnedit.php?latex=%20a%20%3D%2030cm%20#0&quot;,&quot;size&quot;:24,&quot;width&quot;:670.9133858267717,&quot;height&quot;:269.00787401574803}"/>
            <p:cNvPicPr preferRelativeResize="0"/>
            <p:nvPr/>
          </p:nvPicPr>
          <p:blipFill>
            <a:blip r:embed="rId11">
              <a:alphaModFix/>
            </a:blip>
            <a:stretch>
              <a:fillRect/>
            </a:stretch>
          </p:blipFill>
          <p:spPr>
            <a:xfrm>
              <a:off x="1310032" y="3239772"/>
              <a:ext cx="613092" cy="104675"/>
            </a:xfrm>
            <a:prstGeom prst="rect">
              <a:avLst/>
            </a:prstGeom>
            <a:noFill/>
            <a:ln>
              <a:noFill/>
            </a:ln>
          </p:spPr>
        </p:pic>
        <p:pic>
          <p:nvPicPr>
            <p:cNvPr id="318" name="Google Shape;318;p23" title="{&quot;red&quot;:89,&quot;green&quot;:89,&quot;blue&quot;:89,&quot;origURL&quot;:&quot;https://www.codecogs.com/eqnedit.php?latex=%20b%20%3D%2030cm%20#0&quot;,&quot;size&quot;:24,&quot;width&quot;:670.9133858267717,&quot;height&quot;:269.00787401574803}"/>
            <p:cNvPicPr preferRelativeResize="0"/>
            <p:nvPr/>
          </p:nvPicPr>
          <p:blipFill>
            <a:blip r:embed="rId12">
              <a:alphaModFix/>
            </a:blip>
            <a:stretch>
              <a:fillRect/>
            </a:stretch>
          </p:blipFill>
          <p:spPr>
            <a:xfrm>
              <a:off x="2873440" y="3250383"/>
              <a:ext cx="613100" cy="112292"/>
            </a:xfrm>
            <a:prstGeom prst="rect">
              <a:avLst/>
            </a:prstGeom>
            <a:noFill/>
            <a:ln>
              <a:noFill/>
            </a:ln>
          </p:spPr>
        </p:pic>
        <p:pic>
          <p:nvPicPr>
            <p:cNvPr id="319" name="Google Shape;319;p23" title="{&quot;red&quot;:89,&quot;green&quot;:89,&quot;blue&quot;:89,&quot;origURL&quot;:&quot;https://www.codecogs.com/eqnedit.php?latex=%20c%20%3D%2050cm%20#0&quot;,&quot;size&quot;:24,&quot;width&quot;:670.9133858267717,&quot;height&quot;:269.00787401574803}"/>
            <p:cNvPicPr preferRelativeResize="0"/>
            <p:nvPr/>
          </p:nvPicPr>
          <p:blipFill>
            <a:blip r:embed="rId13">
              <a:alphaModFix/>
            </a:blip>
            <a:stretch>
              <a:fillRect/>
            </a:stretch>
          </p:blipFill>
          <p:spPr>
            <a:xfrm>
              <a:off x="2063426" y="2742175"/>
              <a:ext cx="601412" cy="104675"/>
            </a:xfrm>
            <a:prstGeom prst="rect">
              <a:avLst/>
            </a:prstGeom>
            <a:noFill/>
            <a:ln>
              <a:noFill/>
            </a:ln>
          </p:spPr>
        </p:pic>
      </p:grpSp>
      <p:pic>
        <p:nvPicPr>
          <p:cNvPr id="320" name="Google Shape;320;p23"/>
          <p:cNvPicPr preferRelativeResize="0"/>
          <p:nvPr/>
        </p:nvPicPr>
        <p:blipFill>
          <a:blip r:embed="rId14">
            <a:alphaModFix/>
          </a:blip>
          <a:stretch>
            <a:fillRect/>
          </a:stretch>
        </p:blipFill>
        <p:spPr>
          <a:xfrm>
            <a:off x="5251025" y="1506075"/>
            <a:ext cx="2259043" cy="528525"/>
          </a:xfrm>
          <a:prstGeom prst="rect">
            <a:avLst/>
          </a:prstGeom>
          <a:noFill/>
          <a:ln>
            <a:noFill/>
          </a:ln>
        </p:spPr>
      </p:pic>
      <p:graphicFrame>
        <p:nvGraphicFramePr>
          <p:cNvPr id="321" name="Google Shape;321;p23"/>
          <p:cNvGraphicFramePr/>
          <p:nvPr/>
        </p:nvGraphicFramePr>
        <p:xfrm>
          <a:off x="5316875" y="2300561"/>
          <a:ext cx="3000000" cy="3000000"/>
        </p:xfrm>
        <a:graphic>
          <a:graphicData uri="http://schemas.openxmlformats.org/drawingml/2006/table">
            <a:tbl>
              <a:tblPr>
                <a:noFill/>
                <a:tableStyleId>{1B1081EC-A0A6-41FB-9FD4-7EDB2B2B40E8}</a:tableStyleId>
              </a:tblPr>
              <a:tblGrid>
                <a:gridCol w="794700"/>
                <a:gridCol w="794700"/>
                <a:gridCol w="794700"/>
              </a:tblGrid>
              <a:tr h="259650">
                <a:tc>
                  <a:txBody>
                    <a:bodyPr/>
                    <a:lstStyle/>
                    <a:p>
                      <a:pPr indent="0" lvl="0" marL="0" rtl="0" algn="l">
                        <a:spcBef>
                          <a:spcPts val="0"/>
                        </a:spcBef>
                        <a:spcAft>
                          <a:spcPts val="0"/>
                        </a:spcAft>
                        <a:buNone/>
                      </a:pPr>
                      <a:r>
                        <a:t/>
                      </a:r>
                      <a:endParaRPr/>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r>
              <a:tr h="259650">
                <a:tc>
                  <a:txBody>
                    <a:bodyPr/>
                    <a:lstStyle/>
                    <a:p>
                      <a:pPr indent="0" lvl="0" marL="0" rtl="0" algn="ctr">
                        <a:spcBef>
                          <a:spcPts val="0"/>
                        </a:spcBef>
                        <a:spcAft>
                          <a:spcPts val="0"/>
                        </a:spcAft>
                        <a:buNone/>
                      </a:pPr>
                      <a:r>
                        <a:rPr lang="es" sz="1200"/>
                        <a:t>∞</a:t>
                      </a:r>
                      <a:endParaRPr sz="1200"/>
                    </a:p>
                  </a:txBody>
                  <a:tcPr marT="18000" marB="18000" marR="91425" marL="91425"/>
                </a:tc>
                <a:tc>
                  <a:txBody>
                    <a:bodyPr/>
                    <a:lstStyle/>
                    <a:p>
                      <a:pPr indent="0" lvl="0" marL="0" rtl="0" algn="ctr">
                        <a:spcBef>
                          <a:spcPts val="0"/>
                        </a:spcBef>
                        <a:spcAft>
                          <a:spcPts val="0"/>
                        </a:spcAft>
                        <a:buNone/>
                      </a:pPr>
                      <a:r>
                        <a:rPr lang="es" sz="1200"/>
                        <a:t>30</a:t>
                      </a:r>
                      <a:endParaRPr sz="1200"/>
                    </a:p>
                  </a:txBody>
                  <a:tcPr marT="18000" marB="18000" marR="91425" marL="91425"/>
                </a:tc>
                <a:tc>
                  <a:txBody>
                    <a:bodyPr/>
                    <a:lstStyle/>
                    <a:p>
                      <a:pPr indent="0" lvl="0" marL="0" rtl="0" algn="ctr">
                        <a:spcBef>
                          <a:spcPts val="0"/>
                        </a:spcBef>
                        <a:spcAft>
                          <a:spcPts val="0"/>
                        </a:spcAft>
                        <a:buNone/>
                      </a:pPr>
                      <a:r>
                        <a:rPr lang="es" sz="1200"/>
                        <a:t>60</a:t>
                      </a:r>
                      <a:endParaRPr sz="1200"/>
                    </a:p>
                  </a:txBody>
                  <a:tcPr marT="18000" marB="18000" marR="91425" marL="91425"/>
                </a:tc>
              </a:tr>
              <a:tr h="259650">
                <a:tc>
                  <a:txBody>
                    <a:bodyPr/>
                    <a:lstStyle/>
                    <a:p>
                      <a:pPr indent="0" lvl="0" marL="0" rtl="0" algn="ctr">
                        <a:spcBef>
                          <a:spcPts val="0"/>
                        </a:spcBef>
                        <a:spcAft>
                          <a:spcPts val="0"/>
                        </a:spcAft>
                        <a:buNone/>
                      </a:pPr>
                      <a:r>
                        <a:rPr lang="es" sz="1200"/>
                        <a:t>2</a:t>
                      </a:r>
                      <a:endParaRPr sz="1200"/>
                    </a:p>
                  </a:txBody>
                  <a:tcPr marT="0" marB="0" marR="91425" marL="91425"/>
                </a:tc>
                <a:tc>
                  <a:txBody>
                    <a:bodyPr/>
                    <a:lstStyle/>
                    <a:p>
                      <a:pPr indent="0" lvl="0" marL="0" rtl="0" algn="ctr">
                        <a:spcBef>
                          <a:spcPts val="0"/>
                        </a:spcBef>
                        <a:spcAft>
                          <a:spcPts val="0"/>
                        </a:spcAft>
                        <a:buNone/>
                      </a:pPr>
                      <a:r>
                        <a:t/>
                      </a:r>
                      <a:endParaRPr sz="1200"/>
                    </a:p>
                  </a:txBody>
                  <a:tcPr marT="18000" marB="18000" marR="91425" marL="91425"/>
                </a:tc>
                <a:tc>
                  <a:txBody>
                    <a:bodyPr/>
                    <a:lstStyle/>
                    <a:p>
                      <a:pPr indent="0" lvl="0" marL="0" rtl="0" algn="ctr">
                        <a:spcBef>
                          <a:spcPts val="0"/>
                        </a:spcBef>
                        <a:spcAft>
                          <a:spcPts val="0"/>
                        </a:spcAft>
                        <a:buNone/>
                      </a:pPr>
                      <a:r>
                        <a:t/>
                      </a:r>
                      <a:endParaRPr sz="1200"/>
                    </a:p>
                  </a:txBody>
                  <a:tcPr marT="18000" marB="18000" marR="91425" marL="91425"/>
                </a:tc>
              </a:tr>
              <a:tr h="259650">
                <a:tc>
                  <a:txBody>
                    <a:bodyPr/>
                    <a:lstStyle/>
                    <a:p>
                      <a:pPr indent="0" lvl="0" marL="0" rtl="0" algn="ctr">
                        <a:spcBef>
                          <a:spcPts val="0"/>
                        </a:spcBef>
                        <a:spcAft>
                          <a:spcPts val="0"/>
                        </a:spcAft>
                        <a:buNone/>
                      </a:pPr>
                      <a:r>
                        <a:rPr lang="es" sz="1200"/>
                        <a:t>1.5</a:t>
                      </a:r>
                      <a:endParaRPr sz="1200"/>
                    </a:p>
                  </a:txBody>
                  <a:tcPr marT="18000" marB="18000" marR="91425" marL="91425"/>
                </a:tc>
                <a:tc>
                  <a:txBody>
                    <a:bodyPr/>
                    <a:lstStyle/>
                    <a:p>
                      <a:pPr indent="0" lvl="0" marL="0" rtl="0" algn="ctr">
                        <a:spcBef>
                          <a:spcPts val="0"/>
                        </a:spcBef>
                        <a:spcAft>
                          <a:spcPts val="0"/>
                        </a:spcAft>
                        <a:buNone/>
                      </a:pPr>
                      <a:r>
                        <a:t/>
                      </a:r>
                      <a:endParaRPr sz="1200"/>
                    </a:p>
                  </a:txBody>
                  <a:tcPr marT="18000" marB="18000" marR="91425" marL="91425"/>
                </a:tc>
                <a:tc>
                  <a:txBody>
                    <a:bodyPr/>
                    <a:lstStyle/>
                    <a:p>
                      <a:pPr indent="0" lvl="0" marL="0" rtl="0" algn="ctr">
                        <a:spcBef>
                          <a:spcPts val="0"/>
                        </a:spcBef>
                        <a:spcAft>
                          <a:spcPts val="0"/>
                        </a:spcAft>
                        <a:buNone/>
                      </a:pPr>
                      <a:r>
                        <a:t/>
                      </a:r>
                      <a:endParaRPr sz="1200"/>
                    </a:p>
                  </a:txBody>
                  <a:tcPr marT="18000" marB="18000" marR="91425" marL="91425"/>
                </a:tc>
              </a:tr>
              <a:tr h="259650">
                <a:tc>
                  <a:txBody>
                    <a:bodyPr/>
                    <a:lstStyle/>
                    <a:p>
                      <a:pPr indent="0" lvl="0" marL="0" rtl="0" algn="ctr">
                        <a:spcBef>
                          <a:spcPts val="0"/>
                        </a:spcBef>
                        <a:spcAft>
                          <a:spcPts val="0"/>
                        </a:spcAft>
                        <a:buNone/>
                      </a:pPr>
                      <a:r>
                        <a:rPr lang="es" sz="1200"/>
                        <a:t>1</a:t>
                      </a:r>
                      <a:endParaRPr sz="1200"/>
                    </a:p>
                  </a:txBody>
                  <a:tcPr marT="18000" marB="18000" marR="91425" marL="91425"/>
                </a:tc>
                <a:tc>
                  <a:txBody>
                    <a:bodyPr/>
                    <a:lstStyle/>
                    <a:p>
                      <a:pPr indent="0" lvl="0" marL="0" rtl="0" algn="ctr">
                        <a:spcBef>
                          <a:spcPts val="0"/>
                        </a:spcBef>
                        <a:spcAft>
                          <a:spcPts val="0"/>
                        </a:spcAft>
                        <a:buNone/>
                      </a:pPr>
                      <a:r>
                        <a:t/>
                      </a:r>
                      <a:endParaRPr sz="1200"/>
                    </a:p>
                  </a:txBody>
                  <a:tcPr marT="18000" marB="18000" marR="91425" marL="91425"/>
                </a:tc>
                <a:tc>
                  <a:txBody>
                    <a:bodyPr/>
                    <a:lstStyle/>
                    <a:p>
                      <a:pPr indent="0" lvl="0" marL="0" rtl="0" algn="ctr">
                        <a:spcBef>
                          <a:spcPts val="0"/>
                        </a:spcBef>
                        <a:spcAft>
                          <a:spcPts val="0"/>
                        </a:spcAft>
                        <a:buNone/>
                      </a:pPr>
                      <a:r>
                        <a:t/>
                      </a:r>
                      <a:endParaRPr sz="1200"/>
                    </a:p>
                  </a:txBody>
                  <a:tcPr marT="18000" marB="18000" marR="91425" marL="91425"/>
                </a:tc>
              </a:tr>
              <a:tr h="259650">
                <a:tc>
                  <a:txBody>
                    <a:bodyPr/>
                    <a:lstStyle/>
                    <a:p>
                      <a:pPr indent="0" lvl="0" marL="0" rtl="0" algn="ctr">
                        <a:spcBef>
                          <a:spcPts val="0"/>
                        </a:spcBef>
                        <a:spcAft>
                          <a:spcPts val="0"/>
                        </a:spcAft>
                        <a:buNone/>
                      </a:pPr>
                      <a:r>
                        <a:rPr lang="es" sz="1200"/>
                        <a:t>0.5</a:t>
                      </a:r>
                      <a:endParaRPr sz="1200"/>
                    </a:p>
                  </a:txBody>
                  <a:tcPr marT="18000" marB="18000" marR="91425" marL="91425"/>
                </a:tc>
                <a:tc>
                  <a:txBody>
                    <a:bodyPr/>
                    <a:lstStyle/>
                    <a:p>
                      <a:pPr indent="0" lvl="0" marL="0" rtl="0" algn="ctr">
                        <a:spcBef>
                          <a:spcPts val="0"/>
                        </a:spcBef>
                        <a:spcAft>
                          <a:spcPts val="0"/>
                        </a:spcAft>
                        <a:buNone/>
                      </a:pPr>
                      <a:r>
                        <a:t/>
                      </a:r>
                      <a:endParaRPr sz="1200"/>
                    </a:p>
                  </a:txBody>
                  <a:tcPr marT="18000" marB="18000" marR="91425" marL="91425"/>
                </a:tc>
                <a:tc>
                  <a:txBody>
                    <a:bodyPr/>
                    <a:lstStyle/>
                    <a:p>
                      <a:pPr indent="0" lvl="0" marL="0" rtl="0" algn="ctr">
                        <a:spcBef>
                          <a:spcPts val="0"/>
                        </a:spcBef>
                        <a:spcAft>
                          <a:spcPts val="0"/>
                        </a:spcAft>
                        <a:buNone/>
                      </a:pPr>
                      <a:r>
                        <a:t/>
                      </a:r>
                      <a:endParaRPr sz="1200"/>
                    </a:p>
                  </a:txBody>
                  <a:tcPr marT="18000" marB="18000" marR="91425" marL="91425"/>
                </a:tc>
              </a:tr>
              <a:tr h="259650">
                <a:tc>
                  <a:txBody>
                    <a:bodyPr/>
                    <a:lstStyle/>
                    <a:p>
                      <a:pPr indent="0" lvl="0" marL="0" rtl="0" algn="ctr">
                        <a:spcBef>
                          <a:spcPts val="0"/>
                        </a:spcBef>
                        <a:spcAft>
                          <a:spcPts val="0"/>
                        </a:spcAft>
                        <a:buNone/>
                      </a:pPr>
                      <a:r>
                        <a:rPr lang="es" sz="1200"/>
                        <a:t>0</a:t>
                      </a:r>
                      <a:endParaRPr sz="1200"/>
                    </a:p>
                  </a:txBody>
                  <a:tcPr marT="18000" marB="18000" marR="91425" marL="91425"/>
                </a:tc>
                <a:tc>
                  <a:txBody>
                    <a:bodyPr/>
                    <a:lstStyle/>
                    <a:p>
                      <a:pPr indent="0" lvl="0" marL="0" rtl="0" algn="ctr">
                        <a:spcBef>
                          <a:spcPts val="0"/>
                        </a:spcBef>
                        <a:spcAft>
                          <a:spcPts val="0"/>
                        </a:spcAft>
                        <a:buNone/>
                      </a:pPr>
                      <a:r>
                        <a:t/>
                      </a:r>
                      <a:endParaRPr sz="1200"/>
                    </a:p>
                  </a:txBody>
                  <a:tcPr marT="18000" marB="18000" marR="91425" marL="91425"/>
                </a:tc>
                <a:tc>
                  <a:txBody>
                    <a:bodyPr/>
                    <a:lstStyle/>
                    <a:p>
                      <a:pPr indent="0" lvl="0" marL="0" rtl="0" algn="ctr">
                        <a:spcBef>
                          <a:spcPts val="0"/>
                        </a:spcBef>
                        <a:spcAft>
                          <a:spcPts val="0"/>
                        </a:spcAft>
                        <a:buNone/>
                      </a:pPr>
                      <a:r>
                        <a:t/>
                      </a:r>
                      <a:endParaRPr sz="1200"/>
                    </a:p>
                  </a:txBody>
                  <a:tcPr marT="18000" marB="18000" marR="91425" marL="91425"/>
                </a:tc>
              </a:tr>
            </a:tbl>
          </a:graphicData>
        </a:graphic>
      </p:graphicFrame>
      <p:sp>
        <p:nvSpPr>
          <p:cNvPr id="322" name="Google Shape;322;p23"/>
          <p:cNvSpPr txBox="1"/>
          <p:nvPr/>
        </p:nvSpPr>
        <p:spPr>
          <a:xfrm>
            <a:off x="3837775" y="339050"/>
            <a:ext cx="2344500" cy="12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323" name="Google Shape;323;p23" title="{&quot;red&quot;:89,&quot;green&quot;:89,&quot;blue&quot;:89,&quot;origURL&quot;:&quot;https://www.codecogs.com/eqnedit.php?latex=%5Clambda#0&quot;,&quot;size&quot;:18,&quot;width&quot;:184.60629921259843,&quot;height&quot;:100.53543307086615}"/>
          <p:cNvPicPr preferRelativeResize="0"/>
          <p:nvPr/>
        </p:nvPicPr>
        <p:blipFill>
          <a:blip r:embed="rId15">
            <a:alphaModFix/>
          </a:blip>
          <a:stretch>
            <a:fillRect/>
          </a:stretch>
        </p:blipFill>
        <p:spPr>
          <a:xfrm>
            <a:off x="5634050" y="2338832"/>
            <a:ext cx="125158" cy="181737"/>
          </a:xfrm>
          <a:prstGeom prst="rect">
            <a:avLst/>
          </a:prstGeom>
          <a:noFill/>
          <a:ln>
            <a:noFill/>
          </a:ln>
        </p:spPr>
      </p:pic>
      <p:pic>
        <p:nvPicPr>
          <p:cNvPr id="324" name="Google Shape;324;p23" title="{&quot;red&quot;:89,&quot;green&quot;:89,&quot;blue&quot;:89,&quot;origURL&quot;:&quot;https://www.codecogs.com/eqnedit.php?latex=T_2#0&quot;,&quot;size&quot;:18,&quot;width&quot;:184.60629921259843,&quot;height&quot;:100.53543307086615}"/>
          <p:cNvPicPr preferRelativeResize="0"/>
          <p:nvPr/>
        </p:nvPicPr>
        <p:blipFill>
          <a:blip r:embed="rId5">
            <a:alphaModFix/>
          </a:blip>
          <a:stretch>
            <a:fillRect/>
          </a:stretch>
        </p:blipFill>
        <p:spPr>
          <a:xfrm>
            <a:off x="6362650" y="2329746"/>
            <a:ext cx="224599" cy="214313"/>
          </a:xfrm>
          <a:prstGeom prst="rect">
            <a:avLst/>
          </a:prstGeom>
          <a:noFill/>
          <a:ln>
            <a:noFill/>
          </a:ln>
        </p:spPr>
      </p:pic>
      <p:pic>
        <p:nvPicPr>
          <p:cNvPr id="325" name="Google Shape;325;p23" title="{&quot;red&quot;:89,&quot;green&quot;:89,&quot;blue&quot;:89,&quot;origURL&quot;:&quot;https://www.codecogs.com/eqnedit.php?latex=T_3#0&quot;,&quot;size&quot;:18,&quot;width&quot;:184.60629921259843,&quot;height&quot;:100.53543307086615}"/>
          <p:cNvPicPr preferRelativeResize="0"/>
          <p:nvPr/>
        </p:nvPicPr>
        <p:blipFill>
          <a:blip r:embed="rId6">
            <a:alphaModFix/>
          </a:blip>
          <a:stretch>
            <a:fillRect/>
          </a:stretch>
        </p:blipFill>
        <p:spPr>
          <a:xfrm>
            <a:off x="7235525" y="2328033"/>
            <a:ext cx="226314" cy="217742"/>
          </a:xfrm>
          <a:prstGeom prst="rect">
            <a:avLst/>
          </a:prstGeom>
          <a:noFill/>
          <a:ln>
            <a:noFill/>
          </a:ln>
        </p:spPr>
      </p:pic>
      <p:sp>
        <p:nvSpPr>
          <p:cNvPr id="326" name="Google Shape;326;p23"/>
          <p:cNvSpPr txBox="1"/>
          <p:nvPr/>
        </p:nvSpPr>
        <p:spPr>
          <a:xfrm>
            <a:off x="3966775" y="4645975"/>
            <a:ext cx="36006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*Courtesy of Maani Ghaffari, Ryan Eustice, Frank Dellaert, Michael Kaess, Cyrill Stachniss, Pranav Ganti, Luca Carlone</a:t>
            </a:r>
            <a:endParaRPr sz="8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4"/>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457200" lvl="0" marL="3657600" rtl="0" algn="just">
              <a:spcBef>
                <a:spcPts val="0"/>
              </a:spcBef>
              <a:spcAft>
                <a:spcPts val="0"/>
              </a:spcAft>
              <a:buNone/>
            </a:pPr>
            <a:r>
              <a:rPr b="1" lang="es" sz="1200">
                <a:solidFill>
                  <a:srgbClr val="193364"/>
                </a:solidFill>
              </a:rPr>
              <a:t>Pose/factor graph optimization: </a:t>
            </a:r>
            <a:endParaRPr b="1" sz="1200">
              <a:solidFill>
                <a:srgbClr val="193364"/>
              </a:solidFill>
            </a:endParaRPr>
          </a:p>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332" name="Google Shape;332;p24"/>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Factor Graph</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grpSp>
        <p:nvGrpSpPr>
          <p:cNvPr id="333" name="Google Shape;333;p24"/>
          <p:cNvGrpSpPr/>
          <p:nvPr/>
        </p:nvGrpSpPr>
        <p:grpSpPr>
          <a:xfrm>
            <a:off x="1095318" y="4449088"/>
            <a:ext cx="712880" cy="694332"/>
            <a:chOff x="1095318" y="4449088"/>
            <a:chExt cx="712880" cy="694332"/>
          </a:xfrm>
        </p:grpSpPr>
        <p:sp>
          <p:nvSpPr>
            <p:cNvPr id="334" name="Google Shape;334;p24"/>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335" name="Google Shape;335;p24"/>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336" name="Google Shape;336;p24"/>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337" name="Google Shape;337;p24"/>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grpSp>
        <p:nvGrpSpPr>
          <p:cNvPr id="338" name="Google Shape;338;p24"/>
          <p:cNvGrpSpPr/>
          <p:nvPr/>
        </p:nvGrpSpPr>
        <p:grpSpPr>
          <a:xfrm>
            <a:off x="510072" y="2993761"/>
            <a:ext cx="3666406" cy="1087198"/>
            <a:chOff x="4679980" y="2633200"/>
            <a:chExt cx="4103880" cy="1216921"/>
          </a:xfrm>
        </p:grpSpPr>
        <p:sp>
          <p:nvSpPr>
            <p:cNvPr id="339" name="Google Shape;339;p24"/>
            <p:cNvSpPr/>
            <p:nvPr/>
          </p:nvSpPr>
          <p:spPr>
            <a:xfrm>
              <a:off x="4679980" y="3238250"/>
              <a:ext cx="535200" cy="536400"/>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sp>
          <p:nvSpPr>
            <p:cNvPr id="340" name="Google Shape;340;p24"/>
            <p:cNvSpPr/>
            <p:nvPr/>
          </p:nvSpPr>
          <p:spPr>
            <a:xfrm>
              <a:off x="6464320" y="3238250"/>
              <a:ext cx="535200" cy="536400"/>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sp>
          <p:nvSpPr>
            <p:cNvPr id="341" name="Google Shape;341;p24"/>
            <p:cNvSpPr/>
            <p:nvPr/>
          </p:nvSpPr>
          <p:spPr>
            <a:xfrm>
              <a:off x="8248660" y="3238250"/>
              <a:ext cx="535200" cy="536400"/>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cxnSp>
          <p:nvCxnSpPr>
            <p:cNvPr id="342" name="Google Shape;342;p24"/>
            <p:cNvCxnSpPr>
              <a:stCxn id="339" idx="6"/>
              <a:endCxn id="340" idx="2"/>
            </p:cNvCxnSpPr>
            <p:nvPr/>
          </p:nvCxnSpPr>
          <p:spPr>
            <a:xfrm>
              <a:off x="5215180" y="3506450"/>
              <a:ext cx="1249200" cy="0"/>
            </a:xfrm>
            <a:prstGeom prst="straightConnector1">
              <a:avLst/>
            </a:prstGeom>
            <a:noFill/>
            <a:ln cap="flat" cmpd="sng" w="8500">
              <a:solidFill>
                <a:srgbClr val="193364"/>
              </a:solidFill>
              <a:prstDash val="solid"/>
              <a:round/>
              <a:headEnd len="med" w="med" type="none"/>
              <a:tailEnd len="med" w="med" type="none"/>
            </a:ln>
          </p:spPr>
        </p:cxnSp>
        <p:cxnSp>
          <p:nvCxnSpPr>
            <p:cNvPr id="343" name="Google Shape;343;p24"/>
            <p:cNvCxnSpPr>
              <a:stCxn id="340" idx="6"/>
              <a:endCxn id="341" idx="2"/>
            </p:cNvCxnSpPr>
            <p:nvPr/>
          </p:nvCxnSpPr>
          <p:spPr>
            <a:xfrm>
              <a:off x="6999520" y="3506450"/>
              <a:ext cx="1249200" cy="0"/>
            </a:xfrm>
            <a:prstGeom prst="straightConnector1">
              <a:avLst/>
            </a:prstGeom>
            <a:noFill/>
            <a:ln cap="flat" cmpd="sng" w="8500">
              <a:solidFill>
                <a:srgbClr val="193364"/>
              </a:solidFill>
              <a:prstDash val="solid"/>
              <a:round/>
              <a:headEnd len="med" w="med" type="none"/>
              <a:tailEnd len="med" w="med" type="none"/>
            </a:ln>
          </p:spPr>
        </p:cxnSp>
        <p:sp>
          <p:nvSpPr>
            <p:cNvPr id="344" name="Google Shape;344;p24"/>
            <p:cNvSpPr/>
            <p:nvPr/>
          </p:nvSpPr>
          <p:spPr>
            <a:xfrm>
              <a:off x="5122992" y="2978752"/>
              <a:ext cx="3191104" cy="353494"/>
            </a:xfrm>
            <a:custGeom>
              <a:rect b="b" l="l" r="r" t="t"/>
              <a:pathLst>
                <a:path extrusionOk="0" h="13298" w="129273">
                  <a:moveTo>
                    <a:pt x="0" y="12144"/>
                  </a:moveTo>
                  <a:cubicBezTo>
                    <a:pt x="10629" y="10124"/>
                    <a:pt x="42226" y="-168"/>
                    <a:pt x="63771" y="24"/>
                  </a:cubicBezTo>
                  <a:cubicBezTo>
                    <a:pt x="85317" y="216"/>
                    <a:pt x="118356" y="11086"/>
                    <a:pt x="129273" y="13298"/>
                  </a:cubicBezTo>
                </a:path>
              </a:pathLst>
            </a:custGeom>
            <a:noFill/>
            <a:ln cap="flat" cmpd="sng" w="8500">
              <a:solidFill>
                <a:srgbClr val="193364"/>
              </a:solidFill>
              <a:prstDash val="solid"/>
              <a:round/>
              <a:headEnd len="med" w="med" type="none"/>
              <a:tailEnd len="med" w="med" type="none"/>
            </a:ln>
          </p:spPr>
        </p:sp>
        <p:pic>
          <p:nvPicPr>
            <p:cNvPr id="345" name="Google Shape;345;p24" title="{&quot;red&quot;:89,&quot;green&quot;:89,&quot;blue&quot;:89,&quot;origURL&quot;:&quot;https://www.codecogs.com/eqnedit.php?latex=T_1#0&quot;,&quot;size&quot;:18,&quot;width&quot;:193.70078740157481,&quot;height&quot;:158.33858267716536}"/>
            <p:cNvPicPr preferRelativeResize="0"/>
            <p:nvPr/>
          </p:nvPicPr>
          <p:blipFill>
            <a:blip r:embed="rId4">
              <a:alphaModFix/>
            </a:blip>
            <a:stretch>
              <a:fillRect/>
            </a:stretch>
          </p:blipFill>
          <p:spPr>
            <a:xfrm>
              <a:off x="4842000" y="3402000"/>
              <a:ext cx="216000" cy="216000"/>
            </a:xfrm>
            <a:prstGeom prst="rect">
              <a:avLst/>
            </a:prstGeom>
            <a:noFill/>
            <a:ln>
              <a:noFill/>
            </a:ln>
          </p:spPr>
        </p:pic>
        <p:pic>
          <p:nvPicPr>
            <p:cNvPr id="346" name="Google Shape;346;p24" title="{&quot;red&quot;:89,&quot;green&quot;:89,&quot;blue&quot;:89,&quot;origURL&quot;:&quot;https://www.codecogs.com/eqnedit.php?latex=T_2#0&quot;,&quot;size&quot;:18,&quot;width&quot;:193.70078740157481,&quot;height&quot;:158.33858267716536}"/>
            <p:cNvPicPr preferRelativeResize="0"/>
            <p:nvPr/>
          </p:nvPicPr>
          <p:blipFill>
            <a:blip r:embed="rId5">
              <a:alphaModFix/>
            </a:blip>
            <a:stretch>
              <a:fillRect/>
            </a:stretch>
          </p:blipFill>
          <p:spPr>
            <a:xfrm>
              <a:off x="6637700" y="3402838"/>
              <a:ext cx="224599" cy="214313"/>
            </a:xfrm>
            <a:prstGeom prst="rect">
              <a:avLst/>
            </a:prstGeom>
            <a:noFill/>
            <a:ln>
              <a:noFill/>
            </a:ln>
          </p:spPr>
        </p:pic>
        <p:pic>
          <p:nvPicPr>
            <p:cNvPr id="347" name="Google Shape;347;p24" title="{&quot;red&quot;:89,&quot;green&quot;:89,&quot;blue&quot;:89,&quot;origURL&quot;:&quot;https://www.codecogs.com/eqnedit.php?latex=T_3#0&quot;,&quot;size&quot;:18,&quot;width&quot;:193.70078740157481,&quot;height&quot;:158.33858267716536}"/>
            <p:cNvPicPr preferRelativeResize="0"/>
            <p:nvPr/>
          </p:nvPicPr>
          <p:blipFill>
            <a:blip r:embed="rId6">
              <a:alphaModFix/>
            </a:blip>
            <a:stretch>
              <a:fillRect/>
            </a:stretch>
          </p:blipFill>
          <p:spPr>
            <a:xfrm>
              <a:off x="8442000" y="3401125"/>
              <a:ext cx="226314" cy="217742"/>
            </a:xfrm>
            <a:prstGeom prst="rect">
              <a:avLst/>
            </a:prstGeom>
            <a:noFill/>
            <a:ln>
              <a:noFill/>
            </a:ln>
          </p:spPr>
        </p:pic>
        <p:pic>
          <p:nvPicPr>
            <p:cNvPr id="348" name="Google Shape;348;p24" title="{&quot;red&quot;:89,&quot;green&quot;:89,&quot;blue&quot;:89,&quot;origURL&quot;:&quot;https://www.codecogs.com/eqnedit.php?latex=%5Chat%7BT%7D_%7B12%7D#0&quot;,&quot;size&quot;:18,&quot;width&quot;:193.70078740157481,&quot;height&quot;:158.33858267716536}"/>
            <p:cNvPicPr preferRelativeResize="0"/>
            <p:nvPr/>
          </p:nvPicPr>
          <p:blipFill>
            <a:blip r:embed="rId7">
              <a:alphaModFix/>
            </a:blip>
            <a:stretch>
              <a:fillRect/>
            </a:stretch>
          </p:blipFill>
          <p:spPr>
            <a:xfrm>
              <a:off x="5690113" y="3565513"/>
              <a:ext cx="315468" cy="282893"/>
            </a:xfrm>
            <a:prstGeom prst="rect">
              <a:avLst/>
            </a:prstGeom>
            <a:noFill/>
            <a:ln>
              <a:noFill/>
            </a:ln>
          </p:spPr>
        </p:pic>
        <p:pic>
          <p:nvPicPr>
            <p:cNvPr id="349" name="Google Shape;349;p24" title="{&quot;red&quot;:89,&quot;green&quot;:89,&quot;blue&quot;:89,&quot;origURL&quot;:&quot;https://www.codecogs.com/eqnedit.php?latex=%5Chat%7BT%7D_%7B23%7D#0&quot;,&quot;size&quot;:18,&quot;width&quot;:193.70078740157481,&quot;height&quot;:158.33858267716536}"/>
            <p:cNvPicPr preferRelativeResize="0"/>
            <p:nvPr/>
          </p:nvPicPr>
          <p:blipFill>
            <a:blip r:embed="rId8">
              <a:alphaModFix/>
            </a:blip>
            <a:stretch>
              <a:fillRect/>
            </a:stretch>
          </p:blipFill>
          <p:spPr>
            <a:xfrm>
              <a:off x="7493550" y="3563800"/>
              <a:ext cx="317182" cy="286321"/>
            </a:xfrm>
            <a:prstGeom prst="rect">
              <a:avLst/>
            </a:prstGeom>
            <a:noFill/>
            <a:ln>
              <a:noFill/>
            </a:ln>
          </p:spPr>
        </p:pic>
        <p:pic>
          <p:nvPicPr>
            <p:cNvPr id="350" name="Google Shape;350;p24" title="{&quot;red&quot;:89,&quot;green&quot;:89,&quot;blue&quot;:89,&quot;origURL&quot;:&quot;https://www.codecogs.com/eqnedit.php?latex=%5Chat%7BT%7D_%7B13%7D#0&quot;,&quot;size&quot;:18,&quot;width&quot;:193.70078740157481,&quot;height&quot;:158.33858267716536}"/>
            <p:cNvPicPr preferRelativeResize="0"/>
            <p:nvPr/>
          </p:nvPicPr>
          <p:blipFill>
            <a:blip r:embed="rId9">
              <a:alphaModFix/>
            </a:blip>
            <a:stretch>
              <a:fillRect/>
            </a:stretch>
          </p:blipFill>
          <p:spPr>
            <a:xfrm>
              <a:off x="6591400" y="2633200"/>
              <a:ext cx="317182" cy="286322"/>
            </a:xfrm>
            <a:prstGeom prst="rect">
              <a:avLst/>
            </a:prstGeom>
            <a:noFill/>
            <a:ln>
              <a:noFill/>
            </a:ln>
          </p:spPr>
        </p:pic>
      </p:grpSp>
      <p:grpSp>
        <p:nvGrpSpPr>
          <p:cNvPr id="351" name="Google Shape;351;p24"/>
          <p:cNvGrpSpPr/>
          <p:nvPr/>
        </p:nvGrpSpPr>
        <p:grpSpPr>
          <a:xfrm>
            <a:off x="359994" y="1410275"/>
            <a:ext cx="3966549" cy="1225900"/>
            <a:chOff x="436594" y="2742175"/>
            <a:chExt cx="3966549" cy="1225900"/>
          </a:xfrm>
        </p:grpSpPr>
        <p:pic>
          <p:nvPicPr>
            <p:cNvPr id="352" name="Google Shape;352;p24"/>
            <p:cNvPicPr preferRelativeResize="0"/>
            <p:nvPr/>
          </p:nvPicPr>
          <p:blipFill rotWithShape="1">
            <a:blip r:embed="rId10">
              <a:alphaModFix/>
            </a:blip>
            <a:srcRect b="8800" l="10210" r="6171" t="9038"/>
            <a:stretch/>
          </p:blipFill>
          <p:spPr>
            <a:xfrm>
              <a:off x="436594" y="2979927"/>
              <a:ext cx="926262" cy="910111"/>
            </a:xfrm>
            <a:prstGeom prst="rect">
              <a:avLst/>
            </a:prstGeom>
            <a:noFill/>
            <a:ln>
              <a:noFill/>
            </a:ln>
          </p:spPr>
        </p:pic>
        <p:pic>
          <p:nvPicPr>
            <p:cNvPr id="353" name="Google Shape;353;p24"/>
            <p:cNvPicPr preferRelativeResize="0"/>
            <p:nvPr/>
          </p:nvPicPr>
          <p:blipFill rotWithShape="1">
            <a:blip r:embed="rId10">
              <a:alphaModFix/>
            </a:blip>
            <a:srcRect b="8800" l="10210" r="6171" t="9038"/>
            <a:stretch/>
          </p:blipFill>
          <p:spPr>
            <a:xfrm>
              <a:off x="1956738" y="2979927"/>
              <a:ext cx="926262" cy="910111"/>
            </a:xfrm>
            <a:prstGeom prst="rect">
              <a:avLst/>
            </a:prstGeom>
            <a:noFill/>
            <a:ln>
              <a:noFill/>
            </a:ln>
          </p:spPr>
        </p:pic>
        <p:pic>
          <p:nvPicPr>
            <p:cNvPr id="354" name="Google Shape;354;p24"/>
            <p:cNvPicPr preferRelativeResize="0"/>
            <p:nvPr/>
          </p:nvPicPr>
          <p:blipFill rotWithShape="1">
            <a:blip r:embed="rId10">
              <a:alphaModFix/>
            </a:blip>
            <a:srcRect b="8800" l="10210" r="6171" t="9038"/>
            <a:stretch/>
          </p:blipFill>
          <p:spPr>
            <a:xfrm>
              <a:off x="3476881" y="2979927"/>
              <a:ext cx="926262" cy="910111"/>
            </a:xfrm>
            <a:prstGeom prst="rect">
              <a:avLst/>
            </a:prstGeom>
            <a:noFill/>
            <a:ln>
              <a:noFill/>
            </a:ln>
          </p:spPr>
        </p:pic>
        <p:cxnSp>
          <p:nvCxnSpPr>
            <p:cNvPr id="355" name="Google Shape;355;p24"/>
            <p:cNvCxnSpPr>
              <a:stCxn id="352" idx="3"/>
              <a:endCxn id="353" idx="1"/>
            </p:cNvCxnSpPr>
            <p:nvPr/>
          </p:nvCxnSpPr>
          <p:spPr>
            <a:xfrm>
              <a:off x="1362856" y="3434982"/>
              <a:ext cx="594000" cy="0"/>
            </a:xfrm>
            <a:prstGeom prst="straightConnector1">
              <a:avLst/>
            </a:prstGeom>
            <a:noFill/>
            <a:ln cap="flat" cmpd="sng" w="19475">
              <a:solidFill>
                <a:schemeClr val="dk2"/>
              </a:solidFill>
              <a:prstDash val="solid"/>
              <a:round/>
              <a:headEnd len="med" w="med" type="none"/>
              <a:tailEnd len="med" w="med" type="triangle"/>
            </a:ln>
          </p:spPr>
        </p:cxnSp>
        <p:cxnSp>
          <p:nvCxnSpPr>
            <p:cNvPr id="356" name="Google Shape;356;p24"/>
            <p:cNvCxnSpPr>
              <a:stCxn id="353" idx="3"/>
              <a:endCxn id="354" idx="1"/>
            </p:cNvCxnSpPr>
            <p:nvPr/>
          </p:nvCxnSpPr>
          <p:spPr>
            <a:xfrm>
              <a:off x="2882999" y="3434982"/>
              <a:ext cx="594000" cy="0"/>
            </a:xfrm>
            <a:prstGeom prst="straightConnector1">
              <a:avLst/>
            </a:prstGeom>
            <a:noFill/>
            <a:ln cap="flat" cmpd="sng" w="19475">
              <a:solidFill>
                <a:schemeClr val="dk2"/>
              </a:solidFill>
              <a:prstDash val="solid"/>
              <a:round/>
              <a:headEnd len="med" w="med" type="none"/>
              <a:tailEnd len="med" w="med" type="triangle"/>
            </a:ln>
          </p:spPr>
        </p:cxnSp>
        <p:cxnSp>
          <p:nvCxnSpPr>
            <p:cNvPr id="357" name="Google Shape;357;p24"/>
            <p:cNvCxnSpPr/>
            <p:nvPr/>
          </p:nvCxnSpPr>
          <p:spPr>
            <a:xfrm flipH="1" rot="10800000">
              <a:off x="969721" y="2892346"/>
              <a:ext cx="2870400" cy="6000"/>
            </a:xfrm>
            <a:prstGeom prst="straightConnector1">
              <a:avLst/>
            </a:prstGeom>
            <a:noFill/>
            <a:ln cap="flat" cmpd="sng" w="19475">
              <a:solidFill>
                <a:schemeClr val="dk2"/>
              </a:solidFill>
              <a:prstDash val="solid"/>
              <a:round/>
              <a:headEnd len="med" w="med" type="none"/>
              <a:tailEnd len="med" w="med" type="triangle"/>
            </a:ln>
          </p:spPr>
        </p:cxnSp>
        <p:pic>
          <p:nvPicPr>
            <p:cNvPr id="358" name="Google Shape;358;p24" title="{&quot;red&quot;:89,&quot;green&quot;:89,&quot;blue&quot;:89,&quot;origURL&quot;:&quot;https://www.codecogs.com/eqnedit.php?latex=T_1#0&quot;,&quot;size&quot;:18,&quot;width&quot;:193.70078740157481,&quot;height&quot;:158.33858267716536}"/>
            <p:cNvPicPr preferRelativeResize="0"/>
            <p:nvPr/>
          </p:nvPicPr>
          <p:blipFill>
            <a:blip r:embed="rId4">
              <a:alphaModFix/>
            </a:blip>
            <a:stretch>
              <a:fillRect/>
            </a:stretch>
          </p:blipFill>
          <p:spPr>
            <a:xfrm>
              <a:off x="778575" y="3823063"/>
              <a:ext cx="144000" cy="144000"/>
            </a:xfrm>
            <a:prstGeom prst="rect">
              <a:avLst/>
            </a:prstGeom>
            <a:noFill/>
            <a:ln>
              <a:noFill/>
            </a:ln>
          </p:spPr>
        </p:pic>
        <p:pic>
          <p:nvPicPr>
            <p:cNvPr id="359" name="Google Shape;359;p24" title="{&quot;red&quot;:89,&quot;green&quot;:89,&quot;blue&quot;:89,&quot;origURL&quot;:&quot;https://www.codecogs.com/eqnedit.php?latex=T_2#0&quot;,&quot;size&quot;:18,&quot;width&quot;:193.70078740157481,&quot;height&quot;:158.33858267716536}"/>
            <p:cNvPicPr preferRelativeResize="0"/>
            <p:nvPr/>
          </p:nvPicPr>
          <p:blipFill>
            <a:blip r:embed="rId5">
              <a:alphaModFix/>
            </a:blip>
            <a:stretch>
              <a:fillRect/>
            </a:stretch>
          </p:blipFill>
          <p:spPr>
            <a:xfrm>
              <a:off x="2318700" y="3822375"/>
              <a:ext cx="151200" cy="145385"/>
            </a:xfrm>
            <a:prstGeom prst="rect">
              <a:avLst/>
            </a:prstGeom>
            <a:noFill/>
            <a:ln>
              <a:noFill/>
            </a:ln>
          </p:spPr>
        </p:pic>
        <p:pic>
          <p:nvPicPr>
            <p:cNvPr id="360" name="Google Shape;360;p24" title="{&quot;red&quot;:89,&quot;green&quot;:89,&quot;blue&quot;:89,&quot;origURL&quot;:&quot;https://www.codecogs.com/eqnedit.php?latex=T_3#0&quot;,&quot;size&quot;:18,&quot;width&quot;:193.70078740157481,&quot;height&quot;:158.33858267716536}"/>
            <p:cNvPicPr preferRelativeResize="0"/>
            <p:nvPr/>
          </p:nvPicPr>
          <p:blipFill>
            <a:blip r:embed="rId6">
              <a:alphaModFix/>
            </a:blip>
            <a:stretch>
              <a:fillRect/>
            </a:stretch>
          </p:blipFill>
          <p:spPr>
            <a:xfrm>
              <a:off x="3866013" y="3822038"/>
              <a:ext cx="154800" cy="146038"/>
            </a:xfrm>
            <a:prstGeom prst="rect">
              <a:avLst/>
            </a:prstGeom>
            <a:noFill/>
            <a:ln>
              <a:noFill/>
            </a:ln>
          </p:spPr>
        </p:pic>
        <p:pic>
          <p:nvPicPr>
            <p:cNvPr id="361" name="Google Shape;361;p24" title="{&quot;red&quot;:89,&quot;green&quot;:89,&quot;blue&quot;:89,&quot;origURL&quot;:&quot;https://www.codecogs.com/eqnedit.php?latex=%20a%20%3D%2030cm%20#0&quot;,&quot;size&quot;:24,&quot;width&quot;:670.9133858267717,&quot;height&quot;:269.00787401574803}"/>
            <p:cNvPicPr preferRelativeResize="0"/>
            <p:nvPr/>
          </p:nvPicPr>
          <p:blipFill>
            <a:blip r:embed="rId11">
              <a:alphaModFix/>
            </a:blip>
            <a:stretch>
              <a:fillRect/>
            </a:stretch>
          </p:blipFill>
          <p:spPr>
            <a:xfrm>
              <a:off x="1310032" y="3239772"/>
              <a:ext cx="613092" cy="104675"/>
            </a:xfrm>
            <a:prstGeom prst="rect">
              <a:avLst/>
            </a:prstGeom>
            <a:noFill/>
            <a:ln>
              <a:noFill/>
            </a:ln>
          </p:spPr>
        </p:pic>
        <p:pic>
          <p:nvPicPr>
            <p:cNvPr id="362" name="Google Shape;362;p24" title="{&quot;red&quot;:89,&quot;green&quot;:89,&quot;blue&quot;:89,&quot;origURL&quot;:&quot;https://www.codecogs.com/eqnedit.php?latex=%20b%20%3D%2030cm%20#0&quot;,&quot;size&quot;:24,&quot;width&quot;:670.9133858267717,&quot;height&quot;:269.00787401574803}"/>
            <p:cNvPicPr preferRelativeResize="0"/>
            <p:nvPr/>
          </p:nvPicPr>
          <p:blipFill>
            <a:blip r:embed="rId12">
              <a:alphaModFix/>
            </a:blip>
            <a:stretch>
              <a:fillRect/>
            </a:stretch>
          </p:blipFill>
          <p:spPr>
            <a:xfrm>
              <a:off x="2873440" y="3250383"/>
              <a:ext cx="613100" cy="112292"/>
            </a:xfrm>
            <a:prstGeom prst="rect">
              <a:avLst/>
            </a:prstGeom>
            <a:noFill/>
            <a:ln>
              <a:noFill/>
            </a:ln>
          </p:spPr>
        </p:pic>
        <p:pic>
          <p:nvPicPr>
            <p:cNvPr id="363" name="Google Shape;363;p24" title="{&quot;red&quot;:89,&quot;green&quot;:89,&quot;blue&quot;:89,&quot;origURL&quot;:&quot;https://www.codecogs.com/eqnedit.php?latex=%20c%20%3D%2050cm%20#0&quot;,&quot;size&quot;:24,&quot;width&quot;:670.9133858267717,&quot;height&quot;:269.00787401574803}"/>
            <p:cNvPicPr preferRelativeResize="0"/>
            <p:nvPr/>
          </p:nvPicPr>
          <p:blipFill>
            <a:blip r:embed="rId13">
              <a:alphaModFix/>
            </a:blip>
            <a:stretch>
              <a:fillRect/>
            </a:stretch>
          </p:blipFill>
          <p:spPr>
            <a:xfrm>
              <a:off x="2063426" y="2742175"/>
              <a:ext cx="601412" cy="104675"/>
            </a:xfrm>
            <a:prstGeom prst="rect">
              <a:avLst/>
            </a:prstGeom>
            <a:noFill/>
            <a:ln>
              <a:noFill/>
            </a:ln>
          </p:spPr>
        </p:pic>
      </p:grpSp>
      <p:pic>
        <p:nvPicPr>
          <p:cNvPr id="364" name="Google Shape;364;p24"/>
          <p:cNvPicPr preferRelativeResize="0"/>
          <p:nvPr/>
        </p:nvPicPr>
        <p:blipFill>
          <a:blip r:embed="rId14">
            <a:alphaModFix/>
          </a:blip>
          <a:stretch>
            <a:fillRect/>
          </a:stretch>
        </p:blipFill>
        <p:spPr>
          <a:xfrm>
            <a:off x="5251025" y="1506075"/>
            <a:ext cx="2259043" cy="528525"/>
          </a:xfrm>
          <a:prstGeom prst="rect">
            <a:avLst/>
          </a:prstGeom>
          <a:noFill/>
          <a:ln>
            <a:noFill/>
          </a:ln>
        </p:spPr>
      </p:pic>
      <p:graphicFrame>
        <p:nvGraphicFramePr>
          <p:cNvPr id="365" name="Google Shape;365;p24"/>
          <p:cNvGraphicFramePr/>
          <p:nvPr/>
        </p:nvGraphicFramePr>
        <p:xfrm>
          <a:off x="5316875" y="2300561"/>
          <a:ext cx="3000000" cy="3000000"/>
        </p:xfrm>
        <a:graphic>
          <a:graphicData uri="http://schemas.openxmlformats.org/drawingml/2006/table">
            <a:tbl>
              <a:tblPr>
                <a:noFill/>
                <a:tableStyleId>{1B1081EC-A0A6-41FB-9FD4-7EDB2B2B40E8}</a:tableStyleId>
              </a:tblPr>
              <a:tblGrid>
                <a:gridCol w="794700"/>
                <a:gridCol w="794700"/>
                <a:gridCol w="794700"/>
              </a:tblGrid>
              <a:tr h="259650">
                <a:tc>
                  <a:txBody>
                    <a:bodyPr/>
                    <a:lstStyle/>
                    <a:p>
                      <a:pPr indent="0" lvl="0" marL="0" rtl="0" algn="l">
                        <a:spcBef>
                          <a:spcPts val="0"/>
                        </a:spcBef>
                        <a:spcAft>
                          <a:spcPts val="0"/>
                        </a:spcAft>
                        <a:buNone/>
                      </a:pPr>
                      <a:r>
                        <a:t/>
                      </a:r>
                      <a:endParaRPr/>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r>
              <a:tr h="259650">
                <a:tc>
                  <a:txBody>
                    <a:bodyPr/>
                    <a:lstStyle/>
                    <a:p>
                      <a:pPr indent="0" lvl="0" marL="0" rtl="0" algn="ctr">
                        <a:spcBef>
                          <a:spcPts val="0"/>
                        </a:spcBef>
                        <a:spcAft>
                          <a:spcPts val="0"/>
                        </a:spcAft>
                        <a:buNone/>
                      </a:pPr>
                      <a:r>
                        <a:rPr lang="es" sz="1200"/>
                        <a:t>∞</a:t>
                      </a:r>
                      <a:endParaRPr sz="1200"/>
                    </a:p>
                  </a:txBody>
                  <a:tcPr marT="18000" marB="18000" marR="91425" marL="91425"/>
                </a:tc>
                <a:tc>
                  <a:txBody>
                    <a:bodyPr/>
                    <a:lstStyle/>
                    <a:p>
                      <a:pPr indent="0" lvl="0" marL="0" rtl="0" algn="ctr">
                        <a:spcBef>
                          <a:spcPts val="0"/>
                        </a:spcBef>
                        <a:spcAft>
                          <a:spcPts val="0"/>
                        </a:spcAft>
                        <a:buNone/>
                      </a:pPr>
                      <a:r>
                        <a:rPr lang="es" sz="1200"/>
                        <a:t>30</a:t>
                      </a:r>
                      <a:endParaRPr sz="1200"/>
                    </a:p>
                  </a:txBody>
                  <a:tcPr marT="18000" marB="18000" marR="91425" marL="91425"/>
                </a:tc>
                <a:tc>
                  <a:txBody>
                    <a:bodyPr/>
                    <a:lstStyle/>
                    <a:p>
                      <a:pPr indent="0" lvl="0" marL="0" rtl="0" algn="ctr">
                        <a:spcBef>
                          <a:spcPts val="0"/>
                        </a:spcBef>
                        <a:spcAft>
                          <a:spcPts val="0"/>
                        </a:spcAft>
                        <a:buNone/>
                      </a:pPr>
                      <a:r>
                        <a:rPr lang="es" sz="1200"/>
                        <a:t>60</a:t>
                      </a:r>
                      <a:endParaRPr sz="1200"/>
                    </a:p>
                  </a:txBody>
                  <a:tcPr marT="18000" marB="18000" marR="91425" marL="91425"/>
                </a:tc>
              </a:tr>
              <a:tr h="259650">
                <a:tc>
                  <a:txBody>
                    <a:bodyPr/>
                    <a:lstStyle/>
                    <a:p>
                      <a:pPr indent="0" lvl="0" marL="0" rtl="0" algn="ctr">
                        <a:spcBef>
                          <a:spcPts val="0"/>
                        </a:spcBef>
                        <a:spcAft>
                          <a:spcPts val="0"/>
                        </a:spcAft>
                        <a:buNone/>
                      </a:pPr>
                      <a:r>
                        <a:rPr lang="es" sz="1200"/>
                        <a:t>2</a:t>
                      </a:r>
                      <a:endParaRPr sz="1200"/>
                    </a:p>
                  </a:txBody>
                  <a:tcPr marT="0" marB="0" marR="91425" marL="91425"/>
                </a:tc>
                <a:tc>
                  <a:txBody>
                    <a:bodyPr/>
                    <a:lstStyle/>
                    <a:p>
                      <a:pPr indent="0" lvl="0" marL="0" rtl="0" algn="l">
                        <a:spcBef>
                          <a:spcPts val="0"/>
                        </a:spcBef>
                        <a:spcAft>
                          <a:spcPts val="0"/>
                        </a:spcAft>
                        <a:buNone/>
                      </a:pPr>
                      <a:r>
                        <a:t/>
                      </a:r>
                      <a:endParaRPr/>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r>
              <a:tr h="259650">
                <a:tc>
                  <a:txBody>
                    <a:bodyPr/>
                    <a:lstStyle/>
                    <a:p>
                      <a:pPr indent="0" lvl="0" marL="0" rtl="0" algn="ctr">
                        <a:spcBef>
                          <a:spcPts val="0"/>
                        </a:spcBef>
                        <a:spcAft>
                          <a:spcPts val="0"/>
                        </a:spcAft>
                        <a:buNone/>
                      </a:pPr>
                      <a:r>
                        <a:rPr lang="es" sz="1200"/>
                        <a:t>1.5</a:t>
                      </a:r>
                      <a:endParaRPr sz="1200"/>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r>
              <a:tr h="259650">
                <a:tc>
                  <a:txBody>
                    <a:bodyPr/>
                    <a:lstStyle/>
                    <a:p>
                      <a:pPr indent="0" lvl="0" marL="0" rtl="0" algn="ctr">
                        <a:spcBef>
                          <a:spcPts val="0"/>
                        </a:spcBef>
                        <a:spcAft>
                          <a:spcPts val="0"/>
                        </a:spcAft>
                        <a:buNone/>
                      </a:pPr>
                      <a:r>
                        <a:rPr lang="es" sz="1200"/>
                        <a:t>1</a:t>
                      </a:r>
                      <a:endParaRPr sz="1200"/>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r>
              <a:tr h="259650">
                <a:tc>
                  <a:txBody>
                    <a:bodyPr/>
                    <a:lstStyle/>
                    <a:p>
                      <a:pPr indent="0" lvl="0" marL="0" rtl="0" algn="ctr">
                        <a:spcBef>
                          <a:spcPts val="0"/>
                        </a:spcBef>
                        <a:spcAft>
                          <a:spcPts val="0"/>
                        </a:spcAft>
                        <a:buNone/>
                      </a:pPr>
                      <a:r>
                        <a:rPr lang="es" sz="1200"/>
                        <a:t>0.5</a:t>
                      </a:r>
                      <a:endParaRPr sz="1200"/>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r>
              <a:tr h="259650">
                <a:tc>
                  <a:txBody>
                    <a:bodyPr/>
                    <a:lstStyle/>
                    <a:p>
                      <a:pPr indent="0" lvl="0" marL="0" rtl="0" algn="ctr">
                        <a:spcBef>
                          <a:spcPts val="0"/>
                        </a:spcBef>
                        <a:spcAft>
                          <a:spcPts val="0"/>
                        </a:spcAft>
                        <a:buNone/>
                      </a:pPr>
                      <a:r>
                        <a:rPr lang="es" sz="1200"/>
                        <a:t>0</a:t>
                      </a:r>
                      <a:endParaRPr sz="1200"/>
                    </a:p>
                  </a:txBody>
                  <a:tcPr marT="18000" marB="18000" marR="91425" marL="91425"/>
                </a:tc>
                <a:tc>
                  <a:txBody>
                    <a:bodyPr/>
                    <a:lstStyle/>
                    <a:p>
                      <a:pPr indent="0" lvl="0" marL="0" rtl="0" algn="ctr">
                        <a:spcBef>
                          <a:spcPts val="0"/>
                        </a:spcBef>
                        <a:spcAft>
                          <a:spcPts val="0"/>
                        </a:spcAft>
                        <a:buNone/>
                      </a:pPr>
                      <a:r>
                        <a:rPr lang="es" sz="1200"/>
                        <a:t>25</a:t>
                      </a:r>
                      <a:endParaRPr sz="1200"/>
                    </a:p>
                  </a:txBody>
                  <a:tcPr marT="18000" marB="18000" marR="91425" marL="91425"/>
                </a:tc>
                <a:tc>
                  <a:txBody>
                    <a:bodyPr/>
                    <a:lstStyle/>
                    <a:p>
                      <a:pPr indent="0" lvl="0" marL="0" rtl="0" algn="ctr">
                        <a:spcBef>
                          <a:spcPts val="0"/>
                        </a:spcBef>
                        <a:spcAft>
                          <a:spcPts val="0"/>
                        </a:spcAft>
                        <a:buNone/>
                      </a:pPr>
                      <a:r>
                        <a:rPr lang="es" sz="1200"/>
                        <a:t>5</a:t>
                      </a:r>
                      <a:r>
                        <a:rPr lang="es" sz="1200"/>
                        <a:t>0</a:t>
                      </a:r>
                      <a:endParaRPr sz="1200"/>
                    </a:p>
                  </a:txBody>
                  <a:tcPr marT="18000" marB="18000" marR="91425" marL="91425"/>
                </a:tc>
              </a:tr>
            </a:tbl>
          </a:graphicData>
        </a:graphic>
      </p:graphicFrame>
      <p:sp>
        <p:nvSpPr>
          <p:cNvPr id="366" name="Google Shape;366;p24"/>
          <p:cNvSpPr txBox="1"/>
          <p:nvPr/>
        </p:nvSpPr>
        <p:spPr>
          <a:xfrm>
            <a:off x="3837775" y="339050"/>
            <a:ext cx="2344500" cy="12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367" name="Google Shape;367;p24" title="{&quot;red&quot;:89,&quot;green&quot;:89,&quot;blue&quot;:89,&quot;origURL&quot;:&quot;https://www.codecogs.com/eqnedit.php?latex=%5Clambda#0&quot;,&quot;size&quot;:18,&quot;width&quot;:184.60629921259843,&quot;height&quot;:100.53543307086615}"/>
          <p:cNvPicPr preferRelativeResize="0"/>
          <p:nvPr/>
        </p:nvPicPr>
        <p:blipFill>
          <a:blip r:embed="rId15">
            <a:alphaModFix/>
          </a:blip>
          <a:stretch>
            <a:fillRect/>
          </a:stretch>
        </p:blipFill>
        <p:spPr>
          <a:xfrm>
            <a:off x="5634050" y="2338832"/>
            <a:ext cx="125158" cy="181737"/>
          </a:xfrm>
          <a:prstGeom prst="rect">
            <a:avLst/>
          </a:prstGeom>
          <a:noFill/>
          <a:ln>
            <a:noFill/>
          </a:ln>
        </p:spPr>
      </p:pic>
      <p:pic>
        <p:nvPicPr>
          <p:cNvPr id="368" name="Google Shape;368;p24" title="{&quot;red&quot;:89,&quot;green&quot;:89,&quot;blue&quot;:89,&quot;origURL&quot;:&quot;https://www.codecogs.com/eqnedit.php?latex=T_2#0&quot;,&quot;size&quot;:18,&quot;width&quot;:184.60629921259843,&quot;height&quot;:100.53543307086615}"/>
          <p:cNvPicPr preferRelativeResize="0"/>
          <p:nvPr/>
        </p:nvPicPr>
        <p:blipFill>
          <a:blip r:embed="rId5">
            <a:alphaModFix/>
          </a:blip>
          <a:stretch>
            <a:fillRect/>
          </a:stretch>
        </p:blipFill>
        <p:spPr>
          <a:xfrm>
            <a:off x="6362650" y="2329746"/>
            <a:ext cx="224599" cy="214313"/>
          </a:xfrm>
          <a:prstGeom prst="rect">
            <a:avLst/>
          </a:prstGeom>
          <a:noFill/>
          <a:ln>
            <a:noFill/>
          </a:ln>
        </p:spPr>
      </p:pic>
      <p:pic>
        <p:nvPicPr>
          <p:cNvPr id="369" name="Google Shape;369;p24" title="{&quot;red&quot;:89,&quot;green&quot;:89,&quot;blue&quot;:89,&quot;origURL&quot;:&quot;https://www.codecogs.com/eqnedit.php?latex=T_3#0&quot;,&quot;size&quot;:18,&quot;width&quot;:184.60629921259843,&quot;height&quot;:100.53543307086615}"/>
          <p:cNvPicPr preferRelativeResize="0"/>
          <p:nvPr/>
        </p:nvPicPr>
        <p:blipFill>
          <a:blip r:embed="rId6">
            <a:alphaModFix/>
          </a:blip>
          <a:stretch>
            <a:fillRect/>
          </a:stretch>
        </p:blipFill>
        <p:spPr>
          <a:xfrm>
            <a:off x="7235525" y="2328033"/>
            <a:ext cx="226314" cy="217742"/>
          </a:xfrm>
          <a:prstGeom prst="rect">
            <a:avLst/>
          </a:prstGeom>
          <a:noFill/>
          <a:ln>
            <a:noFill/>
          </a:ln>
        </p:spPr>
      </p:pic>
      <p:sp>
        <p:nvSpPr>
          <p:cNvPr id="370" name="Google Shape;370;p24"/>
          <p:cNvSpPr txBox="1"/>
          <p:nvPr/>
        </p:nvSpPr>
        <p:spPr>
          <a:xfrm>
            <a:off x="3966775" y="4645975"/>
            <a:ext cx="36006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*Courtesy of Maani Ghaffari, Ryan Eustice, Frank Dellaert, Michael Kaess, Cyrill Stachniss, Pranav Ganti, Luca Carlone</a:t>
            </a:r>
            <a:endParaRPr sz="8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5"/>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457200" lvl="0" marL="3657600" rtl="0" algn="just">
              <a:spcBef>
                <a:spcPts val="0"/>
              </a:spcBef>
              <a:spcAft>
                <a:spcPts val="0"/>
              </a:spcAft>
              <a:buNone/>
            </a:pPr>
            <a:r>
              <a:rPr b="1" lang="es" sz="1200">
                <a:solidFill>
                  <a:srgbClr val="193364"/>
                </a:solidFill>
              </a:rPr>
              <a:t>Pose/factor graph optimization: </a:t>
            </a:r>
            <a:endParaRPr b="1" sz="1200">
              <a:solidFill>
                <a:srgbClr val="193364"/>
              </a:solidFill>
            </a:endParaRPr>
          </a:p>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376" name="Google Shape;376;p25"/>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Factor Graph</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grpSp>
        <p:nvGrpSpPr>
          <p:cNvPr id="377" name="Google Shape;377;p25"/>
          <p:cNvGrpSpPr/>
          <p:nvPr/>
        </p:nvGrpSpPr>
        <p:grpSpPr>
          <a:xfrm>
            <a:off x="1095318" y="4449088"/>
            <a:ext cx="712880" cy="694332"/>
            <a:chOff x="1095318" y="4449088"/>
            <a:chExt cx="712880" cy="694332"/>
          </a:xfrm>
        </p:grpSpPr>
        <p:sp>
          <p:nvSpPr>
            <p:cNvPr id="378" name="Google Shape;378;p25"/>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379" name="Google Shape;379;p25"/>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380" name="Google Shape;380;p25"/>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381" name="Google Shape;381;p25"/>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grpSp>
        <p:nvGrpSpPr>
          <p:cNvPr id="382" name="Google Shape;382;p25"/>
          <p:cNvGrpSpPr/>
          <p:nvPr/>
        </p:nvGrpSpPr>
        <p:grpSpPr>
          <a:xfrm>
            <a:off x="510072" y="2993761"/>
            <a:ext cx="3666406" cy="1087198"/>
            <a:chOff x="4679980" y="2633200"/>
            <a:chExt cx="4103880" cy="1216921"/>
          </a:xfrm>
        </p:grpSpPr>
        <p:sp>
          <p:nvSpPr>
            <p:cNvPr id="383" name="Google Shape;383;p25"/>
            <p:cNvSpPr/>
            <p:nvPr/>
          </p:nvSpPr>
          <p:spPr>
            <a:xfrm>
              <a:off x="4679980" y="3238250"/>
              <a:ext cx="535200" cy="536400"/>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sp>
          <p:nvSpPr>
            <p:cNvPr id="384" name="Google Shape;384;p25"/>
            <p:cNvSpPr/>
            <p:nvPr/>
          </p:nvSpPr>
          <p:spPr>
            <a:xfrm>
              <a:off x="6464320" y="3238250"/>
              <a:ext cx="535200" cy="536400"/>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sp>
          <p:nvSpPr>
            <p:cNvPr id="385" name="Google Shape;385;p25"/>
            <p:cNvSpPr/>
            <p:nvPr/>
          </p:nvSpPr>
          <p:spPr>
            <a:xfrm>
              <a:off x="8248660" y="3238250"/>
              <a:ext cx="535200" cy="536400"/>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cxnSp>
          <p:nvCxnSpPr>
            <p:cNvPr id="386" name="Google Shape;386;p25"/>
            <p:cNvCxnSpPr>
              <a:stCxn id="383" idx="6"/>
              <a:endCxn id="384" idx="2"/>
            </p:cNvCxnSpPr>
            <p:nvPr/>
          </p:nvCxnSpPr>
          <p:spPr>
            <a:xfrm>
              <a:off x="5215180" y="3506450"/>
              <a:ext cx="1249200" cy="0"/>
            </a:xfrm>
            <a:prstGeom prst="straightConnector1">
              <a:avLst/>
            </a:prstGeom>
            <a:noFill/>
            <a:ln cap="flat" cmpd="sng" w="8500">
              <a:solidFill>
                <a:srgbClr val="193364"/>
              </a:solidFill>
              <a:prstDash val="solid"/>
              <a:round/>
              <a:headEnd len="med" w="med" type="none"/>
              <a:tailEnd len="med" w="med" type="none"/>
            </a:ln>
          </p:spPr>
        </p:cxnSp>
        <p:cxnSp>
          <p:nvCxnSpPr>
            <p:cNvPr id="387" name="Google Shape;387;p25"/>
            <p:cNvCxnSpPr>
              <a:stCxn id="384" idx="6"/>
              <a:endCxn id="385" idx="2"/>
            </p:cNvCxnSpPr>
            <p:nvPr/>
          </p:nvCxnSpPr>
          <p:spPr>
            <a:xfrm>
              <a:off x="6999520" y="3506450"/>
              <a:ext cx="1249200" cy="0"/>
            </a:xfrm>
            <a:prstGeom prst="straightConnector1">
              <a:avLst/>
            </a:prstGeom>
            <a:noFill/>
            <a:ln cap="flat" cmpd="sng" w="8500">
              <a:solidFill>
                <a:srgbClr val="193364"/>
              </a:solidFill>
              <a:prstDash val="solid"/>
              <a:round/>
              <a:headEnd len="med" w="med" type="none"/>
              <a:tailEnd len="med" w="med" type="none"/>
            </a:ln>
          </p:spPr>
        </p:cxnSp>
        <p:sp>
          <p:nvSpPr>
            <p:cNvPr id="388" name="Google Shape;388;p25"/>
            <p:cNvSpPr/>
            <p:nvPr/>
          </p:nvSpPr>
          <p:spPr>
            <a:xfrm>
              <a:off x="5122992" y="2978752"/>
              <a:ext cx="3191104" cy="353494"/>
            </a:xfrm>
            <a:custGeom>
              <a:rect b="b" l="l" r="r" t="t"/>
              <a:pathLst>
                <a:path extrusionOk="0" h="13298" w="129273">
                  <a:moveTo>
                    <a:pt x="0" y="12144"/>
                  </a:moveTo>
                  <a:cubicBezTo>
                    <a:pt x="10629" y="10124"/>
                    <a:pt x="42226" y="-168"/>
                    <a:pt x="63771" y="24"/>
                  </a:cubicBezTo>
                  <a:cubicBezTo>
                    <a:pt x="85317" y="216"/>
                    <a:pt x="118356" y="11086"/>
                    <a:pt x="129273" y="13298"/>
                  </a:cubicBezTo>
                </a:path>
              </a:pathLst>
            </a:custGeom>
            <a:noFill/>
            <a:ln cap="flat" cmpd="sng" w="8500">
              <a:solidFill>
                <a:srgbClr val="193364"/>
              </a:solidFill>
              <a:prstDash val="solid"/>
              <a:round/>
              <a:headEnd len="med" w="med" type="none"/>
              <a:tailEnd len="med" w="med" type="none"/>
            </a:ln>
          </p:spPr>
        </p:sp>
        <p:pic>
          <p:nvPicPr>
            <p:cNvPr id="389" name="Google Shape;389;p25" title="{&quot;red&quot;:89,&quot;green&quot;:89,&quot;blue&quot;:89,&quot;origURL&quot;:&quot;https://www.codecogs.com/eqnedit.php?latex=T_1#0&quot;,&quot;size&quot;:18,&quot;width&quot;:193.70078740157481,&quot;height&quot;:158.33858267716536}"/>
            <p:cNvPicPr preferRelativeResize="0"/>
            <p:nvPr/>
          </p:nvPicPr>
          <p:blipFill>
            <a:blip r:embed="rId4">
              <a:alphaModFix/>
            </a:blip>
            <a:stretch>
              <a:fillRect/>
            </a:stretch>
          </p:blipFill>
          <p:spPr>
            <a:xfrm>
              <a:off x="4842000" y="3402000"/>
              <a:ext cx="216000" cy="216000"/>
            </a:xfrm>
            <a:prstGeom prst="rect">
              <a:avLst/>
            </a:prstGeom>
            <a:noFill/>
            <a:ln>
              <a:noFill/>
            </a:ln>
          </p:spPr>
        </p:pic>
        <p:pic>
          <p:nvPicPr>
            <p:cNvPr id="390" name="Google Shape;390;p25" title="{&quot;red&quot;:89,&quot;green&quot;:89,&quot;blue&quot;:89,&quot;origURL&quot;:&quot;https://www.codecogs.com/eqnedit.php?latex=T_2#0&quot;,&quot;size&quot;:18,&quot;width&quot;:193.70078740157481,&quot;height&quot;:158.33858267716536}"/>
            <p:cNvPicPr preferRelativeResize="0"/>
            <p:nvPr/>
          </p:nvPicPr>
          <p:blipFill>
            <a:blip r:embed="rId5">
              <a:alphaModFix/>
            </a:blip>
            <a:stretch>
              <a:fillRect/>
            </a:stretch>
          </p:blipFill>
          <p:spPr>
            <a:xfrm>
              <a:off x="6637700" y="3402838"/>
              <a:ext cx="224599" cy="214313"/>
            </a:xfrm>
            <a:prstGeom prst="rect">
              <a:avLst/>
            </a:prstGeom>
            <a:noFill/>
            <a:ln>
              <a:noFill/>
            </a:ln>
          </p:spPr>
        </p:pic>
        <p:pic>
          <p:nvPicPr>
            <p:cNvPr id="391" name="Google Shape;391;p25" title="{&quot;red&quot;:89,&quot;green&quot;:89,&quot;blue&quot;:89,&quot;origURL&quot;:&quot;https://www.codecogs.com/eqnedit.php?latex=T_3#0&quot;,&quot;size&quot;:18,&quot;width&quot;:193.70078740157481,&quot;height&quot;:158.33858267716536}"/>
            <p:cNvPicPr preferRelativeResize="0"/>
            <p:nvPr/>
          </p:nvPicPr>
          <p:blipFill>
            <a:blip r:embed="rId6">
              <a:alphaModFix/>
            </a:blip>
            <a:stretch>
              <a:fillRect/>
            </a:stretch>
          </p:blipFill>
          <p:spPr>
            <a:xfrm>
              <a:off x="8442000" y="3401125"/>
              <a:ext cx="226314" cy="217742"/>
            </a:xfrm>
            <a:prstGeom prst="rect">
              <a:avLst/>
            </a:prstGeom>
            <a:noFill/>
            <a:ln>
              <a:noFill/>
            </a:ln>
          </p:spPr>
        </p:pic>
        <p:pic>
          <p:nvPicPr>
            <p:cNvPr id="392" name="Google Shape;392;p25" title="{&quot;red&quot;:89,&quot;green&quot;:89,&quot;blue&quot;:89,&quot;origURL&quot;:&quot;https://www.codecogs.com/eqnedit.php?latex=%5Chat%7BT%7D_%7B12%7D#0&quot;,&quot;size&quot;:18,&quot;width&quot;:193.70078740157481,&quot;height&quot;:158.33858267716536}"/>
            <p:cNvPicPr preferRelativeResize="0"/>
            <p:nvPr/>
          </p:nvPicPr>
          <p:blipFill>
            <a:blip r:embed="rId7">
              <a:alphaModFix/>
            </a:blip>
            <a:stretch>
              <a:fillRect/>
            </a:stretch>
          </p:blipFill>
          <p:spPr>
            <a:xfrm>
              <a:off x="5690113" y="3565513"/>
              <a:ext cx="315468" cy="282893"/>
            </a:xfrm>
            <a:prstGeom prst="rect">
              <a:avLst/>
            </a:prstGeom>
            <a:noFill/>
            <a:ln>
              <a:noFill/>
            </a:ln>
          </p:spPr>
        </p:pic>
        <p:pic>
          <p:nvPicPr>
            <p:cNvPr id="393" name="Google Shape;393;p25" title="{&quot;red&quot;:89,&quot;green&quot;:89,&quot;blue&quot;:89,&quot;origURL&quot;:&quot;https://www.codecogs.com/eqnedit.php?latex=%5Chat%7BT%7D_%7B23%7D#0&quot;,&quot;size&quot;:18,&quot;width&quot;:193.70078740157481,&quot;height&quot;:158.33858267716536}"/>
            <p:cNvPicPr preferRelativeResize="0"/>
            <p:nvPr/>
          </p:nvPicPr>
          <p:blipFill>
            <a:blip r:embed="rId8">
              <a:alphaModFix/>
            </a:blip>
            <a:stretch>
              <a:fillRect/>
            </a:stretch>
          </p:blipFill>
          <p:spPr>
            <a:xfrm>
              <a:off x="7493550" y="3563800"/>
              <a:ext cx="317182" cy="286321"/>
            </a:xfrm>
            <a:prstGeom prst="rect">
              <a:avLst/>
            </a:prstGeom>
            <a:noFill/>
            <a:ln>
              <a:noFill/>
            </a:ln>
          </p:spPr>
        </p:pic>
        <p:pic>
          <p:nvPicPr>
            <p:cNvPr id="394" name="Google Shape;394;p25" title="{&quot;red&quot;:89,&quot;green&quot;:89,&quot;blue&quot;:89,&quot;origURL&quot;:&quot;https://www.codecogs.com/eqnedit.php?latex=%5Chat%7BT%7D_%7B13%7D#0&quot;,&quot;size&quot;:18,&quot;width&quot;:193.70078740157481,&quot;height&quot;:158.33858267716536}"/>
            <p:cNvPicPr preferRelativeResize="0"/>
            <p:nvPr/>
          </p:nvPicPr>
          <p:blipFill>
            <a:blip r:embed="rId9">
              <a:alphaModFix/>
            </a:blip>
            <a:stretch>
              <a:fillRect/>
            </a:stretch>
          </p:blipFill>
          <p:spPr>
            <a:xfrm>
              <a:off x="6591400" y="2633200"/>
              <a:ext cx="317182" cy="286322"/>
            </a:xfrm>
            <a:prstGeom prst="rect">
              <a:avLst/>
            </a:prstGeom>
            <a:noFill/>
            <a:ln>
              <a:noFill/>
            </a:ln>
          </p:spPr>
        </p:pic>
      </p:grpSp>
      <p:grpSp>
        <p:nvGrpSpPr>
          <p:cNvPr id="395" name="Google Shape;395;p25"/>
          <p:cNvGrpSpPr/>
          <p:nvPr/>
        </p:nvGrpSpPr>
        <p:grpSpPr>
          <a:xfrm>
            <a:off x="359994" y="1410275"/>
            <a:ext cx="3966549" cy="1225900"/>
            <a:chOff x="436594" y="2742175"/>
            <a:chExt cx="3966549" cy="1225900"/>
          </a:xfrm>
        </p:grpSpPr>
        <p:pic>
          <p:nvPicPr>
            <p:cNvPr id="396" name="Google Shape;396;p25"/>
            <p:cNvPicPr preferRelativeResize="0"/>
            <p:nvPr/>
          </p:nvPicPr>
          <p:blipFill rotWithShape="1">
            <a:blip r:embed="rId10">
              <a:alphaModFix/>
            </a:blip>
            <a:srcRect b="8800" l="10210" r="6171" t="9038"/>
            <a:stretch/>
          </p:blipFill>
          <p:spPr>
            <a:xfrm>
              <a:off x="436594" y="2979927"/>
              <a:ext cx="926262" cy="910111"/>
            </a:xfrm>
            <a:prstGeom prst="rect">
              <a:avLst/>
            </a:prstGeom>
            <a:noFill/>
            <a:ln>
              <a:noFill/>
            </a:ln>
          </p:spPr>
        </p:pic>
        <p:pic>
          <p:nvPicPr>
            <p:cNvPr id="397" name="Google Shape;397;p25"/>
            <p:cNvPicPr preferRelativeResize="0"/>
            <p:nvPr/>
          </p:nvPicPr>
          <p:blipFill rotWithShape="1">
            <a:blip r:embed="rId10">
              <a:alphaModFix/>
            </a:blip>
            <a:srcRect b="8800" l="10210" r="6171" t="9038"/>
            <a:stretch/>
          </p:blipFill>
          <p:spPr>
            <a:xfrm>
              <a:off x="1956738" y="2979927"/>
              <a:ext cx="926262" cy="910111"/>
            </a:xfrm>
            <a:prstGeom prst="rect">
              <a:avLst/>
            </a:prstGeom>
            <a:noFill/>
            <a:ln>
              <a:noFill/>
            </a:ln>
          </p:spPr>
        </p:pic>
        <p:pic>
          <p:nvPicPr>
            <p:cNvPr id="398" name="Google Shape;398;p25"/>
            <p:cNvPicPr preferRelativeResize="0"/>
            <p:nvPr/>
          </p:nvPicPr>
          <p:blipFill rotWithShape="1">
            <a:blip r:embed="rId10">
              <a:alphaModFix/>
            </a:blip>
            <a:srcRect b="8800" l="10210" r="6171" t="9038"/>
            <a:stretch/>
          </p:blipFill>
          <p:spPr>
            <a:xfrm>
              <a:off x="3476881" y="2979927"/>
              <a:ext cx="926262" cy="910111"/>
            </a:xfrm>
            <a:prstGeom prst="rect">
              <a:avLst/>
            </a:prstGeom>
            <a:noFill/>
            <a:ln>
              <a:noFill/>
            </a:ln>
          </p:spPr>
        </p:pic>
        <p:cxnSp>
          <p:nvCxnSpPr>
            <p:cNvPr id="399" name="Google Shape;399;p25"/>
            <p:cNvCxnSpPr>
              <a:stCxn id="396" idx="3"/>
              <a:endCxn id="397" idx="1"/>
            </p:cNvCxnSpPr>
            <p:nvPr/>
          </p:nvCxnSpPr>
          <p:spPr>
            <a:xfrm>
              <a:off x="1362856" y="3434982"/>
              <a:ext cx="594000" cy="0"/>
            </a:xfrm>
            <a:prstGeom prst="straightConnector1">
              <a:avLst/>
            </a:prstGeom>
            <a:noFill/>
            <a:ln cap="flat" cmpd="sng" w="19475">
              <a:solidFill>
                <a:schemeClr val="dk2"/>
              </a:solidFill>
              <a:prstDash val="solid"/>
              <a:round/>
              <a:headEnd len="med" w="med" type="none"/>
              <a:tailEnd len="med" w="med" type="triangle"/>
            </a:ln>
          </p:spPr>
        </p:cxnSp>
        <p:cxnSp>
          <p:nvCxnSpPr>
            <p:cNvPr id="400" name="Google Shape;400;p25"/>
            <p:cNvCxnSpPr>
              <a:stCxn id="397" idx="3"/>
              <a:endCxn id="398" idx="1"/>
            </p:cNvCxnSpPr>
            <p:nvPr/>
          </p:nvCxnSpPr>
          <p:spPr>
            <a:xfrm>
              <a:off x="2882999" y="3434982"/>
              <a:ext cx="594000" cy="0"/>
            </a:xfrm>
            <a:prstGeom prst="straightConnector1">
              <a:avLst/>
            </a:prstGeom>
            <a:noFill/>
            <a:ln cap="flat" cmpd="sng" w="19475">
              <a:solidFill>
                <a:schemeClr val="dk2"/>
              </a:solidFill>
              <a:prstDash val="solid"/>
              <a:round/>
              <a:headEnd len="med" w="med" type="none"/>
              <a:tailEnd len="med" w="med" type="triangle"/>
            </a:ln>
          </p:spPr>
        </p:cxnSp>
        <p:cxnSp>
          <p:nvCxnSpPr>
            <p:cNvPr id="401" name="Google Shape;401;p25"/>
            <p:cNvCxnSpPr/>
            <p:nvPr/>
          </p:nvCxnSpPr>
          <p:spPr>
            <a:xfrm flipH="1" rot="10800000">
              <a:off x="969721" y="2892346"/>
              <a:ext cx="2870400" cy="6000"/>
            </a:xfrm>
            <a:prstGeom prst="straightConnector1">
              <a:avLst/>
            </a:prstGeom>
            <a:noFill/>
            <a:ln cap="flat" cmpd="sng" w="19475">
              <a:solidFill>
                <a:schemeClr val="dk2"/>
              </a:solidFill>
              <a:prstDash val="solid"/>
              <a:round/>
              <a:headEnd len="med" w="med" type="none"/>
              <a:tailEnd len="med" w="med" type="triangle"/>
            </a:ln>
          </p:spPr>
        </p:cxnSp>
        <p:pic>
          <p:nvPicPr>
            <p:cNvPr id="402" name="Google Shape;402;p25" title="{&quot;red&quot;:89,&quot;green&quot;:89,&quot;blue&quot;:89,&quot;origURL&quot;:&quot;https://www.codecogs.com/eqnedit.php?latex=T_1#0&quot;,&quot;size&quot;:18,&quot;width&quot;:193.70078740157481,&quot;height&quot;:158.33858267716536}"/>
            <p:cNvPicPr preferRelativeResize="0"/>
            <p:nvPr/>
          </p:nvPicPr>
          <p:blipFill>
            <a:blip r:embed="rId4">
              <a:alphaModFix/>
            </a:blip>
            <a:stretch>
              <a:fillRect/>
            </a:stretch>
          </p:blipFill>
          <p:spPr>
            <a:xfrm>
              <a:off x="778575" y="3823063"/>
              <a:ext cx="144000" cy="144000"/>
            </a:xfrm>
            <a:prstGeom prst="rect">
              <a:avLst/>
            </a:prstGeom>
            <a:noFill/>
            <a:ln>
              <a:noFill/>
            </a:ln>
          </p:spPr>
        </p:pic>
        <p:pic>
          <p:nvPicPr>
            <p:cNvPr id="403" name="Google Shape;403;p25" title="{&quot;red&quot;:89,&quot;green&quot;:89,&quot;blue&quot;:89,&quot;origURL&quot;:&quot;https://www.codecogs.com/eqnedit.php?latex=T_2#0&quot;,&quot;size&quot;:18,&quot;width&quot;:193.70078740157481,&quot;height&quot;:158.33858267716536}"/>
            <p:cNvPicPr preferRelativeResize="0"/>
            <p:nvPr/>
          </p:nvPicPr>
          <p:blipFill>
            <a:blip r:embed="rId5">
              <a:alphaModFix/>
            </a:blip>
            <a:stretch>
              <a:fillRect/>
            </a:stretch>
          </p:blipFill>
          <p:spPr>
            <a:xfrm>
              <a:off x="2318700" y="3822375"/>
              <a:ext cx="151200" cy="145385"/>
            </a:xfrm>
            <a:prstGeom prst="rect">
              <a:avLst/>
            </a:prstGeom>
            <a:noFill/>
            <a:ln>
              <a:noFill/>
            </a:ln>
          </p:spPr>
        </p:pic>
        <p:pic>
          <p:nvPicPr>
            <p:cNvPr id="404" name="Google Shape;404;p25" title="{&quot;red&quot;:89,&quot;green&quot;:89,&quot;blue&quot;:89,&quot;origURL&quot;:&quot;https://www.codecogs.com/eqnedit.php?latex=T_3#0&quot;,&quot;size&quot;:18,&quot;width&quot;:193.70078740157481,&quot;height&quot;:158.33858267716536}"/>
            <p:cNvPicPr preferRelativeResize="0"/>
            <p:nvPr/>
          </p:nvPicPr>
          <p:blipFill>
            <a:blip r:embed="rId6">
              <a:alphaModFix/>
            </a:blip>
            <a:stretch>
              <a:fillRect/>
            </a:stretch>
          </p:blipFill>
          <p:spPr>
            <a:xfrm>
              <a:off x="3866013" y="3822038"/>
              <a:ext cx="154800" cy="146038"/>
            </a:xfrm>
            <a:prstGeom prst="rect">
              <a:avLst/>
            </a:prstGeom>
            <a:noFill/>
            <a:ln>
              <a:noFill/>
            </a:ln>
          </p:spPr>
        </p:pic>
        <p:pic>
          <p:nvPicPr>
            <p:cNvPr id="405" name="Google Shape;405;p25" title="{&quot;red&quot;:89,&quot;green&quot;:89,&quot;blue&quot;:89,&quot;origURL&quot;:&quot;https://www.codecogs.com/eqnedit.php?latex=%20a%20%3D%2030cm%20#0&quot;,&quot;size&quot;:24,&quot;width&quot;:670.9133858267717,&quot;height&quot;:269.00787401574803}"/>
            <p:cNvPicPr preferRelativeResize="0"/>
            <p:nvPr/>
          </p:nvPicPr>
          <p:blipFill>
            <a:blip r:embed="rId11">
              <a:alphaModFix/>
            </a:blip>
            <a:stretch>
              <a:fillRect/>
            </a:stretch>
          </p:blipFill>
          <p:spPr>
            <a:xfrm>
              <a:off x="1310032" y="3239772"/>
              <a:ext cx="613092" cy="104675"/>
            </a:xfrm>
            <a:prstGeom prst="rect">
              <a:avLst/>
            </a:prstGeom>
            <a:noFill/>
            <a:ln>
              <a:noFill/>
            </a:ln>
          </p:spPr>
        </p:pic>
        <p:pic>
          <p:nvPicPr>
            <p:cNvPr id="406" name="Google Shape;406;p25" title="{&quot;red&quot;:89,&quot;green&quot;:89,&quot;blue&quot;:89,&quot;origURL&quot;:&quot;https://www.codecogs.com/eqnedit.php?latex=%20b%20%3D%2030cm%20#0&quot;,&quot;size&quot;:24,&quot;width&quot;:670.9133858267717,&quot;height&quot;:269.00787401574803}"/>
            <p:cNvPicPr preferRelativeResize="0"/>
            <p:nvPr/>
          </p:nvPicPr>
          <p:blipFill>
            <a:blip r:embed="rId12">
              <a:alphaModFix/>
            </a:blip>
            <a:stretch>
              <a:fillRect/>
            </a:stretch>
          </p:blipFill>
          <p:spPr>
            <a:xfrm>
              <a:off x="2873440" y="3250383"/>
              <a:ext cx="613100" cy="112292"/>
            </a:xfrm>
            <a:prstGeom prst="rect">
              <a:avLst/>
            </a:prstGeom>
            <a:noFill/>
            <a:ln>
              <a:noFill/>
            </a:ln>
          </p:spPr>
        </p:pic>
        <p:pic>
          <p:nvPicPr>
            <p:cNvPr id="407" name="Google Shape;407;p25" title="{&quot;red&quot;:89,&quot;green&quot;:89,&quot;blue&quot;:89,&quot;origURL&quot;:&quot;https://www.codecogs.com/eqnedit.php?latex=%20c%20%3D%2050cm%20#0&quot;,&quot;size&quot;:24,&quot;width&quot;:670.9133858267717,&quot;height&quot;:269.00787401574803}"/>
            <p:cNvPicPr preferRelativeResize="0"/>
            <p:nvPr/>
          </p:nvPicPr>
          <p:blipFill>
            <a:blip r:embed="rId13">
              <a:alphaModFix/>
            </a:blip>
            <a:stretch>
              <a:fillRect/>
            </a:stretch>
          </p:blipFill>
          <p:spPr>
            <a:xfrm>
              <a:off x="2063426" y="2742175"/>
              <a:ext cx="601412" cy="104675"/>
            </a:xfrm>
            <a:prstGeom prst="rect">
              <a:avLst/>
            </a:prstGeom>
            <a:noFill/>
            <a:ln>
              <a:noFill/>
            </a:ln>
          </p:spPr>
        </p:pic>
      </p:grpSp>
      <p:pic>
        <p:nvPicPr>
          <p:cNvPr id="408" name="Google Shape;408;p25"/>
          <p:cNvPicPr preferRelativeResize="0"/>
          <p:nvPr/>
        </p:nvPicPr>
        <p:blipFill>
          <a:blip r:embed="rId14">
            <a:alphaModFix/>
          </a:blip>
          <a:stretch>
            <a:fillRect/>
          </a:stretch>
        </p:blipFill>
        <p:spPr>
          <a:xfrm>
            <a:off x="5251025" y="1506075"/>
            <a:ext cx="2259043" cy="528525"/>
          </a:xfrm>
          <a:prstGeom prst="rect">
            <a:avLst/>
          </a:prstGeom>
          <a:noFill/>
          <a:ln>
            <a:noFill/>
          </a:ln>
        </p:spPr>
      </p:pic>
      <p:graphicFrame>
        <p:nvGraphicFramePr>
          <p:cNvPr id="409" name="Google Shape;409;p25"/>
          <p:cNvGraphicFramePr/>
          <p:nvPr/>
        </p:nvGraphicFramePr>
        <p:xfrm>
          <a:off x="5316875" y="2300561"/>
          <a:ext cx="3000000" cy="3000000"/>
        </p:xfrm>
        <a:graphic>
          <a:graphicData uri="http://schemas.openxmlformats.org/drawingml/2006/table">
            <a:tbl>
              <a:tblPr>
                <a:noFill/>
                <a:tableStyleId>{1B1081EC-A0A6-41FB-9FD4-7EDB2B2B40E8}</a:tableStyleId>
              </a:tblPr>
              <a:tblGrid>
                <a:gridCol w="794700"/>
                <a:gridCol w="794700"/>
                <a:gridCol w="794700"/>
              </a:tblGrid>
              <a:tr h="259650">
                <a:tc>
                  <a:txBody>
                    <a:bodyPr/>
                    <a:lstStyle/>
                    <a:p>
                      <a:pPr indent="0" lvl="0" marL="0" rtl="0" algn="l">
                        <a:spcBef>
                          <a:spcPts val="0"/>
                        </a:spcBef>
                        <a:spcAft>
                          <a:spcPts val="0"/>
                        </a:spcAft>
                        <a:buNone/>
                      </a:pPr>
                      <a:r>
                        <a:t/>
                      </a:r>
                      <a:endParaRPr/>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r>
              <a:tr h="259650">
                <a:tc>
                  <a:txBody>
                    <a:bodyPr/>
                    <a:lstStyle/>
                    <a:p>
                      <a:pPr indent="0" lvl="0" marL="0" rtl="0" algn="ctr">
                        <a:spcBef>
                          <a:spcPts val="0"/>
                        </a:spcBef>
                        <a:spcAft>
                          <a:spcPts val="0"/>
                        </a:spcAft>
                        <a:buNone/>
                      </a:pPr>
                      <a:r>
                        <a:rPr lang="es" sz="1200"/>
                        <a:t>∞</a:t>
                      </a:r>
                      <a:endParaRPr sz="1200"/>
                    </a:p>
                  </a:txBody>
                  <a:tcPr marT="18000" marB="18000" marR="91425" marL="91425"/>
                </a:tc>
                <a:tc>
                  <a:txBody>
                    <a:bodyPr/>
                    <a:lstStyle/>
                    <a:p>
                      <a:pPr indent="0" lvl="0" marL="0" rtl="0" algn="ctr">
                        <a:spcBef>
                          <a:spcPts val="0"/>
                        </a:spcBef>
                        <a:spcAft>
                          <a:spcPts val="0"/>
                        </a:spcAft>
                        <a:buNone/>
                      </a:pPr>
                      <a:r>
                        <a:rPr lang="es" sz="1200"/>
                        <a:t>30</a:t>
                      </a:r>
                      <a:endParaRPr sz="1200"/>
                    </a:p>
                  </a:txBody>
                  <a:tcPr marT="18000" marB="18000" marR="91425" marL="91425"/>
                </a:tc>
                <a:tc>
                  <a:txBody>
                    <a:bodyPr/>
                    <a:lstStyle/>
                    <a:p>
                      <a:pPr indent="0" lvl="0" marL="0" rtl="0" algn="ctr">
                        <a:spcBef>
                          <a:spcPts val="0"/>
                        </a:spcBef>
                        <a:spcAft>
                          <a:spcPts val="0"/>
                        </a:spcAft>
                        <a:buNone/>
                      </a:pPr>
                      <a:r>
                        <a:rPr lang="es" sz="1200"/>
                        <a:t>60</a:t>
                      </a:r>
                      <a:endParaRPr sz="1200"/>
                    </a:p>
                  </a:txBody>
                  <a:tcPr marT="18000" marB="18000" marR="91425" marL="91425"/>
                </a:tc>
              </a:tr>
              <a:tr h="259650">
                <a:tc>
                  <a:txBody>
                    <a:bodyPr/>
                    <a:lstStyle/>
                    <a:p>
                      <a:pPr indent="0" lvl="0" marL="0" rtl="0" algn="ctr">
                        <a:spcBef>
                          <a:spcPts val="0"/>
                        </a:spcBef>
                        <a:spcAft>
                          <a:spcPts val="0"/>
                        </a:spcAft>
                        <a:buNone/>
                      </a:pPr>
                      <a:r>
                        <a:rPr lang="es" sz="1200"/>
                        <a:t>2</a:t>
                      </a:r>
                      <a:endParaRPr sz="1200"/>
                    </a:p>
                  </a:txBody>
                  <a:tcPr marT="0" marB="0" marR="91425" marL="91425"/>
                </a:tc>
                <a:tc>
                  <a:txBody>
                    <a:bodyPr/>
                    <a:lstStyle/>
                    <a:p>
                      <a:pPr indent="0" lvl="0" marL="0" rtl="0" algn="l">
                        <a:spcBef>
                          <a:spcPts val="0"/>
                        </a:spcBef>
                        <a:spcAft>
                          <a:spcPts val="0"/>
                        </a:spcAft>
                        <a:buNone/>
                      </a:pPr>
                      <a:r>
                        <a:t/>
                      </a:r>
                      <a:endParaRPr/>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r>
              <a:tr h="259650">
                <a:tc>
                  <a:txBody>
                    <a:bodyPr/>
                    <a:lstStyle/>
                    <a:p>
                      <a:pPr indent="0" lvl="0" marL="0" rtl="0" algn="ctr">
                        <a:spcBef>
                          <a:spcPts val="0"/>
                        </a:spcBef>
                        <a:spcAft>
                          <a:spcPts val="0"/>
                        </a:spcAft>
                        <a:buNone/>
                      </a:pPr>
                      <a:r>
                        <a:rPr lang="es" sz="1200"/>
                        <a:t>1.5</a:t>
                      </a:r>
                      <a:endParaRPr sz="1200"/>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r>
              <a:tr h="259650">
                <a:tc>
                  <a:txBody>
                    <a:bodyPr/>
                    <a:lstStyle/>
                    <a:p>
                      <a:pPr indent="0" lvl="0" marL="0" rtl="0" algn="ctr">
                        <a:spcBef>
                          <a:spcPts val="0"/>
                        </a:spcBef>
                        <a:spcAft>
                          <a:spcPts val="0"/>
                        </a:spcAft>
                        <a:buNone/>
                      </a:pPr>
                      <a:r>
                        <a:rPr lang="es" sz="1200"/>
                        <a:t>1</a:t>
                      </a:r>
                      <a:endParaRPr sz="1200"/>
                    </a:p>
                  </a:txBody>
                  <a:tcPr marT="18000" marB="18000" marR="91425" marL="91425"/>
                </a:tc>
                <a:tc>
                  <a:txBody>
                    <a:bodyPr/>
                    <a:lstStyle/>
                    <a:p>
                      <a:pPr indent="0" lvl="0" marL="0" rtl="0" algn="ctr">
                        <a:spcBef>
                          <a:spcPts val="0"/>
                        </a:spcBef>
                        <a:spcAft>
                          <a:spcPts val="0"/>
                        </a:spcAft>
                        <a:buNone/>
                      </a:pPr>
                      <a:r>
                        <a:rPr lang="es" sz="1200"/>
                        <a:t>26.67</a:t>
                      </a:r>
                      <a:endParaRPr sz="1200"/>
                    </a:p>
                  </a:txBody>
                  <a:tcPr marT="18000" marB="18000" marR="91425" marL="91425"/>
                </a:tc>
                <a:tc>
                  <a:txBody>
                    <a:bodyPr/>
                    <a:lstStyle/>
                    <a:p>
                      <a:pPr indent="0" lvl="0" marL="0" rtl="0" algn="ctr">
                        <a:spcBef>
                          <a:spcPts val="0"/>
                        </a:spcBef>
                        <a:spcAft>
                          <a:spcPts val="0"/>
                        </a:spcAft>
                        <a:buNone/>
                      </a:pPr>
                      <a:r>
                        <a:rPr lang="es" sz="1200"/>
                        <a:t>53.33</a:t>
                      </a:r>
                      <a:endParaRPr sz="1200"/>
                    </a:p>
                  </a:txBody>
                  <a:tcPr marT="18000" marB="18000" marR="91425" marL="91425"/>
                </a:tc>
              </a:tr>
              <a:tr h="259650">
                <a:tc>
                  <a:txBody>
                    <a:bodyPr/>
                    <a:lstStyle/>
                    <a:p>
                      <a:pPr indent="0" lvl="0" marL="0" rtl="0" algn="ctr">
                        <a:spcBef>
                          <a:spcPts val="0"/>
                        </a:spcBef>
                        <a:spcAft>
                          <a:spcPts val="0"/>
                        </a:spcAft>
                        <a:buNone/>
                      </a:pPr>
                      <a:r>
                        <a:rPr lang="es" sz="1200"/>
                        <a:t>0.5</a:t>
                      </a:r>
                      <a:endParaRPr sz="1200"/>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r>
              <a:tr h="259650">
                <a:tc>
                  <a:txBody>
                    <a:bodyPr/>
                    <a:lstStyle/>
                    <a:p>
                      <a:pPr indent="0" lvl="0" marL="0" rtl="0" algn="ctr">
                        <a:spcBef>
                          <a:spcPts val="0"/>
                        </a:spcBef>
                        <a:spcAft>
                          <a:spcPts val="0"/>
                        </a:spcAft>
                        <a:buNone/>
                      </a:pPr>
                      <a:r>
                        <a:rPr lang="es" sz="1200"/>
                        <a:t>0</a:t>
                      </a:r>
                      <a:endParaRPr sz="1200"/>
                    </a:p>
                  </a:txBody>
                  <a:tcPr marT="18000" marB="18000" marR="91425" marL="91425"/>
                </a:tc>
                <a:tc>
                  <a:txBody>
                    <a:bodyPr/>
                    <a:lstStyle/>
                    <a:p>
                      <a:pPr indent="0" lvl="0" marL="0" rtl="0" algn="ctr">
                        <a:spcBef>
                          <a:spcPts val="0"/>
                        </a:spcBef>
                        <a:spcAft>
                          <a:spcPts val="0"/>
                        </a:spcAft>
                        <a:buNone/>
                      </a:pPr>
                      <a:r>
                        <a:rPr lang="es" sz="1200"/>
                        <a:t>25</a:t>
                      </a:r>
                      <a:endParaRPr sz="1200"/>
                    </a:p>
                  </a:txBody>
                  <a:tcPr marT="18000" marB="18000" marR="91425" marL="91425"/>
                </a:tc>
                <a:tc>
                  <a:txBody>
                    <a:bodyPr/>
                    <a:lstStyle/>
                    <a:p>
                      <a:pPr indent="0" lvl="0" marL="0" rtl="0" algn="ctr">
                        <a:spcBef>
                          <a:spcPts val="0"/>
                        </a:spcBef>
                        <a:spcAft>
                          <a:spcPts val="0"/>
                        </a:spcAft>
                        <a:buNone/>
                      </a:pPr>
                      <a:r>
                        <a:rPr lang="es" sz="1200"/>
                        <a:t>5</a:t>
                      </a:r>
                      <a:r>
                        <a:rPr lang="es" sz="1200"/>
                        <a:t>0</a:t>
                      </a:r>
                      <a:endParaRPr sz="1200"/>
                    </a:p>
                  </a:txBody>
                  <a:tcPr marT="18000" marB="18000" marR="91425" marL="91425"/>
                </a:tc>
              </a:tr>
            </a:tbl>
          </a:graphicData>
        </a:graphic>
      </p:graphicFrame>
      <p:sp>
        <p:nvSpPr>
          <p:cNvPr id="410" name="Google Shape;410;p25"/>
          <p:cNvSpPr txBox="1"/>
          <p:nvPr/>
        </p:nvSpPr>
        <p:spPr>
          <a:xfrm>
            <a:off x="3837775" y="339050"/>
            <a:ext cx="2344500" cy="12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411" name="Google Shape;411;p25" title="{&quot;red&quot;:89,&quot;green&quot;:89,&quot;blue&quot;:89,&quot;origURL&quot;:&quot;https://www.codecogs.com/eqnedit.php?latex=%5Clambda#0&quot;,&quot;size&quot;:18,&quot;width&quot;:184.60629921259843,&quot;height&quot;:100.53543307086615}"/>
          <p:cNvPicPr preferRelativeResize="0"/>
          <p:nvPr/>
        </p:nvPicPr>
        <p:blipFill>
          <a:blip r:embed="rId15">
            <a:alphaModFix/>
          </a:blip>
          <a:stretch>
            <a:fillRect/>
          </a:stretch>
        </p:blipFill>
        <p:spPr>
          <a:xfrm>
            <a:off x="5634050" y="2338832"/>
            <a:ext cx="125158" cy="181737"/>
          </a:xfrm>
          <a:prstGeom prst="rect">
            <a:avLst/>
          </a:prstGeom>
          <a:noFill/>
          <a:ln>
            <a:noFill/>
          </a:ln>
        </p:spPr>
      </p:pic>
      <p:pic>
        <p:nvPicPr>
          <p:cNvPr id="412" name="Google Shape;412;p25" title="{&quot;red&quot;:89,&quot;green&quot;:89,&quot;blue&quot;:89,&quot;origURL&quot;:&quot;https://www.codecogs.com/eqnedit.php?latex=T_2#0&quot;,&quot;size&quot;:18,&quot;width&quot;:184.60629921259843,&quot;height&quot;:100.53543307086615}"/>
          <p:cNvPicPr preferRelativeResize="0"/>
          <p:nvPr/>
        </p:nvPicPr>
        <p:blipFill>
          <a:blip r:embed="rId5">
            <a:alphaModFix/>
          </a:blip>
          <a:stretch>
            <a:fillRect/>
          </a:stretch>
        </p:blipFill>
        <p:spPr>
          <a:xfrm>
            <a:off x="6362650" y="2329746"/>
            <a:ext cx="224599" cy="214313"/>
          </a:xfrm>
          <a:prstGeom prst="rect">
            <a:avLst/>
          </a:prstGeom>
          <a:noFill/>
          <a:ln>
            <a:noFill/>
          </a:ln>
        </p:spPr>
      </p:pic>
      <p:pic>
        <p:nvPicPr>
          <p:cNvPr id="413" name="Google Shape;413;p25" title="{&quot;red&quot;:89,&quot;green&quot;:89,&quot;blue&quot;:89,&quot;origURL&quot;:&quot;https://www.codecogs.com/eqnedit.php?latex=T_3#0&quot;,&quot;size&quot;:18,&quot;width&quot;:184.60629921259843,&quot;height&quot;:100.53543307086615}"/>
          <p:cNvPicPr preferRelativeResize="0"/>
          <p:nvPr/>
        </p:nvPicPr>
        <p:blipFill>
          <a:blip r:embed="rId6">
            <a:alphaModFix/>
          </a:blip>
          <a:stretch>
            <a:fillRect/>
          </a:stretch>
        </p:blipFill>
        <p:spPr>
          <a:xfrm>
            <a:off x="7235525" y="2328033"/>
            <a:ext cx="226314" cy="217742"/>
          </a:xfrm>
          <a:prstGeom prst="rect">
            <a:avLst/>
          </a:prstGeom>
          <a:noFill/>
          <a:ln>
            <a:noFill/>
          </a:ln>
        </p:spPr>
      </p:pic>
      <p:sp>
        <p:nvSpPr>
          <p:cNvPr id="414" name="Google Shape;414;p25"/>
          <p:cNvSpPr txBox="1"/>
          <p:nvPr/>
        </p:nvSpPr>
        <p:spPr>
          <a:xfrm>
            <a:off x="3966775" y="4645975"/>
            <a:ext cx="36006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*Courtesy of Maani Ghaffari, Ryan Eustice, Frank Dellaert, Michael Kaess, Cyrill Stachniss, Pranav Ganti, Luca Carlone</a:t>
            </a:r>
            <a:endParaRPr sz="80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26"/>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457200" lvl="0" marL="3657600" rtl="0" algn="just">
              <a:spcBef>
                <a:spcPts val="0"/>
              </a:spcBef>
              <a:spcAft>
                <a:spcPts val="0"/>
              </a:spcAft>
              <a:buNone/>
            </a:pPr>
            <a:r>
              <a:rPr b="1" lang="es" sz="1200">
                <a:solidFill>
                  <a:srgbClr val="193364"/>
                </a:solidFill>
              </a:rPr>
              <a:t>Pose/factor graph optimization: </a:t>
            </a:r>
            <a:endParaRPr b="1" sz="1200">
              <a:solidFill>
                <a:srgbClr val="193364"/>
              </a:solidFill>
            </a:endParaRPr>
          </a:p>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420" name="Google Shape;420;p26"/>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Factor Graph</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grpSp>
        <p:nvGrpSpPr>
          <p:cNvPr id="421" name="Google Shape;421;p26"/>
          <p:cNvGrpSpPr/>
          <p:nvPr/>
        </p:nvGrpSpPr>
        <p:grpSpPr>
          <a:xfrm>
            <a:off x="1095318" y="4449088"/>
            <a:ext cx="712880" cy="694332"/>
            <a:chOff x="1095318" y="4449088"/>
            <a:chExt cx="712880" cy="694332"/>
          </a:xfrm>
        </p:grpSpPr>
        <p:sp>
          <p:nvSpPr>
            <p:cNvPr id="422" name="Google Shape;422;p26"/>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423" name="Google Shape;423;p26"/>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424" name="Google Shape;424;p26"/>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425" name="Google Shape;425;p26"/>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grpSp>
        <p:nvGrpSpPr>
          <p:cNvPr id="426" name="Google Shape;426;p26"/>
          <p:cNvGrpSpPr/>
          <p:nvPr/>
        </p:nvGrpSpPr>
        <p:grpSpPr>
          <a:xfrm>
            <a:off x="510072" y="2993761"/>
            <a:ext cx="3666406" cy="1087198"/>
            <a:chOff x="4679980" y="2633200"/>
            <a:chExt cx="4103880" cy="1216921"/>
          </a:xfrm>
        </p:grpSpPr>
        <p:sp>
          <p:nvSpPr>
            <p:cNvPr id="427" name="Google Shape;427;p26"/>
            <p:cNvSpPr/>
            <p:nvPr/>
          </p:nvSpPr>
          <p:spPr>
            <a:xfrm>
              <a:off x="4679980" y="3238250"/>
              <a:ext cx="535200" cy="536400"/>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sp>
          <p:nvSpPr>
            <p:cNvPr id="428" name="Google Shape;428;p26"/>
            <p:cNvSpPr/>
            <p:nvPr/>
          </p:nvSpPr>
          <p:spPr>
            <a:xfrm>
              <a:off x="6464320" y="3238250"/>
              <a:ext cx="535200" cy="536400"/>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sp>
          <p:nvSpPr>
            <p:cNvPr id="429" name="Google Shape;429;p26"/>
            <p:cNvSpPr/>
            <p:nvPr/>
          </p:nvSpPr>
          <p:spPr>
            <a:xfrm>
              <a:off x="8248660" y="3238250"/>
              <a:ext cx="535200" cy="536400"/>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cxnSp>
          <p:nvCxnSpPr>
            <p:cNvPr id="430" name="Google Shape;430;p26"/>
            <p:cNvCxnSpPr>
              <a:stCxn id="427" idx="6"/>
              <a:endCxn id="428" idx="2"/>
            </p:cNvCxnSpPr>
            <p:nvPr/>
          </p:nvCxnSpPr>
          <p:spPr>
            <a:xfrm>
              <a:off x="5215180" y="3506450"/>
              <a:ext cx="1249200" cy="0"/>
            </a:xfrm>
            <a:prstGeom prst="straightConnector1">
              <a:avLst/>
            </a:prstGeom>
            <a:noFill/>
            <a:ln cap="flat" cmpd="sng" w="8500">
              <a:solidFill>
                <a:srgbClr val="193364"/>
              </a:solidFill>
              <a:prstDash val="solid"/>
              <a:round/>
              <a:headEnd len="med" w="med" type="none"/>
              <a:tailEnd len="med" w="med" type="none"/>
            </a:ln>
          </p:spPr>
        </p:cxnSp>
        <p:cxnSp>
          <p:nvCxnSpPr>
            <p:cNvPr id="431" name="Google Shape;431;p26"/>
            <p:cNvCxnSpPr>
              <a:stCxn id="428" idx="6"/>
              <a:endCxn id="429" idx="2"/>
            </p:cNvCxnSpPr>
            <p:nvPr/>
          </p:nvCxnSpPr>
          <p:spPr>
            <a:xfrm>
              <a:off x="6999520" y="3506450"/>
              <a:ext cx="1249200" cy="0"/>
            </a:xfrm>
            <a:prstGeom prst="straightConnector1">
              <a:avLst/>
            </a:prstGeom>
            <a:noFill/>
            <a:ln cap="flat" cmpd="sng" w="8500">
              <a:solidFill>
                <a:srgbClr val="193364"/>
              </a:solidFill>
              <a:prstDash val="solid"/>
              <a:round/>
              <a:headEnd len="med" w="med" type="none"/>
              <a:tailEnd len="med" w="med" type="none"/>
            </a:ln>
          </p:spPr>
        </p:cxnSp>
        <p:sp>
          <p:nvSpPr>
            <p:cNvPr id="432" name="Google Shape;432;p26"/>
            <p:cNvSpPr/>
            <p:nvPr/>
          </p:nvSpPr>
          <p:spPr>
            <a:xfrm>
              <a:off x="5122992" y="2978752"/>
              <a:ext cx="3191104" cy="353494"/>
            </a:xfrm>
            <a:custGeom>
              <a:rect b="b" l="l" r="r" t="t"/>
              <a:pathLst>
                <a:path extrusionOk="0" h="13298" w="129273">
                  <a:moveTo>
                    <a:pt x="0" y="12144"/>
                  </a:moveTo>
                  <a:cubicBezTo>
                    <a:pt x="10629" y="10124"/>
                    <a:pt x="42226" y="-168"/>
                    <a:pt x="63771" y="24"/>
                  </a:cubicBezTo>
                  <a:cubicBezTo>
                    <a:pt x="85317" y="216"/>
                    <a:pt x="118356" y="11086"/>
                    <a:pt x="129273" y="13298"/>
                  </a:cubicBezTo>
                </a:path>
              </a:pathLst>
            </a:custGeom>
            <a:noFill/>
            <a:ln cap="flat" cmpd="sng" w="8500">
              <a:solidFill>
                <a:srgbClr val="193364"/>
              </a:solidFill>
              <a:prstDash val="solid"/>
              <a:round/>
              <a:headEnd len="med" w="med" type="none"/>
              <a:tailEnd len="med" w="med" type="none"/>
            </a:ln>
          </p:spPr>
        </p:sp>
        <p:pic>
          <p:nvPicPr>
            <p:cNvPr id="433" name="Google Shape;433;p26" title="{&quot;red&quot;:89,&quot;green&quot;:89,&quot;blue&quot;:89,&quot;origURL&quot;:&quot;https://www.codecogs.com/eqnedit.php?latex=T_1#0&quot;,&quot;size&quot;:18,&quot;width&quot;:193.70078740157481,&quot;height&quot;:158.33858267716536}"/>
            <p:cNvPicPr preferRelativeResize="0"/>
            <p:nvPr/>
          </p:nvPicPr>
          <p:blipFill>
            <a:blip r:embed="rId4">
              <a:alphaModFix/>
            </a:blip>
            <a:stretch>
              <a:fillRect/>
            </a:stretch>
          </p:blipFill>
          <p:spPr>
            <a:xfrm>
              <a:off x="4842000" y="3402000"/>
              <a:ext cx="216000" cy="216000"/>
            </a:xfrm>
            <a:prstGeom prst="rect">
              <a:avLst/>
            </a:prstGeom>
            <a:noFill/>
            <a:ln>
              <a:noFill/>
            </a:ln>
          </p:spPr>
        </p:pic>
        <p:pic>
          <p:nvPicPr>
            <p:cNvPr id="434" name="Google Shape;434;p26" title="{&quot;red&quot;:89,&quot;green&quot;:89,&quot;blue&quot;:89,&quot;origURL&quot;:&quot;https://www.codecogs.com/eqnedit.php?latex=T_2#0&quot;,&quot;size&quot;:18,&quot;width&quot;:193.70078740157481,&quot;height&quot;:158.33858267716536}"/>
            <p:cNvPicPr preferRelativeResize="0"/>
            <p:nvPr/>
          </p:nvPicPr>
          <p:blipFill>
            <a:blip r:embed="rId5">
              <a:alphaModFix/>
            </a:blip>
            <a:stretch>
              <a:fillRect/>
            </a:stretch>
          </p:blipFill>
          <p:spPr>
            <a:xfrm>
              <a:off x="6637700" y="3402838"/>
              <a:ext cx="224599" cy="214313"/>
            </a:xfrm>
            <a:prstGeom prst="rect">
              <a:avLst/>
            </a:prstGeom>
            <a:noFill/>
            <a:ln>
              <a:noFill/>
            </a:ln>
          </p:spPr>
        </p:pic>
        <p:pic>
          <p:nvPicPr>
            <p:cNvPr id="435" name="Google Shape;435;p26" title="{&quot;red&quot;:89,&quot;green&quot;:89,&quot;blue&quot;:89,&quot;origURL&quot;:&quot;https://www.codecogs.com/eqnedit.php?latex=T_3#0&quot;,&quot;size&quot;:18,&quot;width&quot;:193.70078740157481,&quot;height&quot;:158.33858267716536}"/>
            <p:cNvPicPr preferRelativeResize="0"/>
            <p:nvPr/>
          </p:nvPicPr>
          <p:blipFill>
            <a:blip r:embed="rId6">
              <a:alphaModFix/>
            </a:blip>
            <a:stretch>
              <a:fillRect/>
            </a:stretch>
          </p:blipFill>
          <p:spPr>
            <a:xfrm>
              <a:off x="8442000" y="3401125"/>
              <a:ext cx="226314" cy="217742"/>
            </a:xfrm>
            <a:prstGeom prst="rect">
              <a:avLst/>
            </a:prstGeom>
            <a:noFill/>
            <a:ln>
              <a:noFill/>
            </a:ln>
          </p:spPr>
        </p:pic>
        <p:pic>
          <p:nvPicPr>
            <p:cNvPr id="436" name="Google Shape;436;p26" title="{&quot;red&quot;:89,&quot;green&quot;:89,&quot;blue&quot;:89,&quot;origURL&quot;:&quot;https://www.codecogs.com/eqnedit.php?latex=%5Chat%7BT%7D_%7B12%7D#0&quot;,&quot;size&quot;:18,&quot;width&quot;:193.70078740157481,&quot;height&quot;:158.33858267716536}"/>
            <p:cNvPicPr preferRelativeResize="0"/>
            <p:nvPr/>
          </p:nvPicPr>
          <p:blipFill>
            <a:blip r:embed="rId7">
              <a:alphaModFix/>
            </a:blip>
            <a:stretch>
              <a:fillRect/>
            </a:stretch>
          </p:blipFill>
          <p:spPr>
            <a:xfrm>
              <a:off x="5690113" y="3565513"/>
              <a:ext cx="315468" cy="282893"/>
            </a:xfrm>
            <a:prstGeom prst="rect">
              <a:avLst/>
            </a:prstGeom>
            <a:noFill/>
            <a:ln>
              <a:noFill/>
            </a:ln>
          </p:spPr>
        </p:pic>
        <p:pic>
          <p:nvPicPr>
            <p:cNvPr id="437" name="Google Shape;437;p26" title="{&quot;red&quot;:89,&quot;green&quot;:89,&quot;blue&quot;:89,&quot;origURL&quot;:&quot;https://www.codecogs.com/eqnedit.php?latex=%5Chat%7BT%7D_%7B23%7D#0&quot;,&quot;size&quot;:18,&quot;width&quot;:193.70078740157481,&quot;height&quot;:158.33858267716536}"/>
            <p:cNvPicPr preferRelativeResize="0"/>
            <p:nvPr/>
          </p:nvPicPr>
          <p:blipFill>
            <a:blip r:embed="rId8">
              <a:alphaModFix/>
            </a:blip>
            <a:stretch>
              <a:fillRect/>
            </a:stretch>
          </p:blipFill>
          <p:spPr>
            <a:xfrm>
              <a:off x="7493550" y="3563800"/>
              <a:ext cx="317182" cy="286321"/>
            </a:xfrm>
            <a:prstGeom prst="rect">
              <a:avLst/>
            </a:prstGeom>
            <a:noFill/>
            <a:ln>
              <a:noFill/>
            </a:ln>
          </p:spPr>
        </p:pic>
        <p:pic>
          <p:nvPicPr>
            <p:cNvPr id="438" name="Google Shape;438;p26" title="{&quot;red&quot;:89,&quot;green&quot;:89,&quot;blue&quot;:89,&quot;origURL&quot;:&quot;https://www.codecogs.com/eqnedit.php?latex=%5Chat%7BT%7D_%7B13%7D#0&quot;,&quot;size&quot;:18,&quot;width&quot;:193.70078740157481,&quot;height&quot;:158.33858267716536}"/>
            <p:cNvPicPr preferRelativeResize="0"/>
            <p:nvPr/>
          </p:nvPicPr>
          <p:blipFill>
            <a:blip r:embed="rId9">
              <a:alphaModFix/>
            </a:blip>
            <a:stretch>
              <a:fillRect/>
            </a:stretch>
          </p:blipFill>
          <p:spPr>
            <a:xfrm>
              <a:off x="6591400" y="2633200"/>
              <a:ext cx="317182" cy="286322"/>
            </a:xfrm>
            <a:prstGeom prst="rect">
              <a:avLst/>
            </a:prstGeom>
            <a:noFill/>
            <a:ln>
              <a:noFill/>
            </a:ln>
          </p:spPr>
        </p:pic>
      </p:grpSp>
      <p:grpSp>
        <p:nvGrpSpPr>
          <p:cNvPr id="439" name="Google Shape;439;p26"/>
          <p:cNvGrpSpPr/>
          <p:nvPr/>
        </p:nvGrpSpPr>
        <p:grpSpPr>
          <a:xfrm>
            <a:off x="359994" y="1410275"/>
            <a:ext cx="3966549" cy="1225900"/>
            <a:chOff x="436594" y="2742175"/>
            <a:chExt cx="3966549" cy="1225900"/>
          </a:xfrm>
        </p:grpSpPr>
        <p:pic>
          <p:nvPicPr>
            <p:cNvPr id="440" name="Google Shape;440;p26"/>
            <p:cNvPicPr preferRelativeResize="0"/>
            <p:nvPr/>
          </p:nvPicPr>
          <p:blipFill rotWithShape="1">
            <a:blip r:embed="rId10">
              <a:alphaModFix/>
            </a:blip>
            <a:srcRect b="8800" l="10210" r="6171" t="9038"/>
            <a:stretch/>
          </p:blipFill>
          <p:spPr>
            <a:xfrm>
              <a:off x="436594" y="2979927"/>
              <a:ext cx="926262" cy="910111"/>
            </a:xfrm>
            <a:prstGeom prst="rect">
              <a:avLst/>
            </a:prstGeom>
            <a:noFill/>
            <a:ln>
              <a:noFill/>
            </a:ln>
          </p:spPr>
        </p:pic>
        <p:pic>
          <p:nvPicPr>
            <p:cNvPr id="441" name="Google Shape;441;p26"/>
            <p:cNvPicPr preferRelativeResize="0"/>
            <p:nvPr/>
          </p:nvPicPr>
          <p:blipFill rotWithShape="1">
            <a:blip r:embed="rId10">
              <a:alphaModFix/>
            </a:blip>
            <a:srcRect b="8800" l="10210" r="6171" t="9038"/>
            <a:stretch/>
          </p:blipFill>
          <p:spPr>
            <a:xfrm>
              <a:off x="1956738" y="2979927"/>
              <a:ext cx="926262" cy="910111"/>
            </a:xfrm>
            <a:prstGeom prst="rect">
              <a:avLst/>
            </a:prstGeom>
            <a:noFill/>
            <a:ln>
              <a:noFill/>
            </a:ln>
          </p:spPr>
        </p:pic>
        <p:pic>
          <p:nvPicPr>
            <p:cNvPr id="442" name="Google Shape;442;p26"/>
            <p:cNvPicPr preferRelativeResize="0"/>
            <p:nvPr/>
          </p:nvPicPr>
          <p:blipFill rotWithShape="1">
            <a:blip r:embed="rId10">
              <a:alphaModFix/>
            </a:blip>
            <a:srcRect b="8800" l="10210" r="6171" t="9038"/>
            <a:stretch/>
          </p:blipFill>
          <p:spPr>
            <a:xfrm>
              <a:off x="3476881" y="2979927"/>
              <a:ext cx="926262" cy="910111"/>
            </a:xfrm>
            <a:prstGeom prst="rect">
              <a:avLst/>
            </a:prstGeom>
            <a:noFill/>
            <a:ln>
              <a:noFill/>
            </a:ln>
          </p:spPr>
        </p:pic>
        <p:cxnSp>
          <p:nvCxnSpPr>
            <p:cNvPr id="443" name="Google Shape;443;p26"/>
            <p:cNvCxnSpPr>
              <a:stCxn id="440" idx="3"/>
              <a:endCxn id="441" idx="1"/>
            </p:cNvCxnSpPr>
            <p:nvPr/>
          </p:nvCxnSpPr>
          <p:spPr>
            <a:xfrm>
              <a:off x="1362856" y="3434982"/>
              <a:ext cx="594000" cy="0"/>
            </a:xfrm>
            <a:prstGeom prst="straightConnector1">
              <a:avLst/>
            </a:prstGeom>
            <a:noFill/>
            <a:ln cap="flat" cmpd="sng" w="19475">
              <a:solidFill>
                <a:schemeClr val="dk2"/>
              </a:solidFill>
              <a:prstDash val="solid"/>
              <a:round/>
              <a:headEnd len="med" w="med" type="none"/>
              <a:tailEnd len="med" w="med" type="triangle"/>
            </a:ln>
          </p:spPr>
        </p:cxnSp>
        <p:cxnSp>
          <p:nvCxnSpPr>
            <p:cNvPr id="444" name="Google Shape;444;p26"/>
            <p:cNvCxnSpPr>
              <a:stCxn id="441" idx="3"/>
              <a:endCxn id="442" idx="1"/>
            </p:cNvCxnSpPr>
            <p:nvPr/>
          </p:nvCxnSpPr>
          <p:spPr>
            <a:xfrm>
              <a:off x="2882999" y="3434982"/>
              <a:ext cx="594000" cy="0"/>
            </a:xfrm>
            <a:prstGeom prst="straightConnector1">
              <a:avLst/>
            </a:prstGeom>
            <a:noFill/>
            <a:ln cap="flat" cmpd="sng" w="19475">
              <a:solidFill>
                <a:schemeClr val="dk2"/>
              </a:solidFill>
              <a:prstDash val="solid"/>
              <a:round/>
              <a:headEnd len="med" w="med" type="none"/>
              <a:tailEnd len="med" w="med" type="triangle"/>
            </a:ln>
          </p:spPr>
        </p:cxnSp>
        <p:cxnSp>
          <p:nvCxnSpPr>
            <p:cNvPr id="445" name="Google Shape;445;p26"/>
            <p:cNvCxnSpPr/>
            <p:nvPr/>
          </p:nvCxnSpPr>
          <p:spPr>
            <a:xfrm flipH="1" rot="10800000">
              <a:off x="969721" y="2892346"/>
              <a:ext cx="2870400" cy="6000"/>
            </a:xfrm>
            <a:prstGeom prst="straightConnector1">
              <a:avLst/>
            </a:prstGeom>
            <a:noFill/>
            <a:ln cap="flat" cmpd="sng" w="19475">
              <a:solidFill>
                <a:schemeClr val="dk2"/>
              </a:solidFill>
              <a:prstDash val="solid"/>
              <a:round/>
              <a:headEnd len="med" w="med" type="none"/>
              <a:tailEnd len="med" w="med" type="triangle"/>
            </a:ln>
          </p:spPr>
        </p:cxnSp>
        <p:pic>
          <p:nvPicPr>
            <p:cNvPr id="446" name="Google Shape;446;p26" title="{&quot;red&quot;:89,&quot;green&quot;:89,&quot;blue&quot;:89,&quot;origURL&quot;:&quot;https://www.codecogs.com/eqnedit.php?latex=T_1#0&quot;,&quot;size&quot;:18,&quot;width&quot;:193.70078740157481,&quot;height&quot;:158.33858267716536}"/>
            <p:cNvPicPr preferRelativeResize="0"/>
            <p:nvPr/>
          </p:nvPicPr>
          <p:blipFill>
            <a:blip r:embed="rId4">
              <a:alphaModFix/>
            </a:blip>
            <a:stretch>
              <a:fillRect/>
            </a:stretch>
          </p:blipFill>
          <p:spPr>
            <a:xfrm>
              <a:off x="778575" y="3823063"/>
              <a:ext cx="144000" cy="144000"/>
            </a:xfrm>
            <a:prstGeom prst="rect">
              <a:avLst/>
            </a:prstGeom>
            <a:noFill/>
            <a:ln>
              <a:noFill/>
            </a:ln>
          </p:spPr>
        </p:pic>
        <p:pic>
          <p:nvPicPr>
            <p:cNvPr id="447" name="Google Shape;447;p26" title="{&quot;red&quot;:89,&quot;green&quot;:89,&quot;blue&quot;:89,&quot;origURL&quot;:&quot;https://www.codecogs.com/eqnedit.php?latex=T_2#0&quot;,&quot;size&quot;:18,&quot;width&quot;:193.70078740157481,&quot;height&quot;:158.33858267716536}"/>
            <p:cNvPicPr preferRelativeResize="0"/>
            <p:nvPr/>
          </p:nvPicPr>
          <p:blipFill>
            <a:blip r:embed="rId5">
              <a:alphaModFix/>
            </a:blip>
            <a:stretch>
              <a:fillRect/>
            </a:stretch>
          </p:blipFill>
          <p:spPr>
            <a:xfrm>
              <a:off x="2318700" y="3822375"/>
              <a:ext cx="151200" cy="145385"/>
            </a:xfrm>
            <a:prstGeom prst="rect">
              <a:avLst/>
            </a:prstGeom>
            <a:noFill/>
            <a:ln>
              <a:noFill/>
            </a:ln>
          </p:spPr>
        </p:pic>
        <p:pic>
          <p:nvPicPr>
            <p:cNvPr id="448" name="Google Shape;448;p26" title="{&quot;red&quot;:89,&quot;green&quot;:89,&quot;blue&quot;:89,&quot;origURL&quot;:&quot;https://www.codecogs.com/eqnedit.php?latex=T_3#0&quot;,&quot;size&quot;:18,&quot;width&quot;:193.70078740157481,&quot;height&quot;:158.33858267716536}"/>
            <p:cNvPicPr preferRelativeResize="0"/>
            <p:nvPr/>
          </p:nvPicPr>
          <p:blipFill>
            <a:blip r:embed="rId6">
              <a:alphaModFix/>
            </a:blip>
            <a:stretch>
              <a:fillRect/>
            </a:stretch>
          </p:blipFill>
          <p:spPr>
            <a:xfrm>
              <a:off x="3866013" y="3822038"/>
              <a:ext cx="154800" cy="146038"/>
            </a:xfrm>
            <a:prstGeom prst="rect">
              <a:avLst/>
            </a:prstGeom>
            <a:noFill/>
            <a:ln>
              <a:noFill/>
            </a:ln>
          </p:spPr>
        </p:pic>
        <p:pic>
          <p:nvPicPr>
            <p:cNvPr id="449" name="Google Shape;449;p26" title="{&quot;red&quot;:89,&quot;green&quot;:89,&quot;blue&quot;:89,&quot;origURL&quot;:&quot;https://www.codecogs.com/eqnedit.php?latex=%20a%20%3D%2030cm%20#0&quot;,&quot;size&quot;:24,&quot;width&quot;:670.9133858267717,&quot;height&quot;:269.00787401574803}"/>
            <p:cNvPicPr preferRelativeResize="0"/>
            <p:nvPr/>
          </p:nvPicPr>
          <p:blipFill>
            <a:blip r:embed="rId11">
              <a:alphaModFix/>
            </a:blip>
            <a:stretch>
              <a:fillRect/>
            </a:stretch>
          </p:blipFill>
          <p:spPr>
            <a:xfrm>
              <a:off x="1310032" y="3239772"/>
              <a:ext cx="613092" cy="104675"/>
            </a:xfrm>
            <a:prstGeom prst="rect">
              <a:avLst/>
            </a:prstGeom>
            <a:noFill/>
            <a:ln>
              <a:noFill/>
            </a:ln>
          </p:spPr>
        </p:pic>
        <p:pic>
          <p:nvPicPr>
            <p:cNvPr id="450" name="Google Shape;450;p26" title="{&quot;red&quot;:89,&quot;green&quot;:89,&quot;blue&quot;:89,&quot;origURL&quot;:&quot;https://www.codecogs.com/eqnedit.php?latex=%20b%20%3D%2030cm%20#0&quot;,&quot;size&quot;:24,&quot;width&quot;:670.9133858267717,&quot;height&quot;:269.00787401574803}"/>
            <p:cNvPicPr preferRelativeResize="0"/>
            <p:nvPr/>
          </p:nvPicPr>
          <p:blipFill>
            <a:blip r:embed="rId12">
              <a:alphaModFix/>
            </a:blip>
            <a:stretch>
              <a:fillRect/>
            </a:stretch>
          </p:blipFill>
          <p:spPr>
            <a:xfrm>
              <a:off x="2873440" y="3250383"/>
              <a:ext cx="613100" cy="112292"/>
            </a:xfrm>
            <a:prstGeom prst="rect">
              <a:avLst/>
            </a:prstGeom>
            <a:noFill/>
            <a:ln>
              <a:noFill/>
            </a:ln>
          </p:spPr>
        </p:pic>
        <p:pic>
          <p:nvPicPr>
            <p:cNvPr id="451" name="Google Shape;451;p26" title="{&quot;red&quot;:89,&quot;green&quot;:89,&quot;blue&quot;:89,&quot;origURL&quot;:&quot;https://www.codecogs.com/eqnedit.php?latex=%20c%20%3D%2050cm%20#0&quot;,&quot;size&quot;:24,&quot;width&quot;:670.9133858267717,&quot;height&quot;:269.00787401574803}"/>
            <p:cNvPicPr preferRelativeResize="0"/>
            <p:nvPr/>
          </p:nvPicPr>
          <p:blipFill>
            <a:blip r:embed="rId13">
              <a:alphaModFix/>
            </a:blip>
            <a:stretch>
              <a:fillRect/>
            </a:stretch>
          </p:blipFill>
          <p:spPr>
            <a:xfrm>
              <a:off x="2063426" y="2742175"/>
              <a:ext cx="601412" cy="104675"/>
            </a:xfrm>
            <a:prstGeom prst="rect">
              <a:avLst/>
            </a:prstGeom>
            <a:noFill/>
            <a:ln>
              <a:noFill/>
            </a:ln>
          </p:spPr>
        </p:pic>
      </p:grpSp>
      <p:pic>
        <p:nvPicPr>
          <p:cNvPr id="452" name="Google Shape;452;p26"/>
          <p:cNvPicPr preferRelativeResize="0"/>
          <p:nvPr/>
        </p:nvPicPr>
        <p:blipFill>
          <a:blip r:embed="rId14">
            <a:alphaModFix/>
          </a:blip>
          <a:stretch>
            <a:fillRect/>
          </a:stretch>
        </p:blipFill>
        <p:spPr>
          <a:xfrm>
            <a:off x="5251025" y="1506075"/>
            <a:ext cx="2259043" cy="528525"/>
          </a:xfrm>
          <a:prstGeom prst="rect">
            <a:avLst/>
          </a:prstGeom>
          <a:noFill/>
          <a:ln>
            <a:noFill/>
          </a:ln>
        </p:spPr>
      </p:pic>
      <p:graphicFrame>
        <p:nvGraphicFramePr>
          <p:cNvPr id="453" name="Google Shape;453;p26"/>
          <p:cNvGraphicFramePr/>
          <p:nvPr/>
        </p:nvGraphicFramePr>
        <p:xfrm>
          <a:off x="5316875" y="2300561"/>
          <a:ext cx="3000000" cy="3000000"/>
        </p:xfrm>
        <a:graphic>
          <a:graphicData uri="http://schemas.openxmlformats.org/drawingml/2006/table">
            <a:tbl>
              <a:tblPr>
                <a:noFill/>
                <a:tableStyleId>{1B1081EC-A0A6-41FB-9FD4-7EDB2B2B40E8}</a:tableStyleId>
              </a:tblPr>
              <a:tblGrid>
                <a:gridCol w="794700"/>
                <a:gridCol w="794700"/>
                <a:gridCol w="794700"/>
              </a:tblGrid>
              <a:tr h="259650">
                <a:tc>
                  <a:txBody>
                    <a:bodyPr/>
                    <a:lstStyle/>
                    <a:p>
                      <a:pPr indent="0" lvl="0" marL="0" rtl="0" algn="l">
                        <a:spcBef>
                          <a:spcPts val="0"/>
                        </a:spcBef>
                        <a:spcAft>
                          <a:spcPts val="0"/>
                        </a:spcAft>
                        <a:buNone/>
                      </a:pPr>
                      <a:r>
                        <a:t/>
                      </a:r>
                      <a:endParaRPr/>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r>
              <a:tr h="259650">
                <a:tc>
                  <a:txBody>
                    <a:bodyPr/>
                    <a:lstStyle/>
                    <a:p>
                      <a:pPr indent="0" lvl="0" marL="0" rtl="0" algn="ctr">
                        <a:spcBef>
                          <a:spcPts val="0"/>
                        </a:spcBef>
                        <a:spcAft>
                          <a:spcPts val="0"/>
                        </a:spcAft>
                        <a:buNone/>
                      </a:pPr>
                      <a:r>
                        <a:rPr lang="es" sz="1200"/>
                        <a:t>∞</a:t>
                      </a:r>
                      <a:endParaRPr sz="1200"/>
                    </a:p>
                  </a:txBody>
                  <a:tcPr marT="18000" marB="18000" marR="91425" marL="91425"/>
                </a:tc>
                <a:tc>
                  <a:txBody>
                    <a:bodyPr/>
                    <a:lstStyle/>
                    <a:p>
                      <a:pPr indent="0" lvl="0" marL="0" rtl="0" algn="ctr">
                        <a:spcBef>
                          <a:spcPts val="0"/>
                        </a:spcBef>
                        <a:spcAft>
                          <a:spcPts val="0"/>
                        </a:spcAft>
                        <a:buNone/>
                      </a:pPr>
                      <a:r>
                        <a:rPr lang="es" sz="1200"/>
                        <a:t>30</a:t>
                      </a:r>
                      <a:endParaRPr sz="1200"/>
                    </a:p>
                  </a:txBody>
                  <a:tcPr marT="18000" marB="18000" marR="91425" marL="91425"/>
                </a:tc>
                <a:tc>
                  <a:txBody>
                    <a:bodyPr/>
                    <a:lstStyle/>
                    <a:p>
                      <a:pPr indent="0" lvl="0" marL="0" rtl="0" algn="ctr">
                        <a:spcBef>
                          <a:spcPts val="0"/>
                        </a:spcBef>
                        <a:spcAft>
                          <a:spcPts val="0"/>
                        </a:spcAft>
                        <a:buNone/>
                      </a:pPr>
                      <a:r>
                        <a:rPr lang="es" sz="1200"/>
                        <a:t>60</a:t>
                      </a:r>
                      <a:endParaRPr sz="1200"/>
                    </a:p>
                  </a:txBody>
                  <a:tcPr marT="18000" marB="18000" marR="91425" marL="91425"/>
                </a:tc>
              </a:tr>
              <a:tr h="259650">
                <a:tc>
                  <a:txBody>
                    <a:bodyPr/>
                    <a:lstStyle/>
                    <a:p>
                      <a:pPr indent="0" lvl="0" marL="0" rtl="0" algn="ctr">
                        <a:spcBef>
                          <a:spcPts val="0"/>
                        </a:spcBef>
                        <a:spcAft>
                          <a:spcPts val="0"/>
                        </a:spcAft>
                        <a:buNone/>
                      </a:pPr>
                      <a:r>
                        <a:rPr lang="es" sz="1200"/>
                        <a:t>2</a:t>
                      </a:r>
                      <a:endParaRPr sz="1200"/>
                    </a:p>
                  </a:txBody>
                  <a:tcPr marT="0" marB="0" marR="91425" marL="91425"/>
                </a:tc>
                <a:tc>
                  <a:txBody>
                    <a:bodyPr/>
                    <a:lstStyle/>
                    <a:p>
                      <a:pPr indent="0" lvl="0" marL="0" rtl="0" algn="ctr">
                        <a:spcBef>
                          <a:spcPts val="0"/>
                        </a:spcBef>
                        <a:spcAft>
                          <a:spcPts val="0"/>
                        </a:spcAft>
                        <a:buNone/>
                      </a:pPr>
                      <a:r>
                        <a:rPr lang="es" sz="1200"/>
                        <a:t>27.5</a:t>
                      </a:r>
                      <a:endParaRPr sz="1200"/>
                    </a:p>
                  </a:txBody>
                  <a:tcPr marT="18000" marB="18000" marR="91425" marL="91425"/>
                </a:tc>
                <a:tc>
                  <a:txBody>
                    <a:bodyPr/>
                    <a:lstStyle/>
                    <a:p>
                      <a:pPr indent="0" lvl="0" marL="0" rtl="0" algn="ctr">
                        <a:spcBef>
                          <a:spcPts val="0"/>
                        </a:spcBef>
                        <a:spcAft>
                          <a:spcPts val="0"/>
                        </a:spcAft>
                        <a:buNone/>
                      </a:pPr>
                      <a:r>
                        <a:rPr lang="es" sz="1200"/>
                        <a:t>55</a:t>
                      </a:r>
                      <a:endParaRPr sz="1200"/>
                    </a:p>
                  </a:txBody>
                  <a:tcPr marT="18000" marB="18000" marR="91425" marL="91425"/>
                </a:tc>
              </a:tr>
              <a:tr h="259650">
                <a:tc>
                  <a:txBody>
                    <a:bodyPr/>
                    <a:lstStyle/>
                    <a:p>
                      <a:pPr indent="0" lvl="0" marL="0" rtl="0" algn="ctr">
                        <a:spcBef>
                          <a:spcPts val="0"/>
                        </a:spcBef>
                        <a:spcAft>
                          <a:spcPts val="0"/>
                        </a:spcAft>
                        <a:buNone/>
                      </a:pPr>
                      <a:r>
                        <a:rPr lang="es" sz="1200"/>
                        <a:t>1.5</a:t>
                      </a:r>
                      <a:endParaRPr sz="1200"/>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r>
              <a:tr h="259650">
                <a:tc>
                  <a:txBody>
                    <a:bodyPr/>
                    <a:lstStyle/>
                    <a:p>
                      <a:pPr indent="0" lvl="0" marL="0" rtl="0" algn="ctr">
                        <a:spcBef>
                          <a:spcPts val="0"/>
                        </a:spcBef>
                        <a:spcAft>
                          <a:spcPts val="0"/>
                        </a:spcAft>
                        <a:buNone/>
                      </a:pPr>
                      <a:r>
                        <a:rPr lang="es" sz="1200"/>
                        <a:t>1</a:t>
                      </a:r>
                      <a:endParaRPr sz="1200"/>
                    </a:p>
                  </a:txBody>
                  <a:tcPr marT="18000" marB="18000" marR="91425" marL="91425"/>
                </a:tc>
                <a:tc>
                  <a:txBody>
                    <a:bodyPr/>
                    <a:lstStyle/>
                    <a:p>
                      <a:pPr indent="0" lvl="0" marL="0" rtl="0" algn="ctr">
                        <a:spcBef>
                          <a:spcPts val="0"/>
                        </a:spcBef>
                        <a:spcAft>
                          <a:spcPts val="0"/>
                        </a:spcAft>
                        <a:buNone/>
                      </a:pPr>
                      <a:r>
                        <a:rPr lang="es" sz="1200"/>
                        <a:t>26.67</a:t>
                      </a:r>
                      <a:endParaRPr sz="1200"/>
                    </a:p>
                  </a:txBody>
                  <a:tcPr marT="18000" marB="18000" marR="91425" marL="91425"/>
                </a:tc>
                <a:tc>
                  <a:txBody>
                    <a:bodyPr/>
                    <a:lstStyle/>
                    <a:p>
                      <a:pPr indent="0" lvl="0" marL="0" rtl="0" algn="ctr">
                        <a:spcBef>
                          <a:spcPts val="0"/>
                        </a:spcBef>
                        <a:spcAft>
                          <a:spcPts val="0"/>
                        </a:spcAft>
                        <a:buNone/>
                      </a:pPr>
                      <a:r>
                        <a:rPr lang="es" sz="1200"/>
                        <a:t>53.33</a:t>
                      </a:r>
                      <a:endParaRPr sz="1200"/>
                    </a:p>
                  </a:txBody>
                  <a:tcPr marT="18000" marB="18000" marR="91425" marL="91425"/>
                </a:tc>
              </a:tr>
              <a:tr h="259650">
                <a:tc>
                  <a:txBody>
                    <a:bodyPr/>
                    <a:lstStyle/>
                    <a:p>
                      <a:pPr indent="0" lvl="0" marL="0" rtl="0" algn="ctr">
                        <a:spcBef>
                          <a:spcPts val="0"/>
                        </a:spcBef>
                        <a:spcAft>
                          <a:spcPts val="0"/>
                        </a:spcAft>
                        <a:buNone/>
                      </a:pPr>
                      <a:r>
                        <a:rPr lang="es" sz="1200"/>
                        <a:t>0.5</a:t>
                      </a:r>
                      <a:endParaRPr sz="1200"/>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r>
              <a:tr h="259650">
                <a:tc>
                  <a:txBody>
                    <a:bodyPr/>
                    <a:lstStyle/>
                    <a:p>
                      <a:pPr indent="0" lvl="0" marL="0" rtl="0" algn="ctr">
                        <a:spcBef>
                          <a:spcPts val="0"/>
                        </a:spcBef>
                        <a:spcAft>
                          <a:spcPts val="0"/>
                        </a:spcAft>
                        <a:buNone/>
                      </a:pPr>
                      <a:r>
                        <a:rPr lang="es" sz="1200"/>
                        <a:t>0</a:t>
                      </a:r>
                      <a:endParaRPr sz="1200"/>
                    </a:p>
                  </a:txBody>
                  <a:tcPr marT="18000" marB="18000" marR="91425" marL="91425"/>
                </a:tc>
                <a:tc>
                  <a:txBody>
                    <a:bodyPr/>
                    <a:lstStyle/>
                    <a:p>
                      <a:pPr indent="0" lvl="0" marL="0" rtl="0" algn="ctr">
                        <a:spcBef>
                          <a:spcPts val="0"/>
                        </a:spcBef>
                        <a:spcAft>
                          <a:spcPts val="0"/>
                        </a:spcAft>
                        <a:buNone/>
                      </a:pPr>
                      <a:r>
                        <a:rPr lang="es" sz="1200"/>
                        <a:t>25</a:t>
                      </a:r>
                      <a:endParaRPr sz="1200"/>
                    </a:p>
                  </a:txBody>
                  <a:tcPr marT="18000" marB="18000" marR="91425" marL="91425"/>
                </a:tc>
                <a:tc>
                  <a:txBody>
                    <a:bodyPr/>
                    <a:lstStyle/>
                    <a:p>
                      <a:pPr indent="0" lvl="0" marL="0" rtl="0" algn="ctr">
                        <a:spcBef>
                          <a:spcPts val="0"/>
                        </a:spcBef>
                        <a:spcAft>
                          <a:spcPts val="0"/>
                        </a:spcAft>
                        <a:buNone/>
                      </a:pPr>
                      <a:r>
                        <a:rPr lang="es" sz="1200"/>
                        <a:t>5</a:t>
                      </a:r>
                      <a:r>
                        <a:rPr lang="es" sz="1200"/>
                        <a:t>0</a:t>
                      </a:r>
                      <a:endParaRPr sz="1200"/>
                    </a:p>
                  </a:txBody>
                  <a:tcPr marT="18000" marB="18000" marR="91425" marL="91425"/>
                </a:tc>
              </a:tr>
            </a:tbl>
          </a:graphicData>
        </a:graphic>
      </p:graphicFrame>
      <p:sp>
        <p:nvSpPr>
          <p:cNvPr id="454" name="Google Shape;454;p26"/>
          <p:cNvSpPr txBox="1"/>
          <p:nvPr/>
        </p:nvSpPr>
        <p:spPr>
          <a:xfrm>
            <a:off x="3837775" y="339050"/>
            <a:ext cx="2344500" cy="12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455" name="Google Shape;455;p26" title="{&quot;red&quot;:89,&quot;green&quot;:89,&quot;blue&quot;:89,&quot;origURL&quot;:&quot;https://www.codecogs.com/eqnedit.php?latex=%5Clambda#0&quot;,&quot;size&quot;:18,&quot;width&quot;:184.60629921259843,&quot;height&quot;:100.53543307086615}"/>
          <p:cNvPicPr preferRelativeResize="0"/>
          <p:nvPr/>
        </p:nvPicPr>
        <p:blipFill>
          <a:blip r:embed="rId15">
            <a:alphaModFix/>
          </a:blip>
          <a:stretch>
            <a:fillRect/>
          </a:stretch>
        </p:blipFill>
        <p:spPr>
          <a:xfrm>
            <a:off x="5634050" y="2338832"/>
            <a:ext cx="125158" cy="181737"/>
          </a:xfrm>
          <a:prstGeom prst="rect">
            <a:avLst/>
          </a:prstGeom>
          <a:noFill/>
          <a:ln>
            <a:noFill/>
          </a:ln>
        </p:spPr>
      </p:pic>
      <p:pic>
        <p:nvPicPr>
          <p:cNvPr id="456" name="Google Shape;456;p26" title="{&quot;red&quot;:89,&quot;green&quot;:89,&quot;blue&quot;:89,&quot;origURL&quot;:&quot;https://www.codecogs.com/eqnedit.php?latex=T_2#0&quot;,&quot;size&quot;:18,&quot;width&quot;:184.60629921259843,&quot;height&quot;:100.53543307086615}"/>
          <p:cNvPicPr preferRelativeResize="0"/>
          <p:nvPr/>
        </p:nvPicPr>
        <p:blipFill>
          <a:blip r:embed="rId5">
            <a:alphaModFix/>
          </a:blip>
          <a:stretch>
            <a:fillRect/>
          </a:stretch>
        </p:blipFill>
        <p:spPr>
          <a:xfrm>
            <a:off x="6362650" y="2329746"/>
            <a:ext cx="224599" cy="214313"/>
          </a:xfrm>
          <a:prstGeom prst="rect">
            <a:avLst/>
          </a:prstGeom>
          <a:noFill/>
          <a:ln>
            <a:noFill/>
          </a:ln>
        </p:spPr>
      </p:pic>
      <p:pic>
        <p:nvPicPr>
          <p:cNvPr id="457" name="Google Shape;457;p26" title="{&quot;red&quot;:89,&quot;green&quot;:89,&quot;blue&quot;:89,&quot;origURL&quot;:&quot;https://www.codecogs.com/eqnedit.php?latex=T_3#0&quot;,&quot;size&quot;:18,&quot;width&quot;:184.60629921259843,&quot;height&quot;:100.53543307086615}"/>
          <p:cNvPicPr preferRelativeResize="0"/>
          <p:nvPr/>
        </p:nvPicPr>
        <p:blipFill>
          <a:blip r:embed="rId6">
            <a:alphaModFix/>
          </a:blip>
          <a:stretch>
            <a:fillRect/>
          </a:stretch>
        </p:blipFill>
        <p:spPr>
          <a:xfrm>
            <a:off x="7235525" y="2328033"/>
            <a:ext cx="226314" cy="217742"/>
          </a:xfrm>
          <a:prstGeom prst="rect">
            <a:avLst/>
          </a:prstGeom>
          <a:noFill/>
          <a:ln>
            <a:noFill/>
          </a:ln>
        </p:spPr>
      </p:pic>
      <p:sp>
        <p:nvSpPr>
          <p:cNvPr id="458" name="Google Shape;458;p26"/>
          <p:cNvSpPr txBox="1"/>
          <p:nvPr/>
        </p:nvSpPr>
        <p:spPr>
          <a:xfrm>
            <a:off x="3966775" y="4645975"/>
            <a:ext cx="36006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*Courtesy of Maani Ghaffari, Ryan Eustice, Frank Dellaert, Michael Kaess, Cyrill Stachniss, Pranav Ganti, Luca Carlone</a:t>
            </a:r>
            <a:endParaRPr sz="8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27"/>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457200" lvl="0" marL="3657600" rtl="0" algn="just">
              <a:spcBef>
                <a:spcPts val="0"/>
              </a:spcBef>
              <a:spcAft>
                <a:spcPts val="0"/>
              </a:spcAft>
              <a:buNone/>
            </a:pPr>
            <a:r>
              <a:rPr b="1" lang="es" sz="1200">
                <a:solidFill>
                  <a:srgbClr val="193364"/>
                </a:solidFill>
              </a:rPr>
              <a:t>Pose/factor graph optimization: </a:t>
            </a:r>
            <a:endParaRPr b="1" sz="1200">
              <a:solidFill>
                <a:srgbClr val="193364"/>
              </a:solidFill>
            </a:endParaRPr>
          </a:p>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464" name="Google Shape;464;p27"/>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Factor Graph</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grpSp>
        <p:nvGrpSpPr>
          <p:cNvPr id="465" name="Google Shape;465;p27"/>
          <p:cNvGrpSpPr/>
          <p:nvPr/>
        </p:nvGrpSpPr>
        <p:grpSpPr>
          <a:xfrm>
            <a:off x="1095318" y="4449088"/>
            <a:ext cx="712880" cy="694332"/>
            <a:chOff x="1095318" y="4449088"/>
            <a:chExt cx="712880" cy="694332"/>
          </a:xfrm>
        </p:grpSpPr>
        <p:sp>
          <p:nvSpPr>
            <p:cNvPr id="466" name="Google Shape;466;p27"/>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467" name="Google Shape;467;p27"/>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468" name="Google Shape;468;p27"/>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469" name="Google Shape;469;p27"/>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grpSp>
        <p:nvGrpSpPr>
          <p:cNvPr id="470" name="Google Shape;470;p27"/>
          <p:cNvGrpSpPr/>
          <p:nvPr/>
        </p:nvGrpSpPr>
        <p:grpSpPr>
          <a:xfrm>
            <a:off x="510072" y="2993761"/>
            <a:ext cx="3666406" cy="1087198"/>
            <a:chOff x="4679980" y="2633200"/>
            <a:chExt cx="4103880" cy="1216921"/>
          </a:xfrm>
        </p:grpSpPr>
        <p:sp>
          <p:nvSpPr>
            <p:cNvPr id="471" name="Google Shape;471;p27"/>
            <p:cNvSpPr/>
            <p:nvPr/>
          </p:nvSpPr>
          <p:spPr>
            <a:xfrm>
              <a:off x="4679980" y="3238250"/>
              <a:ext cx="535200" cy="536400"/>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sp>
          <p:nvSpPr>
            <p:cNvPr id="472" name="Google Shape;472;p27"/>
            <p:cNvSpPr/>
            <p:nvPr/>
          </p:nvSpPr>
          <p:spPr>
            <a:xfrm>
              <a:off x="6464320" y="3238250"/>
              <a:ext cx="535200" cy="536400"/>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sp>
          <p:nvSpPr>
            <p:cNvPr id="473" name="Google Shape;473;p27"/>
            <p:cNvSpPr/>
            <p:nvPr/>
          </p:nvSpPr>
          <p:spPr>
            <a:xfrm>
              <a:off x="8248660" y="3238250"/>
              <a:ext cx="535200" cy="536400"/>
            </a:xfrm>
            <a:prstGeom prst="ellipse">
              <a:avLst/>
            </a:prstGeom>
            <a:noFill/>
            <a:ln cap="flat" cmpd="sng" w="8500">
              <a:solidFill>
                <a:srgbClr val="193364"/>
              </a:solidFill>
              <a:prstDash val="solid"/>
              <a:round/>
              <a:headEnd len="sm" w="sm" type="none"/>
              <a:tailEnd len="sm" w="sm" type="none"/>
            </a:ln>
          </p:spPr>
          <p:txBody>
            <a:bodyPr anchorCtr="0" anchor="ctr" bIns="81675" lIns="81675" spcFirstLastPara="1" rIns="81675" wrap="square" tIns="81675">
              <a:noAutofit/>
            </a:bodyPr>
            <a:lstStyle/>
            <a:p>
              <a:pPr indent="0" lvl="0" marL="0" rtl="0" algn="ctr">
                <a:spcBef>
                  <a:spcPts val="0"/>
                </a:spcBef>
                <a:spcAft>
                  <a:spcPts val="0"/>
                </a:spcAft>
                <a:buNone/>
              </a:pPr>
              <a:r>
                <a:t/>
              </a:r>
              <a:endParaRPr sz="1251"/>
            </a:p>
          </p:txBody>
        </p:sp>
        <p:cxnSp>
          <p:nvCxnSpPr>
            <p:cNvPr id="474" name="Google Shape;474;p27"/>
            <p:cNvCxnSpPr>
              <a:stCxn id="471" idx="6"/>
              <a:endCxn id="472" idx="2"/>
            </p:cNvCxnSpPr>
            <p:nvPr/>
          </p:nvCxnSpPr>
          <p:spPr>
            <a:xfrm>
              <a:off x="5215180" y="3506450"/>
              <a:ext cx="1249200" cy="0"/>
            </a:xfrm>
            <a:prstGeom prst="straightConnector1">
              <a:avLst/>
            </a:prstGeom>
            <a:noFill/>
            <a:ln cap="flat" cmpd="sng" w="8500">
              <a:solidFill>
                <a:srgbClr val="193364"/>
              </a:solidFill>
              <a:prstDash val="solid"/>
              <a:round/>
              <a:headEnd len="med" w="med" type="none"/>
              <a:tailEnd len="med" w="med" type="none"/>
            </a:ln>
          </p:spPr>
        </p:cxnSp>
        <p:cxnSp>
          <p:nvCxnSpPr>
            <p:cNvPr id="475" name="Google Shape;475;p27"/>
            <p:cNvCxnSpPr>
              <a:stCxn id="472" idx="6"/>
              <a:endCxn id="473" idx="2"/>
            </p:cNvCxnSpPr>
            <p:nvPr/>
          </p:nvCxnSpPr>
          <p:spPr>
            <a:xfrm>
              <a:off x="6999520" y="3506450"/>
              <a:ext cx="1249200" cy="0"/>
            </a:xfrm>
            <a:prstGeom prst="straightConnector1">
              <a:avLst/>
            </a:prstGeom>
            <a:noFill/>
            <a:ln cap="flat" cmpd="sng" w="8500">
              <a:solidFill>
                <a:srgbClr val="193364"/>
              </a:solidFill>
              <a:prstDash val="solid"/>
              <a:round/>
              <a:headEnd len="med" w="med" type="none"/>
              <a:tailEnd len="med" w="med" type="none"/>
            </a:ln>
          </p:spPr>
        </p:cxnSp>
        <p:sp>
          <p:nvSpPr>
            <p:cNvPr id="476" name="Google Shape;476;p27"/>
            <p:cNvSpPr/>
            <p:nvPr/>
          </p:nvSpPr>
          <p:spPr>
            <a:xfrm>
              <a:off x="5122992" y="2978752"/>
              <a:ext cx="3191104" cy="353494"/>
            </a:xfrm>
            <a:custGeom>
              <a:rect b="b" l="l" r="r" t="t"/>
              <a:pathLst>
                <a:path extrusionOk="0" h="13298" w="129273">
                  <a:moveTo>
                    <a:pt x="0" y="12144"/>
                  </a:moveTo>
                  <a:cubicBezTo>
                    <a:pt x="10629" y="10124"/>
                    <a:pt x="42226" y="-168"/>
                    <a:pt x="63771" y="24"/>
                  </a:cubicBezTo>
                  <a:cubicBezTo>
                    <a:pt x="85317" y="216"/>
                    <a:pt x="118356" y="11086"/>
                    <a:pt x="129273" y="13298"/>
                  </a:cubicBezTo>
                </a:path>
              </a:pathLst>
            </a:custGeom>
            <a:noFill/>
            <a:ln cap="flat" cmpd="sng" w="8500">
              <a:solidFill>
                <a:srgbClr val="193364"/>
              </a:solidFill>
              <a:prstDash val="solid"/>
              <a:round/>
              <a:headEnd len="med" w="med" type="none"/>
              <a:tailEnd len="med" w="med" type="none"/>
            </a:ln>
          </p:spPr>
        </p:sp>
        <p:pic>
          <p:nvPicPr>
            <p:cNvPr id="477" name="Google Shape;477;p27" title="{&quot;red&quot;:89,&quot;green&quot;:89,&quot;blue&quot;:89,&quot;origURL&quot;:&quot;https://www.codecogs.com/eqnedit.php?latex=T_1#0&quot;,&quot;size&quot;:18,&quot;width&quot;:193.70078740157481,&quot;height&quot;:158.33858267716536}"/>
            <p:cNvPicPr preferRelativeResize="0"/>
            <p:nvPr/>
          </p:nvPicPr>
          <p:blipFill>
            <a:blip r:embed="rId4">
              <a:alphaModFix/>
            </a:blip>
            <a:stretch>
              <a:fillRect/>
            </a:stretch>
          </p:blipFill>
          <p:spPr>
            <a:xfrm>
              <a:off x="4842000" y="3402000"/>
              <a:ext cx="216000" cy="216000"/>
            </a:xfrm>
            <a:prstGeom prst="rect">
              <a:avLst/>
            </a:prstGeom>
            <a:noFill/>
            <a:ln>
              <a:noFill/>
            </a:ln>
          </p:spPr>
        </p:pic>
        <p:pic>
          <p:nvPicPr>
            <p:cNvPr id="478" name="Google Shape;478;p27" title="{&quot;red&quot;:89,&quot;green&quot;:89,&quot;blue&quot;:89,&quot;origURL&quot;:&quot;https://www.codecogs.com/eqnedit.php?latex=T_2#0&quot;,&quot;size&quot;:18,&quot;width&quot;:193.70078740157481,&quot;height&quot;:158.33858267716536}"/>
            <p:cNvPicPr preferRelativeResize="0"/>
            <p:nvPr/>
          </p:nvPicPr>
          <p:blipFill>
            <a:blip r:embed="rId5">
              <a:alphaModFix/>
            </a:blip>
            <a:stretch>
              <a:fillRect/>
            </a:stretch>
          </p:blipFill>
          <p:spPr>
            <a:xfrm>
              <a:off x="6637700" y="3402838"/>
              <a:ext cx="224599" cy="214313"/>
            </a:xfrm>
            <a:prstGeom prst="rect">
              <a:avLst/>
            </a:prstGeom>
            <a:noFill/>
            <a:ln>
              <a:noFill/>
            </a:ln>
          </p:spPr>
        </p:pic>
        <p:pic>
          <p:nvPicPr>
            <p:cNvPr id="479" name="Google Shape;479;p27" title="{&quot;red&quot;:89,&quot;green&quot;:89,&quot;blue&quot;:89,&quot;origURL&quot;:&quot;https://www.codecogs.com/eqnedit.php?latex=T_3#0&quot;,&quot;size&quot;:18,&quot;width&quot;:193.70078740157481,&quot;height&quot;:158.33858267716536}"/>
            <p:cNvPicPr preferRelativeResize="0"/>
            <p:nvPr/>
          </p:nvPicPr>
          <p:blipFill>
            <a:blip r:embed="rId6">
              <a:alphaModFix/>
            </a:blip>
            <a:stretch>
              <a:fillRect/>
            </a:stretch>
          </p:blipFill>
          <p:spPr>
            <a:xfrm>
              <a:off x="8442000" y="3401125"/>
              <a:ext cx="226314" cy="217742"/>
            </a:xfrm>
            <a:prstGeom prst="rect">
              <a:avLst/>
            </a:prstGeom>
            <a:noFill/>
            <a:ln>
              <a:noFill/>
            </a:ln>
          </p:spPr>
        </p:pic>
        <p:pic>
          <p:nvPicPr>
            <p:cNvPr id="480" name="Google Shape;480;p27" title="{&quot;red&quot;:89,&quot;green&quot;:89,&quot;blue&quot;:89,&quot;origURL&quot;:&quot;https://www.codecogs.com/eqnedit.php?latex=%5Chat%7BT%7D_%7B12%7D#0&quot;,&quot;size&quot;:18,&quot;width&quot;:193.70078740157481,&quot;height&quot;:158.33858267716536}"/>
            <p:cNvPicPr preferRelativeResize="0"/>
            <p:nvPr/>
          </p:nvPicPr>
          <p:blipFill>
            <a:blip r:embed="rId7">
              <a:alphaModFix/>
            </a:blip>
            <a:stretch>
              <a:fillRect/>
            </a:stretch>
          </p:blipFill>
          <p:spPr>
            <a:xfrm>
              <a:off x="5690113" y="3565513"/>
              <a:ext cx="315468" cy="282893"/>
            </a:xfrm>
            <a:prstGeom prst="rect">
              <a:avLst/>
            </a:prstGeom>
            <a:noFill/>
            <a:ln>
              <a:noFill/>
            </a:ln>
          </p:spPr>
        </p:pic>
        <p:pic>
          <p:nvPicPr>
            <p:cNvPr id="481" name="Google Shape;481;p27" title="{&quot;red&quot;:89,&quot;green&quot;:89,&quot;blue&quot;:89,&quot;origURL&quot;:&quot;https://www.codecogs.com/eqnedit.php?latex=%5Chat%7BT%7D_%7B23%7D#0&quot;,&quot;size&quot;:18,&quot;width&quot;:193.70078740157481,&quot;height&quot;:158.33858267716536}"/>
            <p:cNvPicPr preferRelativeResize="0"/>
            <p:nvPr/>
          </p:nvPicPr>
          <p:blipFill>
            <a:blip r:embed="rId8">
              <a:alphaModFix/>
            </a:blip>
            <a:stretch>
              <a:fillRect/>
            </a:stretch>
          </p:blipFill>
          <p:spPr>
            <a:xfrm>
              <a:off x="7493550" y="3563800"/>
              <a:ext cx="317182" cy="286321"/>
            </a:xfrm>
            <a:prstGeom prst="rect">
              <a:avLst/>
            </a:prstGeom>
            <a:noFill/>
            <a:ln>
              <a:noFill/>
            </a:ln>
          </p:spPr>
        </p:pic>
        <p:pic>
          <p:nvPicPr>
            <p:cNvPr id="482" name="Google Shape;482;p27" title="{&quot;red&quot;:89,&quot;green&quot;:89,&quot;blue&quot;:89,&quot;origURL&quot;:&quot;https://www.codecogs.com/eqnedit.php?latex=%5Chat%7BT%7D_%7B13%7D#0&quot;,&quot;size&quot;:18,&quot;width&quot;:193.70078740157481,&quot;height&quot;:158.33858267716536}"/>
            <p:cNvPicPr preferRelativeResize="0"/>
            <p:nvPr/>
          </p:nvPicPr>
          <p:blipFill>
            <a:blip r:embed="rId9">
              <a:alphaModFix/>
            </a:blip>
            <a:stretch>
              <a:fillRect/>
            </a:stretch>
          </p:blipFill>
          <p:spPr>
            <a:xfrm>
              <a:off x="6591400" y="2633200"/>
              <a:ext cx="317182" cy="286322"/>
            </a:xfrm>
            <a:prstGeom prst="rect">
              <a:avLst/>
            </a:prstGeom>
            <a:noFill/>
            <a:ln>
              <a:noFill/>
            </a:ln>
          </p:spPr>
        </p:pic>
      </p:grpSp>
      <p:grpSp>
        <p:nvGrpSpPr>
          <p:cNvPr id="483" name="Google Shape;483;p27"/>
          <p:cNvGrpSpPr/>
          <p:nvPr/>
        </p:nvGrpSpPr>
        <p:grpSpPr>
          <a:xfrm>
            <a:off x="359994" y="1410275"/>
            <a:ext cx="3966549" cy="1225900"/>
            <a:chOff x="436594" y="2742175"/>
            <a:chExt cx="3966549" cy="1225900"/>
          </a:xfrm>
        </p:grpSpPr>
        <p:pic>
          <p:nvPicPr>
            <p:cNvPr id="484" name="Google Shape;484;p27"/>
            <p:cNvPicPr preferRelativeResize="0"/>
            <p:nvPr/>
          </p:nvPicPr>
          <p:blipFill rotWithShape="1">
            <a:blip r:embed="rId10">
              <a:alphaModFix/>
            </a:blip>
            <a:srcRect b="8800" l="10210" r="6171" t="9038"/>
            <a:stretch/>
          </p:blipFill>
          <p:spPr>
            <a:xfrm>
              <a:off x="436594" y="2979927"/>
              <a:ext cx="926262" cy="910111"/>
            </a:xfrm>
            <a:prstGeom prst="rect">
              <a:avLst/>
            </a:prstGeom>
            <a:noFill/>
            <a:ln>
              <a:noFill/>
            </a:ln>
          </p:spPr>
        </p:pic>
        <p:pic>
          <p:nvPicPr>
            <p:cNvPr id="485" name="Google Shape;485;p27"/>
            <p:cNvPicPr preferRelativeResize="0"/>
            <p:nvPr/>
          </p:nvPicPr>
          <p:blipFill rotWithShape="1">
            <a:blip r:embed="rId10">
              <a:alphaModFix/>
            </a:blip>
            <a:srcRect b="8800" l="10210" r="6171" t="9038"/>
            <a:stretch/>
          </p:blipFill>
          <p:spPr>
            <a:xfrm>
              <a:off x="1956738" y="2979927"/>
              <a:ext cx="926262" cy="910111"/>
            </a:xfrm>
            <a:prstGeom prst="rect">
              <a:avLst/>
            </a:prstGeom>
            <a:noFill/>
            <a:ln>
              <a:noFill/>
            </a:ln>
          </p:spPr>
        </p:pic>
        <p:pic>
          <p:nvPicPr>
            <p:cNvPr id="486" name="Google Shape;486;p27"/>
            <p:cNvPicPr preferRelativeResize="0"/>
            <p:nvPr/>
          </p:nvPicPr>
          <p:blipFill rotWithShape="1">
            <a:blip r:embed="rId10">
              <a:alphaModFix/>
            </a:blip>
            <a:srcRect b="8800" l="10210" r="6171" t="9038"/>
            <a:stretch/>
          </p:blipFill>
          <p:spPr>
            <a:xfrm>
              <a:off x="3476881" y="2979927"/>
              <a:ext cx="926262" cy="910111"/>
            </a:xfrm>
            <a:prstGeom prst="rect">
              <a:avLst/>
            </a:prstGeom>
            <a:noFill/>
            <a:ln>
              <a:noFill/>
            </a:ln>
          </p:spPr>
        </p:pic>
        <p:cxnSp>
          <p:nvCxnSpPr>
            <p:cNvPr id="487" name="Google Shape;487;p27"/>
            <p:cNvCxnSpPr>
              <a:stCxn id="484" idx="3"/>
              <a:endCxn id="485" idx="1"/>
            </p:cNvCxnSpPr>
            <p:nvPr/>
          </p:nvCxnSpPr>
          <p:spPr>
            <a:xfrm>
              <a:off x="1362856" y="3434982"/>
              <a:ext cx="594000" cy="0"/>
            </a:xfrm>
            <a:prstGeom prst="straightConnector1">
              <a:avLst/>
            </a:prstGeom>
            <a:noFill/>
            <a:ln cap="flat" cmpd="sng" w="19475">
              <a:solidFill>
                <a:schemeClr val="dk2"/>
              </a:solidFill>
              <a:prstDash val="solid"/>
              <a:round/>
              <a:headEnd len="med" w="med" type="none"/>
              <a:tailEnd len="med" w="med" type="triangle"/>
            </a:ln>
          </p:spPr>
        </p:cxnSp>
        <p:cxnSp>
          <p:nvCxnSpPr>
            <p:cNvPr id="488" name="Google Shape;488;p27"/>
            <p:cNvCxnSpPr>
              <a:stCxn id="485" idx="3"/>
              <a:endCxn id="486" idx="1"/>
            </p:cNvCxnSpPr>
            <p:nvPr/>
          </p:nvCxnSpPr>
          <p:spPr>
            <a:xfrm>
              <a:off x="2882999" y="3434982"/>
              <a:ext cx="594000" cy="0"/>
            </a:xfrm>
            <a:prstGeom prst="straightConnector1">
              <a:avLst/>
            </a:prstGeom>
            <a:noFill/>
            <a:ln cap="flat" cmpd="sng" w="19475">
              <a:solidFill>
                <a:schemeClr val="dk2"/>
              </a:solidFill>
              <a:prstDash val="solid"/>
              <a:round/>
              <a:headEnd len="med" w="med" type="none"/>
              <a:tailEnd len="med" w="med" type="triangle"/>
            </a:ln>
          </p:spPr>
        </p:cxnSp>
        <p:cxnSp>
          <p:nvCxnSpPr>
            <p:cNvPr id="489" name="Google Shape;489;p27"/>
            <p:cNvCxnSpPr/>
            <p:nvPr/>
          </p:nvCxnSpPr>
          <p:spPr>
            <a:xfrm flipH="1" rot="10800000">
              <a:off x="969721" y="2892346"/>
              <a:ext cx="2870400" cy="6000"/>
            </a:xfrm>
            <a:prstGeom prst="straightConnector1">
              <a:avLst/>
            </a:prstGeom>
            <a:noFill/>
            <a:ln cap="flat" cmpd="sng" w="19475">
              <a:solidFill>
                <a:schemeClr val="dk2"/>
              </a:solidFill>
              <a:prstDash val="solid"/>
              <a:round/>
              <a:headEnd len="med" w="med" type="none"/>
              <a:tailEnd len="med" w="med" type="triangle"/>
            </a:ln>
          </p:spPr>
        </p:cxnSp>
        <p:pic>
          <p:nvPicPr>
            <p:cNvPr id="490" name="Google Shape;490;p27" title="{&quot;red&quot;:89,&quot;green&quot;:89,&quot;blue&quot;:89,&quot;origURL&quot;:&quot;https://www.codecogs.com/eqnedit.php?latex=T_1#0&quot;,&quot;size&quot;:18,&quot;width&quot;:193.70078740157481,&quot;height&quot;:158.33858267716536}"/>
            <p:cNvPicPr preferRelativeResize="0"/>
            <p:nvPr/>
          </p:nvPicPr>
          <p:blipFill>
            <a:blip r:embed="rId4">
              <a:alphaModFix/>
            </a:blip>
            <a:stretch>
              <a:fillRect/>
            </a:stretch>
          </p:blipFill>
          <p:spPr>
            <a:xfrm>
              <a:off x="778575" y="3823063"/>
              <a:ext cx="144000" cy="144000"/>
            </a:xfrm>
            <a:prstGeom prst="rect">
              <a:avLst/>
            </a:prstGeom>
            <a:noFill/>
            <a:ln>
              <a:noFill/>
            </a:ln>
          </p:spPr>
        </p:pic>
        <p:pic>
          <p:nvPicPr>
            <p:cNvPr id="491" name="Google Shape;491;p27" title="{&quot;red&quot;:89,&quot;green&quot;:89,&quot;blue&quot;:89,&quot;origURL&quot;:&quot;https://www.codecogs.com/eqnedit.php?latex=T_2#0&quot;,&quot;size&quot;:18,&quot;width&quot;:193.70078740157481,&quot;height&quot;:158.33858267716536}"/>
            <p:cNvPicPr preferRelativeResize="0"/>
            <p:nvPr/>
          </p:nvPicPr>
          <p:blipFill>
            <a:blip r:embed="rId5">
              <a:alphaModFix/>
            </a:blip>
            <a:stretch>
              <a:fillRect/>
            </a:stretch>
          </p:blipFill>
          <p:spPr>
            <a:xfrm>
              <a:off x="2318700" y="3822375"/>
              <a:ext cx="151200" cy="145385"/>
            </a:xfrm>
            <a:prstGeom prst="rect">
              <a:avLst/>
            </a:prstGeom>
            <a:noFill/>
            <a:ln>
              <a:noFill/>
            </a:ln>
          </p:spPr>
        </p:pic>
        <p:pic>
          <p:nvPicPr>
            <p:cNvPr id="492" name="Google Shape;492;p27" title="{&quot;red&quot;:89,&quot;green&quot;:89,&quot;blue&quot;:89,&quot;origURL&quot;:&quot;https://www.codecogs.com/eqnedit.php?latex=T_3#0&quot;,&quot;size&quot;:18,&quot;width&quot;:193.70078740157481,&quot;height&quot;:158.33858267716536}"/>
            <p:cNvPicPr preferRelativeResize="0"/>
            <p:nvPr/>
          </p:nvPicPr>
          <p:blipFill>
            <a:blip r:embed="rId6">
              <a:alphaModFix/>
            </a:blip>
            <a:stretch>
              <a:fillRect/>
            </a:stretch>
          </p:blipFill>
          <p:spPr>
            <a:xfrm>
              <a:off x="3866013" y="3822038"/>
              <a:ext cx="154800" cy="146038"/>
            </a:xfrm>
            <a:prstGeom prst="rect">
              <a:avLst/>
            </a:prstGeom>
            <a:noFill/>
            <a:ln>
              <a:noFill/>
            </a:ln>
          </p:spPr>
        </p:pic>
        <p:pic>
          <p:nvPicPr>
            <p:cNvPr id="493" name="Google Shape;493;p27" title="{&quot;red&quot;:89,&quot;green&quot;:89,&quot;blue&quot;:89,&quot;origURL&quot;:&quot;https://www.codecogs.com/eqnedit.php?latex=%20a%20%3D%2030cm%20#0&quot;,&quot;size&quot;:24,&quot;width&quot;:670.9133858267717,&quot;height&quot;:269.00787401574803}"/>
            <p:cNvPicPr preferRelativeResize="0"/>
            <p:nvPr/>
          </p:nvPicPr>
          <p:blipFill>
            <a:blip r:embed="rId11">
              <a:alphaModFix/>
            </a:blip>
            <a:stretch>
              <a:fillRect/>
            </a:stretch>
          </p:blipFill>
          <p:spPr>
            <a:xfrm>
              <a:off x="1310032" y="3239772"/>
              <a:ext cx="613092" cy="104675"/>
            </a:xfrm>
            <a:prstGeom prst="rect">
              <a:avLst/>
            </a:prstGeom>
            <a:noFill/>
            <a:ln>
              <a:noFill/>
            </a:ln>
          </p:spPr>
        </p:pic>
        <p:pic>
          <p:nvPicPr>
            <p:cNvPr id="494" name="Google Shape;494;p27" title="{&quot;red&quot;:89,&quot;green&quot;:89,&quot;blue&quot;:89,&quot;origURL&quot;:&quot;https://www.codecogs.com/eqnedit.php?latex=%20b%20%3D%2030cm%20#0&quot;,&quot;size&quot;:24,&quot;width&quot;:670.9133858267717,&quot;height&quot;:269.00787401574803}"/>
            <p:cNvPicPr preferRelativeResize="0"/>
            <p:nvPr/>
          </p:nvPicPr>
          <p:blipFill>
            <a:blip r:embed="rId12">
              <a:alphaModFix/>
            </a:blip>
            <a:stretch>
              <a:fillRect/>
            </a:stretch>
          </p:blipFill>
          <p:spPr>
            <a:xfrm>
              <a:off x="2873440" y="3250383"/>
              <a:ext cx="613100" cy="112292"/>
            </a:xfrm>
            <a:prstGeom prst="rect">
              <a:avLst/>
            </a:prstGeom>
            <a:noFill/>
            <a:ln>
              <a:noFill/>
            </a:ln>
          </p:spPr>
        </p:pic>
        <p:pic>
          <p:nvPicPr>
            <p:cNvPr id="495" name="Google Shape;495;p27" title="{&quot;red&quot;:89,&quot;green&quot;:89,&quot;blue&quot;:89,&quot;origURL&quot;:&quot;https://www.codecogs.com/eqnedit.php?latex=%20c%20%3D%2050cm%20#0&quot;,&quot;size&quot;:24,&quot;width&quot;:670.9133858267717,&quot;height&quot;:269.00787401574803}"/>
            <p:cNvPicPr preferRelativeResize="0"/>
            <p:nvPr/>
          </p:nvPicPr>
          <p:blipFill>
            <a:blip r:embed="rId13">
              <a:alphaModFix/>
            </a:blip>
            <a:stretch>
              <a:fillRect/>
            </a:stretch>
          </p:blipFill>
          <p:spPr>
            <a:xfrm>
              <a:off x="2063426" y="2742175"/>
              <a:ext cx="601412" cy="104675"/>
            </a:xfrm>
            <a:prstGeom prst="rect">
              <a:avLst/>
            </a:prstGeom>
            <a:noFill/>
            <a:ln>
              <a:noFill/>
            </a:ln>
          </p:spPr>
        </p:pic>
      </p:grpSp>
      <p:pic>
        <p:nvPicPr>
          <p:cNvPr id="496" name="Google Shape;496;p27"/>
          <p:cNvPicPr preferRelativeResize="0"/>
          <p:nvPr/>
        </p:nvPicPr>
        <p:blipFill>
          <a:blip r:embed="rId14">
            <a:alphaModFix/>
          </a:blip>
          <a:stretch>
            <a:fillRect/>
          </a:stretch>
        </p:blipFill>
        <p:spPr>
          <a:xfrm>
            <a:off x="5251025" y="1506075"/>
            <a:ext cx="2259043" cy="528525"/>
          </a:xfrm>
          <a:prstGeom prst="rect">
            <a:avLst/>
          </a:prstGeom>
          <a:noFill/>
          <a:ln>
            <a:noFill/>
          </a:ln>
        </p:spPr>
      </p:pic>
      <p:graphicFrame>
        <p:nvGraphicFramePr>
          <p:cNvPr id="497" name="Google Shape;497;p27"/>
          <p:cNvGraphicFramePr/>
          <p:nvPr/>
        </p:nvGraphicFramePr>
        <p:xfrm>
          <a:off x="5316875" y="2300561"/>
          <a:ext cx="3000000" cy="3000000"/>
        </p:xfrm>
        <a:graphic>
          <a:graphicData uri="http://schemas.openxmlformats.org/drawingml/2006/table">
            <a:tbl>
              <a:tblPr>
                <a:noFill/>
                <a:tableStyleId>{1B1081EC-A0A6-41FB-9FD4-7EDB2B2B40E8}</a:tableStyleId>
              </a:tblPr>
              <a:tblGrid>
                <a:gridCol w="794700"/>
                <a:gridCol w="794700"/>
                <a:gridCol w="794700"/>
              </a:tblGrid>
              <a:tr h="259650">
                <a:tc>
                  <a:txBody>
                    <a:bodyPr/>
                    <a:lstStyle/>
                    <a:p>
                      <a:pPr indent="0" lvl="0" marL="0" rtl="0" algn="l">
                        <a:spcBef>
                          <a:spcPts val="0"/>
                        </a:spcBef>
                        <a:spcAft>
                          <a:spcPts val="0"/>
                        </a:spcAft>
                        <a:buNone/>
                      </a:pPr>
                      <a:r>
                        <a:t/>
                      </a:r>
                      <a:endParaRPr/>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c>
                  <a:txBody>
                    <a:bodyPr/>
                    <a:lstStyle/>
                    <a:p>
                      <a:pPr indent="0" lvl="0" marL="0" rtl="0" algn="l">
                        <a:spcBef>
                          <a:spcPts val="0"/>
                        </a:spcBef>
                        <a:spcAft>
                          <a:spcPts val="0"/>
                        </a:spcAft>
                        <a:buNone/>
                      </a:pPr>
                      <a:r>
                        <a:t/>
                      </a:r>
                      <a:endParaRPr/>
                    </a:p>
                  </a:txBody>
                  <a:tcPr marT="18000" marB="18000" marR="91425" marL="91425"/>
                </a:tc>
              </a:tr>
              <a:tr h="259650">
                <a:tc>
                  <a:txBody>
                    <a:bodyPr/>
                    <a:lstStyle/>
                    <a:p>
                      <a:pPr indent="0" lvl="0" marL="0" rtl="0" algn="ctr">
                        <a:spcBef>
                          <a:spcPts val="0"/>
                        </a:spcBef>
                        <a:spcAft>
                          <a:spcPts val="0"/>
                        </a:spcAft>
                        <a:buNone/>
                      </a:pPr>
                      <a:r>
                        <a:rPr lang="es" sz="1200"/>
                        <a:t>∞</a:t>
                      </a:r>
                      <a:endParaRPr sz="1200"/>
                    </a:p>
                  </a:txBody>
                  <a:tcPr marT="18000" marB="18000" marR="91425" marL="91425"/>
                </a:tc>
                <a:tc>
                  <a:txBody>
                    <a:bodyPr/>
                    <a:lstStyle/>
                    <a:p>
                      <a:pPr indent="0" lvl="0" marL="0" rtl="0" algn="ctr">
                        <a:spcBef>
                          <a:spcPts val="0"/>
                        </a:spcBef>
                        <a:spcAft>
                          <a:spcPts val="0"/>
                        </a:spcAft>
                        <a:buNone/>
                      </a:pPr>
                      <a:r>
                        <a:rPr lang="es" sz="1200"/>
                        <a:t>30</a:t>
                      </a:r>
                      <a:endParaRPr sz="1200"/>
                    </a:p>
                  </a:txBody>
                  <a:tcPr marT="18000" marB="18000" marR="91425" marL="91425"/>
                </a:tc>
                <a:tc>
                  <a:txBody>
                    <a:bodyPr/>
                    <a:lstStyle/>
                    <a:p>
                      <a:pPr indent="0" lvl="0" marL="0" rtl="0" algn="ctr">
                        <a:spcBef>
                          <a:spcPts val="0"/>
                        </a:spcBef>
                        <a:spcAft>
                          <a:spcPts val="0"/>
                        </a:spcAft>
                        <a:buNone/>
                      </a:pPr>
                      <a:r>
                        <a:rPr lang="es" sz="1200"/>
                        <a:t>60</a:t>
                      </a:r>
                      <a:endParaRPr sz="1200"/>
                    </a:p>
                  </a:txBody>
                  <a:tcPr marT="18000" marB="18000" marR="91425" marL="91425"/>
                </a:tc>
              </a:tr>
              <a:tr h="259650">
                <a:tc>
                  <a:txBody>
                    <a:bodyPr/>
                    <a:lstStyle/>
                    <a:p>
                      <a:pPr indent="0" lvl="0" marL="0" rtl="0" algn="ctr">
                        <a:spcBef>
                          <a:spcPts val="0"/>
                        </a:spcBef>
                        <a:spcAft>
                          <a:spcPts val="0"/>
                        </a:spcAft>
                        <a:buNone/>
                      </a:pPr>
                      <a:r>
                        <a:rPr lang="es" sz="1200"/>
                        <a:t>2</a:t>
                      </a:r>
                      <a:endParaRPr sz="1200"/>
                    </a:p>
                  </a:txBody>
                  <a:tcPr marT="0" marB="0" marR="91425" marL="91425"/>
                </a:tc>
                <a:tc>
                  <a:txBody>
                    <a:bodyPr/>
                    <a:lstStyle/>
                    <a:p>
                      <a:pPr indent="0" lvl="0" marL="0" rtl="0" algn="ctr">
                        <a:spcBef>
                          <a:spcPts val="0"/>
                        </a:spcBef>
                        <a:spcAft>
                          <a:spcPts val="0"/>
                        </a:spcAft>
                        <a:buNone/>
                      </a:pPr>
                      <a:r>
                        <a:rPr lang="es" sz="1200"/>
                        <a:t>27.5</a:t>
                      </a:r>
                      <a:endParaRPr sz="1200"/>
                    </a:p>
                  </a:txBody>
                  <a:tcPr marT="18000" marB="18000" marR="91425" marL="91425"/>
                </a:tc>
                <a:tc>
                  <a:txBody>
                    <a:bodyPr/>
                    <a:lstStyle/>
                    <a:p>
                      <a:pPr indent="0" lvl="0" marL="0" rtl="0" algn="ctr">
                        <a:spcBef>
                          <a:spcPts val="0"/>
                        </a:spcBef>
                        <a:spcAft>
                          <a:spcPts val="0"/>
                        </a:spcAft>
                        <a:buNone/>
                      </a:pPr>
                      <a:r>
                        <a:rPr lang="es" sz="1200"/>
                        <a:t>55</a:t>
                      </a:r>
                      <a:endParaRPr sz="1200"/>
                    </a:p>
                  </a:txBody>
                  <a:tcPr marT="18000" marB="18000" marR="91425" marL="91425"/>
                </a:tc>
              </a:tr>
              <a:tr h="259650">
                <a:tc>
                  <a:txBody>
                    <a:bodyPr/>
                    <a:lstStyle/>
                    <a:p>
                      <a:pPr indent="0" lvl="0" marL="0" rtl="0" algn="ctr">
                        <a:spcBef>
                          <a:spcPts val="0"/>
                        </a:spcBef>
                        <a:spcAft>
                          <a:spcPts val="0"/>
                        </a:spcAft>
                        <a:buNone/>
                      </a:pPr>
                      <a:r>
                        <a:rPr lang="es" sz="1200"/>
                        <a:t>1.5</a:t>
                      </a:r>
                      <a:endParaRPr sz="1200"/>
                    </a:p>
                  </a:txBody>
                  <a:tcPr marT="18000" marB="18000" marR="91425" marL="91425"/>
                </a:tc>
                <a:tc>
                  <a:txBody>
                    <a:bodyPr/>
                    <a:lstStyle/>
                    <a:p>
                      <a:pPr indent="0" lvl="0" marL="0" rtl="0" algn="ctr">
                        <a:spcBef>
                          <a:spcPts val="0"/>
                        </a:spcBef>
                        <a:spcAft>
                          <a:spcPts val="0"/>
                        </a:spcAft>
                        <a:buNone/>
                      </a:pPr>
                      <a:r>
                        <a:rPr lang="es" sz="1200"/>
                        <a:t>27.14</a:t>
                      </a:r>
                      <a:endParaRPr sz="1200"/>
                    </a:p>
                  </a:txBody>
                  <a:tcPr marT="18000" marB="18000" marR="91425" marL="91425"/>
                </a:tc>
                <a:tc>
                  <a:txBody>
                    <a:bodyPr/>
                    <a:lstStyle/>
                    <a:p>
                      <a:pPr indent="0" lvl="0" marL="0" rtl="0" algn="ctr">
                        <a:spcBef>
                          <a:spcPts val="0"/>
                        </a:spcBef>
                        <a:spcAft>
                          <a:spcPts val="0"/>
                        </a:spcAft>
                        <a:buNone/>
                      </a:pPr>
                      <a:r>
                        <a:rPr lang="es" sz="1200"/>
                        <a:t>54.28</a:t>
                      </a:r>
                      <a:endParaRPr sz="1200"/>
                    </a:p>
                  </a:txBody>
                  <a:tcPr marT="18000" marB="18000" marR="91425" marL="91425"/>
                </a:tc>
              </a:tr>
              <a:tr h="259650">
                <a:tc>
                  <a:txBody>
                    <a:bodyPr/>
                    <a:lstStyle/>
                    <a:p>
                      <a:pPr indent="0" lvl="0" marL="0" rtl="0" algn="ctr">
                        <a:spcBef>
                          <a:spcPts val="0"/>
                        </a:spcBef>
                        <a:spcAft>
                          <a:spcPts val="0"/>
                        </a:spcAft>
                        <a:buNone/>
                      </a:pPr>
                      <a:r>
                        <a:rPr lang="es" sz="1200"/>
                        <a:t>1</a:t>
                      </a:r>
                      <a:endParaRPr sz="1200"/>
                    </a:p>
                  </a:txBody>
                  <a:tcPr marT="18000" marB="18000" marR="91425" marL="91425"/>
                </a:tc>
                <a:tc>
                  <a:txBody>
                    <a:bodyPr/>
                    <a:lstStyle/>
                    <a:p>
                      <a:pPr indent="0" lvl="0" marL="0" rtl="0" algn="ctr">
                        <a:spcBef>
                          <a:spcPts val="0"/>
                        </a:spcBef>
                        <a:spcAft>
                          <a:spcPts val="0"/>
                        </a:spcAft>
                        <a:buNone/>
                      </a:pPr>
                      <a:r>
                        <a:rPr lang="es" sz="1200"/>
                        <a:t>26.67</a:t>
                      </a:r>
                      <a:endParaRPr sz="1200"/>
                    </a:p>
                  </a:txBody>
                  <a:tcPr marT="18000" marB="18000" marR="91425" marL="91425"/>
                </a:tc>
                <a:tc>
                  <a:txBody>
                    <a:bodyPr/>
                    <a:lstStyle/>
                    <a:p>
                      <a:pPr indent="0" lvl="0" marL="0" rtl="0" algn="ctr">
                        <a:spcBef>
                          <a:spcPts val="0"/>
                        </a:spcBef>
                        <a:spcAft>
                          <a:spcPts val="0"/>
                        </a:spcAft>
                        <a:buNone/>
                      </a:pPr>
                      <a:r>
                        <a:rPr lang="es" sz="1200"/>
                        <a:t>53.33</a:t>
                      </a:r>
                      <a:endParaRPr sz="1200"/>
                    </a:p>
                  </a:txBody>
                  <a:tcPr marT="18000" marB="18000" marR="91425" marL="91425"/>
                </a:tc>
              </a:tr>
              <a:tr h="259650">
                <a:tc>
                  <a:txBody>
                    <a:bodyPr/>
                    <a:lstStyle/>
                    <a:p>
                      <a:pPr indent="0" lvl="0" marL="0" rtl="0" algn="ctr">
                        <a:spcBef>
                          <a:spcPts val="0"/>
                        </a:spcBef>
                        <a:spcAft>
                          <a:spcPts val="0"/>
                        </a:spcAft>
                        <a:buNone/>
                      </a:pPr>
                      <a:r>
                        <a:rPr lang="es" sz="1200"/>
                        <a:t>0.5</a:t>
                      </a:r>
                      <a:endParaRPr sz="1200"/>
                    </a:p>
                  </a:txBody>
                  <a:tcPr marT="18000" marB="18000" marR="91425" marL="91425"/>
                </a:tc>
                <a:tc>
                  <a:txBody>
                    <a:bodyPr/>
                    <a:lstStyle/>
                    <a:p>
                      <a:pPr indent="0" lvl="0" marL="0" rtl="0" algn="ctr">
                        <a:spcBef>
                          <a:spcPts val="0"/>
                        </a:spcBef>
                        <a:spcAft>
                          <a:spcPts val="0"/>
                        </a:spcAft>
                        <a:buNone/>
                      </a:pPr>
                      <a:r>
                        <a:rPr lang="es" sz="1200"/>
                        <a:t>26</a:t>
                      </a:r>
                      <a:endParaRPr sz="1200"/>
                    </a:p>
                  </a:txBody>
                  <a:tcPr marT="18000" marB="18000" marR="91425" marL="91425"/>
                </a:tc>
                <a:tc>
                  <a:txBody>
                    <a:bodyPr/>
                    <a:lstStyle/>
                    <a:p>
                      <a:pPr indent="0" lvl="0" marL="0" rtl="0" algn="ctr">
                        <a:spcBef>
                          <a:spcPts val="0"/>
                        </a:spcBef>
                        <a:spcAft>
                          <a:spcPts val="0"/>
                        </a:spcAft>
                        <a:buNone/>
                      </a:pPr>
                      <a:r>
                        <a:rPr lang="es" sz="1200"/>
                        <a:t>52</a:t>
                      </a:r>
                      <a:endParaRPr sz="1200"/>
                    </a:p>
                  </a:txBody>
                  <a:tcPr marT="18000" marB="18000" marR="91425" marL="91425"/>
                </a:tc>
              </a:tr>
              <a:tr h="259650">
                <a:tc>
                  <a:txBody>
                    <a:bodyPr/>
                    <a:lstStyle/>
                    <a:p>
                      <a:pPr indent="0" lvl="0" marL="0" rtl="0" algn="ctr">
                        <a:spcBef>
                          <a:spcPts val="0"/>
                        </a:spcBef>
                        <a:spcAft>
                          <a:spcPts val="0"/>
                        </a:spcAft>
                        <a:buNone/>
                      </a:pPr>
                      <a:r>
                        <a:rPr lang="es" sz="1200"/>
                        <a:t>0</a:t>
                      </a:r>
                      <a:endParaRPr sz="1200"/>
                    </a:p>
                  </a:txBody>
                  <a:tcPr marT="18000" marB="18000" marR="91425" marL="91425"/>
                </a:tc>
                <a:tc>
                  <a:txBody>
                    <a:bodyPr/>
                    <a:lstStyle/>
                    <a:p>
                      <a:pPr indent="0" lvl="0" marL="0" rtl="0" algn="ctr">
                        <a:spcBef>
                          <a:spcPts val="0"/>
                        </a:spcBef>
                        <a:spcAft>
                          <a:spcPts val="0"/>
                        </a:spcAft>
                        <a:buNone/>
                      </a:pPr>
                      <a:r>
                        <a:rPr lang="es" sz="1200"/>
                        <a:t>25</a:t>
                      </a:r>
                      <a:endParaRPr sz="1200"/>
                    </a:p>
                  </a:txBody>
                  <a:tcPr marT="18000" marB="18000" marR="91425" marL="91425"/>
                </a:tc>
                <a:tc>
                  <a:txBody>
                    <a:bodyPr/>
                    <a:lstStyle/>
                    <a:p>
                      <a:pPr indent="0" lvl="0" marL="0" rtl="0" algn="ctr">
                        <a:spcBef>
                          <a:spcPts val="0"/>
                        </a:spcBef>
                        <a:spcAft>
                          <a:spcPts val="0"/>
                        </a:spcAft>
                        <a:buNone/>
                      </a:pPr>
                      <a:r>
                        <a:rPr lang="es" sz="1200"/>
                        <a:t>5</a:t>
                      </a:r>
                      <a:r>
                        <a:rPr lang="es" sz="1200"/>
                        <a:t>0</a:t>
                      </a:r>
                      <a:endParaRPr sz="1200"/>
                    </a:p>
                  </a:txBody>
                  <a:tcPr marT="18000" marB="18000" marR="91425" marL="91425"/>
                </a:tc>
              </a:tr>
            </a:tbl>
          </a:graphicData>
        </a:graphic>
      </p:graphicFrame>
      <p:sp>
        <p:nvSpPr>
          <p:cNvPr id="498" name="Google Shape;498;p27"/>
          <p:cNvSpPr txBox="1"/>
          <p:nvPr/>
        </p:nvSpPr>
        <p:spPr>
          <a:xfrm>
            <a:off x="3837775" y="339050"/>
            <a:ext cx="2344500" cy="12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pic>
        <p:nvPicPr>
          <p:cNvPr id="499" name="Google Shape;499;p27" title="{&quot;red&quot;:89,&quot;green&quot;:89,&quot;blue&quot;:89,&quot;origURL&quot;:&quot;https://www.codecogs.com/eqnedit.php?latex=%5Clambda#0&quot;,&quot;size&quot;:18,&quot;width&quot;:184.60629921259843,&quot;height&quot;:100.53543307086615}"/>
          <p:cNvPicPr preferRelativeResize="0"/>
          <p:nvPr/>
        </p:nvPicPr>
        <p:blipFill>
          <a:blip r:embed="rId15">
            <a:alphaModFix/>
          </a:blip>
          <a:stretch>
            <a:fillRect/>
          </a:stretch>
        </p:blipFill>
        <p:spPr>
          <a:xfrm>
            <a:off x="5634050" y="2338832"/>
            <a:ext cx="125158" cy="181737"/>
          </a:xfrm>
          <a:prstGeom prst="rect">
            <a:avLst/>
          </a:prstGeom>
          <a:noFill/>
          <a:ln>
            <a:noFill/>
          </a:ln>
        </p:spPr>
      </p:pic>
      <p:pic>
        <p:nvPicPr>
          <p:cNvPr id="500" name="Google Shape;500;p27" title="{&quot;red&quot;:89,&quot;green&quot;:89,&quot;blue&quot;:89,&quot;origURL&quot;:&quot;https://www.codecogs.com/eqnedit.php?latex=T_2#0&quot;,&quot;size&quot;:18,&quot;width&quot;:184.60629921259843,&quot;height&quot;:100.53543307086615}"/>
          <p:cNvPicPr preferRelativeResize="0"/>
          <p:nvPr/>
        </p:nvPicPr>
        <p:blipFill>
          <a:blip r:embed="rId5">
            <a:alphaModFix/>
          </a:blip>
          <a:stretch>
            <a:fillRect/>
          </a:stretch>
        </p:blipFill>
        <p:spPr>
          <a:xfrm>
            <a:off x="6362650" y="2329746"/>
            <a:ext cx="224599" cy="214313"/>
          </a:xfrm>
          <a:prstGeom prst="rect">
            <a:avLst/>
          </a:prstGeom>
          <a:noFill/>
          <a:ln>
            <a:noFill/>
          </a:ln>
        </p:spPr>
      </p:pic>
      <p:pic>
        <p:nvPicPr>
          <p:cNvPr id="501" name="Google Shape;501;p27" title="{&quot;red&quot;:89,&quot;green&quot;:89,&quot;blue&quot;:89,&quot;origURL&quot;:&quot;https://www.codecogs.com/eqnedit.php?latex=T_3#0&quot;,&quot;size&quot;:18,&quot;width&quot;:184.60629921259843,&quot;height&quot;:100.53543307086615}"/>
          <p:cNvPicPr preferRelativeResize="0"/>
          <p:nvPr/>
        </p:nvPicPr>
        <p:blipFill>
          <a:blip r:embed="rId6">
            <a:alphaModFix/>
          </a:blip>
          <a:stretch>
            <a:fillRect/>
          </a:stretch>
        </p:blipFill>
        <p:spPr>
          <a:xfrm>
            <a:off x="7235525" y="2328033"/>
            <a:ext cx="226314" cy="217742"/>
          </a:xfrm>
          <a:prstGeom prst="rect">
            <a:avLst/>
          </a:prstGeom>
          <a:noFill/>
          <a:ln>
            <a:noFill/>
          </a:ln>
        </p:spPr>
      </p:pic>
      <p:sp>
        <p:nvSpPr>
          <p:cNvPr id="502" name="Google Shape;502;p27"/>
          <p:cNvSpPr txBox="1"/>
          <p:nvPr/>
        </p:nvSpPr>
        <p:spPr>
          <a:xfrm>
            <a:off x="3966775" y="4645975"/>
            <a:ext cx="36006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*Courtesy of Maani Ghaffari, Ryan Eustice, Frank Dellaert, Michael Kaess, Cyrill Stachniss, Pranav Ganti, Luca Carlone</a:t>
            </a:r>
            <a:endParaRPr sz="8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p28"/>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None/>
            </a:pPr>
            <a:r>
              <a:rPr lang="es" sz="1200">
                <a:solidFill>
                  <a:schemeClr val="dk2"/>
                </a:solidFill>
              </a:rPr>
              <a:t>In this chapter we introduce </a:t>
            </a:r>
            <a:r>
              <a:rPr b="1" lang="es" sz="1200">
                <a:solidFill>
                  <a:srgbClr val="193364"/>
                </a:solidFill>
              </a:rPr>
              <a:t>factor graphs</a:t>
            </a:r>
            <a:r>
              <a:rPr lang="es" sz="1200">
                <a:solidFill>
                  <a:schemeClr val="dk2"/>
                </a:solidFill>
              </a:rPr>
              <a:t> and establish the connection with </a:t>
            </a:r>
            <a:r>
              <a:rPr b="1" lang="es" sz="1200">
                <a:solidFill>
                  <a:srgbClr val="193364"/>
                </a:solidFill>
              </a:rPr>
              <a:t>maximum a posteriori (MAP) inference</a:t>
            </a:r>
            <a:r>
              <a:rPr lang="es" sz="1200">
                <a:solidFill>
                  <a:schemeClr val="dk2"/>
                </a:solidFill>
              </a:rPr>
              <a:t> and</a:t>
            </a:r>
            <a:r>
              <a:rPr b="1" lang="es" sz="1200">
                <a:solidFill>
                  <a:srgbClr val="193364"/>
                </a:solidFill>
              </a:rPr>
              <a:t> least squares for the case of Gaussian priors and Gaussian measurement noise.</a:t>
            </a:r>
            <a:endParaRPr b="1" sz="1200">
              <a:solidFill>
                <a:srgbClr val="193364"/>
              </a:solidFill>
            </a:endParaRPr>
          </a:p>
          <a:p>
            <a:pPr indent="0" lvl="0" marL="0" marR="0" rtl="0" algn="just">
              <a:lnSpc>
                <a:spcPct val="100000"/>
              </a:lnSpc>
              <a:spcBef>
                <a:spcPts val="0"/>
              </a:spcBef>
              <a:spcAft>
                <a:spcPts val="0"/>
              </a:spcAft>
              <a:buNone/>
            </a:pPr>
            <a:r>
              <a:t/>
            </a:r>
            <a:endParaRPr sz="1200">
              <a:solidFill>
                <a:schemeClr val="dk2"/>
              </a:solidFill>
            </a:endParaRPr>
          </a:p>
          <a:p>
            <a:pPr indent="-304800" lvl="0" marL="457200" marR="0" rtl="0" algn="just">
              <a:lnSpc>
                <a:spcPct val="100000"/>
              </a:lnSpc>
              <a:spcBef>
                <a:spcPts val="0"/>
              </a:spcBef>
              <a:spcAft>
                <a:spcPts val="0"/>
              </a:spcAft>
              <a:buClr>
                <a:schemeClr val="dk2"/>
              </a:buClr>
              <a:buSzPts val="1200"/>
              <a:buChar char="❖"/>
            </a:pPr>
            <a:r>
              <a:rPr lang="es" sz="1200">
                <a:solidFill>
                  <a:schemeClr val="dk2"/>
                </a:solidFill>
              </a:rPr>
              <a:t>We begin by </a:t>
            </a:r>
            <a:r>
              <a:rPr b="1" lang="es" sz="1200">
                <a:solidFill>
                  <a:srgbClr val="193364"/>
                </a:solidFill>
              </a:rPr>
              <a:t>visualizing</a:t>
            </a:r>
            <a:r>
              <a:rPr lang="es" sz="1200">
                <a:solidFill>
                  <a:schemeClr val="dk2"/>
                </a:solidFill>
              </a:rPr>
              <a:t> SLAM problems using factor graphs,</a:t>
            </a:r>
            <a:endParaRPr sz="1200">
              <a:solidFill>
                <a:schemeClr val="dk2"/>
              </a:solidFill>
            </a:endParaRPr>
          </a:p>
          <a:p>
            <a:pPr indent="0" lvl="0" marL="457200" marR="0" rtl="0" algn="just">
              <a:lnSpc>
                <a:spcPct val="100000"/>
              </a:lnSpc>
              <a:spcBef>
                <a:spcPts val="0"/>
              </a:spcBef>
              <a:spcAft>
                <a:spcPts val="0"/>
              </a:spcAft>
              <a:buNone/>
            </a:pPr>
            <a:r>
              <a:t/>
            </a:r>
            <a:endParaRPr sz="1200">
              <a:solidFill>
                <a:schemeClr val="dk2"/>
              </a:solidFill>
            </a:endParaRPr>
          </a:p>
          <a:p>
            <a:pPr indent="-304800" lvl="0" marL="457200" marR="0" rtl="0" algn="just">
              <a:lnSpc>
                <a:spcPct val="100000"/>
              </a:lnSpc>
              <a:spcBef>
                <a:spcPts val="0"/>
              </a:spcBef>
              <a:spcAft>
                <a:spcPts val="0"/>
              </a:spcAft>
              <a:buClr>
                <a:schemeClr val="dk2"/>
              </a:buClr>
              <a:buSzPts val="1200"/>
              <a:buChar char="❖"/>
            </a:pPr>
            <a:r>
              <a:rPr lang="es" sz="1200">
                <a:solidFill>
                  <a:schemeClr val="dk2"/>
                </a:solidFill>
              </a:rPr>
              <a:t>then show how </a:t>
            </a:r>
            <a:r>
              <a:rPr b="1" lang="es" sz="1200">
                <a:solidFill>
                  <a:srgbClr val="193364"/>
                </a:solidFill>
              </a:rPr>
              <a:t>MAP inference</a:t>
            </a:r>
            <a:r>
              <a:rPr lang="es" sz="1200">
                <a:solidFill>
                  <a:schemeClr val="dk2"/>
                </a:solidFill>
              </a:rPr>
              <a:t> leads to </a:t>
            </a:r>
            <a:r>
              <a:rPr b="1" lang="es" sz="1200">
                <a:solidFill>
                  <a:srgbClr val="193364"/>
                </a:solidFill>
              </a:rPr>
              <a:t>least squares optimization</a:t>
            </a:r>
            <a:r>
              <a:rPr lang="es" sz="1200">
                <a:solidFill>
                  <a:schemeClr val="dk2"/>
                </a:solidFill>
              </a:rPr>
              <a:t>.</a:t>
            </a:r>
            <a:endParaRPr sz="1200">
              <a:solidFill>
                <a:schemeClr val="dk2"/>
              </a:solidFill>
            </a:endParaRPr>
          </a:p>
          <a:p>
            <a:pPr indent="0" lvl="0" marL="457200" marR="0" rtl="0" algn="just">
              <a:lnSpc>
                <a:spcPct val="100000"/>
              </a:lnSpc>
              <a:spcBef>
                <a:spcPts val="0"/>
              </a:spcBef>
              <a:spcAft>
                <a:spcPts val="0"/>
              </a:spcAft>
              <a:buNone/>
            </a:pPr>
            <a:r>
              <a:t/>
            </a:r>
            <a:endParaRPr sz="1200">
              <a:solidFill>
                <a:schemeClr val="dk2"/>
              </a:solidFill>
            </a:endParaRPr>
          </a:p>
          <a:p>
            <a:pPr indent="-304800" lvl="0" marL="457200" marR="0" rtl="0" algn="just">
              <a:lnSpc>
                <a:spcPct val="100000"/>
              </a:lnSpc>
              <a:spcBef>
                <a:spcPts val="0"/>
              </a:spcBef>
              <a:spcAft>
                <a:spcPts val="0"/>
              </a:spcAft>
              <a:buClr>
                <a:schemeClr val="dk2"/>
              </a:buClr>
              <a:buSzPts val="1200"/>
              <a:buChar char="❖"/>
            </a:pPr>
            <a:r>
              <a:rPr lang="es" sz="1200">
                <a:solidFill>
                  <a:schemeClr val="dk2"/>
                </a:solidFill>
              </a:rPr>
              <a:t>We discuss methods for solving both</a:t>
            </a:r>
            <a:r>
              <a:rPr b="1" lang="es" sz="1200">
                <a:solidFill>
                  <a:srgbClr val="193364"/>
                </a:solidFill>
              </a:rPr>
              <a:t> linear and nonlinear optimization problem</a:t>
            </a:r>
            <a:r>
              <a:rPr lang="es" sz="1200">
                <a:solidFill>
                  <a:schemeClr val="dk2"/>
                </a:solidFill>
              </a:rPr>
              <a:t>, </a:t>
            </a:r>
            <a:endParaRPr sz="1200">
              <a:solidFill>
                <a:schemeClr val="dk2"/>
              </a:solidFill>
            </a:endParaRPr>
          </a:p>
          <a:p>
            <a:pPr indent="0" lvl="0" marL="457200" marR="0" rtl="0" algn="just">
              <a:lnSpc>
                <a:spcPct val="100000"/>
              </a:lnSpc>
              <a:spcBef>
                <a:spcPts val="0"/>
              </a:spcBef>
              <a:spcAft>
                <a:spcPts val="0"/>
              </a:spcAft>
              <a:buNone/>
            </a:pPr>
            <a:r>
              <a:t/>
            </a:r>
            <a:endParaRPr sz="1200">
              <a:solidFill>
                <a:schemeClr val="dk2"/>
              </a:solidFill>
            </a:endParaRPr>
          </a:p>
          <a:p>
            <a:pPr indent="-304800" lvl="0" marL="457200" marR="0" rtl="0" algn="just">
              <a:lnSpc>
                <a:spcPct val="100000"/>
              </a:lnSpc>
              <a:spcBef>
                <a:spcPts val="0"/>
              </a:spcBef>
              <a:spcAft>
                <a:spcPts val="0"/>
              </a:spcAft>
              <a:buClr>
                <a:schemeClr val="dk2"/>
              </a:buClr>
              <a:buSzPts val="1200"/>
              <a:buChar char="❖"/>
            </a:pPr>
            <a:r>
              <a:rPr lang="es" sz="1200">
                <a:solidFill>
                  <a:schemeClr val="dk2"/>
                </a:solidFill>
              </a:rPr>
              <a:t>and then make the connection between </a:t>
            </a:r>
            <a:r>
              <a:rPr b="1" lang="es" sz="1200">
                <a:solidFill>
                  <a:srgbClr val="193364"/>
                </a:solidFill>
              </a:rPr>
              <a:t>sparsity</a:t>
            </a:r>
            <a:r>
              <a:rPr lang="es" sz="1200">
                <a:solidFill>
                  <a:schemeClr val="dk2"/>
                </a:solidFill>
              </a:rPr>
              <a:t>, factor graphs, and Bayes nets more explicit.</a:t>
            </a:r>
            <a:endParaRPr sz="1200">
              <a:solidFill>
                <a:schemeClr val="dk2"/>
              </a:solidFill>
            </a:endParaRPr>
          </a:p>
          <a:p>
            <a:pPr indent="0" lvl="0" marL="0" marR="0" rtl="0" algn="just">
              <a:lnSpc>
                <a:spcPct val="100000"/>
              </a:lnSpc>
              <a:spcBef>
                <a:spcPts val="0"/>
              </a:spcBef>
              <a:spcAft>
                <a:spcPts val="0"/>
              </a:spcAft>
              <a:buNone/>
            </a:pPr>
            <a:r>
              <a:t/>
            </a:r>
            <a:endParaRPr sz="1800">
              <a:solidFill>
                <a:schemeClr val="dk2"/>
              </a:solidFill>
            </a:endParaRPr>
          </a:p>
        </p:txBody>
      </p:sp>
      <p:sp>
        <p:nvSpPr>
          <p:cNvPr id="508" name="Google Shape;508;p28"/>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What are Factor Graphs?</a:t>
            </a:r>
            <a:endParaRPr b="1" sz="2400">
              <a:solidFill>
                <a:srgbClr val="193364"/>
              </a:solidFill>
            </a:endParaRPr>
          </a:p>
        </p:txBody>
      </p:sp>
      <p:grpSp>
        <p:nvGrpSpPr>
          <p:cNvPr id="509" name="Google Shape;509;p28"/>
          <p:cNvGrpSpPr/>
          <p:nvPr/>
        </p:nvGrpSpPr>
        <p:grpSpPr>
          <a:xfrm>
            <a:off x="1095318" y="4449088"/>
            <a:ext cx="712880" cy="694332"/>
            <a:chOff x="1095318" y="4449088"/>
            <a:chExt cx="712880" cy="694332"/>
          </a:xfrm>
        </p:grpSpPr>
        <p:sp>
          <p:nvSpPr>
            <p:cNvPr id="510" name="Google Shape;510;p28"/>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511" name="Google Shape;511;p28"/>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512" name="Google Shape;512;p28"/>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513" name="Google Shape;513;p28"/>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sp>
        <p:nvSpPr>
          <p:cNvPr id="514" name="Google Shape;514;p28"/>
          <p:cNvSpPr txBox="1"/>
          <p:nvPr/>
        </p:nvSpPr>
        <p:spPr>
          <a:xfrm>
            <a:off x="3966775" y="4581049"/>
            <a:ext cx="42111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F. Dellaert, M. Kaess, and T. Barfoot, "Factor Graphs for SLAM," in </a:t>
            </a:r>
            <a:r>
              <a:rPr i="1" lang="es" sz="800">
                <a:solidFill>
                  <a:schemeClr val="lt1"/>
                </a:solidFill>
              </a:rPr>
              <a:t>SLAM Handbook: From Localization and Mapping to Spatial Intelligence</a:t>
            </a:r>
            <a:r>
              <a:rPr lang="es" sz="800">
                <a:solidFill>
                  <a:schemeClr val="lt1"/>
                </a:solidFill>
              </a:rPr>
              <a:t>, L. Carlone, A. Kim, T. Barfoot, D. Cremers, and F. Dellaert, Eds. Cambridge University Press, 2026.</a:t>
            </a:r>
            <a:endParaRPr sz="80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29"/>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200">
                <a:solidFill>
                  <a:schemeClr val="dk2"/>
                </a:solidFill>
              </a:rPr>
              <a:t>A smoothing approach to SLAM involves not just the most current robot location, SLAM but the </a:t>
            </a:r>
            <a:r>
              <a:rPr b="1" lang="es" sz="1200">
                <a:solidFill>
                  <a:srgbClr val="193364"/>
                </a:solidFill>
              </a:rPr>
              <a:t>entire robot trajectory up to the current time</a:t>
            </a:r>
            <a:r>
              <a:rPr lang="es" sz="1200">
                <a:solidFill>
                  <a:schemeClr val="dk2"/>
                </a:solidFill>
              </a:rPr>
              <a:t>. </a:t>
            </a:r>
            <a:endParaRPr sz="1200">
              <a:solidFill>
                <a:schemeClr val="dk2"/>
              </a:solidFill>
            </a:endParaRPr>
          </a:p>
          <a:p>
            <a:pPr indent="0" lvl="0" marL="0" rtl="0" algn="l">
              <a:spcBef>
                <a:spcPts val="0"/>
              </a:spcBef>
              <a:spcAft>
                <a:spcPts val="0"/>
              </a:spcAft>
              <a:buClr>
                <a:schemeClr val="dk1"/>
              </a:buClr>
              <a:buSzPts val="1100"/>
              <a:buFont typeface="Arial"/>
              <a:buNone/>
            </a:pPr>
            <a:r>
              <a:t/>
            </a:r>
            <a:endParaRPr sz="1200">
              <a:solidFill>
                <a:schemeClr val="dk2"/>
              </a:solidFill>
            </a:endParaRPr>
          </a:p>
          <a:p>
            <a:pPr indent="0" lvl="0" marL="0" rtl="0" algn="l">
              <a:spcBef>
                <a:spcPts val="0"/>
              </a:spcBef>
              <a:spcAft>
                <a:spcPts val="0"/>
              </a:spcAft>
              <a:buClr>
                <a:schemeClr val="dk1"/>
              </a:buClr>
              <a:buSzPts val="1100"/>
              <a:buFont typeface="Arial"/>
              <a:buNone/>
            </a:pPr>
            <a:r>
              <a:rPr lang="es" sz="1200">
                <a:solidFill>
                  <a:schemeClr val="dk2"/>
                </a:solidFill>
              </a:rPr>
              <a:t>More generally, one can consider the full SLAM problem, i.e., the problem of </a:t>
            </a:r>
            <a:r>
              <a:rPr b="1" lang="es" sz="1200">
                <a:solidFill>
                  <a:srgbClr val="193364"/>
                </a:solidFill>
              </a:rPr>
              <a:t>optimally estimating the entire set of sensor poses along with the parameters of all features in the environment</a:t>
            </a:r>
            <a:r>
              <a:rPr lang="es" sz="1200">
                <a:solidFill>
                  <a:schemeClr val="dk2"/>
                </a:solidFill>
              </a:rPr>
              <a:t>. </a:t>
            </a:r>
            <a:endParaRPr sz="1200">
              <a:solidFill>
                <a:schemeClr val="dk2"/>
              </a:solidFill>
            </a:endParaRPr>
          </a:p>
          <a:p>
            <a:pPr indent="0" lvl="0" marL="0" rtl="0" algn="l">
              <a:spcBef>
                <a:spcPts val="0"/>
              </a:spcBef>
              <a:spcAft>
                <a:spcPts val="0"/>
              </a:spcAft>
              <a:buClr>
                <a:schemeClr val="dk1"/>
              </a:buClr>
              <a:buSzPts val="1100"/>
              <a:buFont typeface="Arial"/>
              <a:buNone/>
            </a:pPr>
            <a:r>
              <a:t/>
            </a:r>
            <a:endParaRPr sz="1200">
              <a:solidFill>
                <a:schemeClr val="dk2"/>
              </a:solidFill>
            </a:endParaRPr>
          </a:p>
          <a:p>
            <a:pPr indent="0" lvl="0" marL="0" rtl="0" algn="l">
              <a:spcBef>
                <a:spcPts val="0"/>
              </a:spcBef>
              <a:spcAft>
                <a:spcPts val="0"/>
              </a:spcAft>
              <a:buNone/>
            </a:pPr>
            <a:r>
              <a:rPr lang="es" sz="1200">
                <a:solidFill>
                  <a:schemeClr val="dk2"/>
                </a:solidFill>
              </a:rPr>
              <a:t>From a computational view, this optimization-based smoothing approach was recognized as beneficial since </a:t>
            </a:r>
            <a:endParaRPr sz="1200">
              <a:solidFill>
                <a:schemeClr val="dk2"/>
              </a:solidFill>
            </a:endParaRPr>
          </a:p>
          <a:p>
            <a:pPr indent="-304800" lvl="0" marL="457200" rtl="0" algn="l">
              <a:spcBef>
                <a:spcPts val="0"/>
              </a:spcBef>
              <a:spcAft>
                <a:spcPts val="0"/>
              </a:spcAft>
              <a:buClr>
                <a:schemeClr val="dk2"/>
              </a:buClr>
              <a:buSzPts val="1200"/>
              <a:buChar char="❖"/>
            </a:pPr>
            <a:r>
              <a:rPr lang="es" sz="1200">
                <a:solidFill>
                  <a:schemeClr val="dk2"/>
                </a:solidFill>
              </a:rPr>
              <a:t>(a) in contrast to the filtering-based covariance or information matrices, which both become fully dense over time, </a:t>
            </a:r>
            <a:r>
              <a:rPr b="1" lang="es" sz="1200">
                <a:solidFill>
                  <a:srgbClr val="193364"/>
                </a:solidFill>
              </a:rPr>
              <a:t>the information matrix associated with smoothing is and stays sparse</a:t>
            </a:r>
            <a:r>
              <a:rPr lang="es" sz="1200">
                <a:solidFill>
                  <a:schemeClr val="dk2"/>
                </a:solidFill>
              </a:rPr>
              <a:t>; </a:t>
            </a:r>
            <a:endParaRPr sz="1200">
              <a:solidFill>
                <a:schemeClr val="dk2"/>
              </a:solidFill>
            </a:endParaRPr>
          </a:p>
          <a:p>
            <a:pPr indent="-304800" lvl="0" marL="457200" rtl="0" algn="l">
              <a:spcBef>
                <a:spcPts val="0"/>
              </a:spcBef>
              <a:spcAft>
                <a:spcPts val="0"/>
              </a:spcAft>
              <a:buClr>
                <a:schemeClr val="dk2"/>
              </a:buClr>
              <a:buSzPts val="1200"/>
              <a:buChar char="❖"/>
            </a:pPr>
            <a:r>
              <a:rPr lang="es" sz="1200">
                <a:solidFill>
                  <a:schemeClr val="dk2"/>
                </a:solidFill>
              </a:rPr>
              <a:t>(b) in typical mapping scenarios (i.e., not repeatedly traversing a small environment) this matrix is a much more </a:t>
            </a:r>
            <a:r>
              <a:rPr b="1" lang="es" sz="1200">
                <a:solidFill>
                  <a:srgbClr val="193364"/>
                </a:solidFill>
              </a:rPr>
              <a:t>compact representation of the map covariance structure</a:t>
            </a:r>
            <a:r>
              <a:rPr lang="es" sz="1200">
                <a:solidFill>
                  <a:schemeClr val="dk2"/>
                </a:solidFill>
              </a:rPr>
              <a:t>. </a:t>
            </a:r>
            <a:endParaRPr sz="1200">
              <a:solidFill>
                <a:schemeClr val="dk2"/>
              </a:solidFill>
            </a:endParaRPr>
          </a:p>
          <a:p>
            <a:pPr indent="0" lvl="0" marL="0" marR="0" rtl="0" algn="l">
              <a:lnSpc>
                <a:spcPct val="100000"/>
              </a:lnSpc>
              <a:spcBef>
                <a:spcPts val="0"/>
              </a:spcBef>
              <a:spcAft>
                <a:spcPts val="0"/>
              </a:spcAft>
              <a:buNone/>
            </a:pPr>
            <a:r>
              <a:t/>
            </a:r>
            <a:endParaRPr sz="1200">
              <a:solidFill>
                <a:schemeClr val="dk2"/>
              </a:solidFill>
            </a:endParaRPr>
          </a:p>
        </p:txBody>
      </p:sp>
      <p:sp>
        <p:nvSpPr>
          <p:cNvPr id="520" name="Google Shape;520;p29"/>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Historical note</a:t>
            </a:r>
            <a:endParaRPr b="1" sz="2400">
              <a:solidFill>
                <a:srgbClr val="193364"/>
              </a:solidFill>
            </a:endParaRPr>
          </a:p>
        </p:txBody>
      </p:sp>
      <p:grpSp>
        <p:nvGrpSpPr>
          <p:cNvPr id="521" name="Google Shape;521;p29"/>
          <p:cNvGrpSpPr/>
          <p:nvPr/>
        </p:nvGrpSpPr>
        <p:grpSpPr>
          <a:xfrm>
            <a:off x="1095318" y="4449088"/>
            <a:ext cx="712880" cy="694332"/>
            <a:chOff x="1095318" y="4449088"/>
            <a:chExt cx="712880" cy="694332"/>
          </a:xfrm>
        </p:grpSpPr>
        <p:sp>
          <p:nvSpPr>
            <p:cNvPr id="522" name="Google Shape;522;p29"/>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523" name="Google Shape;523;p29"/>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524" name="Google Shape;524;p29"/>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525" name="Google Shape;525;p29"/>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sp>
        <p:nvSpPr>
          <p:cNvPr id="526" name="Google Shape;526;p29"/>
          <p:cNvSpPr txBox="1"/>
          <p:nvPr/>
        </p:nvSpPr>
        <p:spPr>
          <a:xfrm>
            <a:off x="3966775" y="4581049"/>
            <a:ext cx="42111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F. Dellaert, M. Kaess, and T. Barfoot, "Factor Graphs for SLAM," in </a:t>
            </a:r>
            <a:r>
              <a:rPr i="1" lang="es" sz="800">
                <a:solidFill>
                  <a:schemeClr val="lt1"/>
                </a:solidFill>
              </a:rPr>
              <a:t>SLAM Handbook: From Localization and Mapping to Spatial Intelligence</a:t>
            </a:r>
            <a:r>
              <a:rPr lang="es" sz="800">
                <a:solidFill>
                  <a:schemeClr val="lt1"/>
                </a:solidFill>
              </a:rPr>
              <a:t>, L. Carlone, A. Kim, T. Barfoot, D. Cremers, and F. Dellaert, Eds. Cambridge University Press, 2026.</a:t>
            </a:r>
            <a:endParaRPr sz="800">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30"/>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None/>
            </a:pPr>
            <a:r>
              <a:t/>
            </a:r>
            <a:endParaRPr b="1" sz="1800">
              <a:solidFill>
                <a:srgbClr val="193364"/>
              </a:solidFill>
            </a:endParaRPr>
          </a:p>
          <a:p>
            <a:pPr indent="0" lvl="0" marL="0" rtl="0" algn="l">
              <a:spcBef>
                <a:spcPts val="0"/>
              </a:spcBef>
              <a:spcAft>
                <a:spcPts val="0"/>
              </a:spcAft>
              <a:buNone/>
            </a:pPr>
            <a:r>
              <a:t/>
            </a:r>
            <a:endParaRPr sz="1800">
              <a:solidFill>
                <a:schemeClr val="dk2"/>
              </a:solidFill>
            </a:endParaRPr>
          </a:p>
        </p:txBody>
      </p:sp>
      <p:sp>
        <p:nvSpPr>
          <p:cNvPr id="532" name="Google Shape;532;p30"/>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A Toy Example: A simple SLAM Scenario </a:t>
            </a:r>
            <a:endParaRPr b="1" sz="2400">
              <a:solidFill>
                <a:srgbClr val="193364"/>
              </a:solidFill>
            </a:endParaRPr>
          </a:p>
        </p:txBody>
      </p:sp>
      <p:pic>
        <p:nvPicPr>
          <p:cNvPr id="533" name="Google Shape;533;p30"/>
          <p:cNvPicPr preferRelativeResize="0"/>
          <p:nvPr/>
        </p:nvPicPr>
        <p:blipFill>
          <a:blip r:embed="rId3">
            <a:alphaModFix/>
          </a:blip>
          <a:stretch>
            <a:fillRect/>
          </a:stretch>
        </p:blipFill>
        <p:spPr>
          <a:xfrm>
            <a:off x="3143725" y="1376577"/>
            <a:ext cx="5640275" cy="2645450"/>
          </a:xfrm>
          <a:prstGeom prst="rect">
            <a:avLst/>
          </a:prstGeom>
          <a:noFill/>
          <a:ln>
            <a:noFill/>
          </a:ln>
        </p:spPr>
      </p:pic>
      <p:pic>
        <p:nvPicPr>
          <p:cNvPr id="534" name="Google Shape;534;p30"/>
          <p:cNvPicPr preferRelativeResize="0"/>
          <p:nvPr/>
        </p:nvPicPr>
        <p:blipFill>
          <a:blip r:embed="rId4">
            <a:alphaModFix/>
          </a:blip>
          <a:stretch>
            <a:fillRect/>
          </a:stretch>
        </p:blipFill>
        <p:spPr>
          <a:xfrm>
            <a:off x="1351424" y="1233424"/>
            <a:ext cx="712800" cy="1054795"/>
          </a:xfrm>
          <a:prstGeom prst="rect">
            <a:avLst/>
          </a:prstGeom>
          <a:noFill/>
          <a:ln>
            <a:noFill/>
          </a:ln>
        </p:spPr>
      </p:pic>
      <p:pic>
        <p:nvPicPr>
          <p:cNvPr id="535" name="Google Shape;535;p30"/>
          <p:cNvPicPr preferRelativeResize="0"/>
          <p:nvPr/>
        </p:nvPicPr>
        <p:blipFill>
          <a:blip r:embed="rId5">
            <a:alphaModFix/>
          </a:blip>
          <a:stretch>
            <a:fillRect/>
          </a:stretch>
        </p:blipFill>
        <p:spPr>
          <a:xfrm>
            <a:off x="1666172" y="3017203"/>
            <a:ext cx="398050" cy="263800"/>
          </a:xfrm>
          <a:prstGeom prst="rect">
            <a:avLst/>
          </a:prstGeom>
          <a:noFill/>
          <a:ln>
            <a:noFill/>
          </a:ln>
        </p:spPr>
      </p:pic>
      <p:sp>
        <p:nvSpPr>
          <p:cNvPr id="536" name="Google Shape;536;p30"/>
          <p:cNvSpPr txBox="1"/>
          <p:nvPr/>
        </p:nvSpPr>
        <p:spPr>
          <a:xfrm>
            <a:off x="360000" y="1585827"/>
            <a:ext cx="1068000" cy="2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State</a:t>
            </a:r>
            <a:endParaRPr b="1" sz="1200">
              <a:solidFill>
                <a:srgbClr val="193364"/>
              </a:solidFill>
            </a:endParaRPr>
          </a:p>
        </p:txBody>
      </p:sp>
      <p:sp>
        <p:nvSpPr>
          <p:cNvPr id="537" name="Google Shape;537;p30"/>
          <p:cNvSpPr txBox="1"/>
          <p:nvPr/>
        </p:nvSpPr>
        <p:spPr>
          <a:xfrm>
            <a:off x="360000" y="2450583"/>
            <a:ext cx="7484400" cy="42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s" sz="1200">
                <a:solidFill>
                  <a:srgbClr val="193364"/>
                </a:solidFill>
              </a:rPr>
              <a:t>Probability density functions</a:t>
            </a:r>
            <a:r>
              <a:rPr b="1" lang="es" sz="1200">
                <a:solidFill>
                  <a:srgbClr val="193364"/>
                </a:solidFill>
              </a:rPr>
              <a:t> (PDFs) </a:t>
            </a:r>
            <a:endParaRPr b="1" sz="1200">
              <a:solidFill>
                <a:srgbClr val="193364"/>
              </a:solidFill>
            </a:endParaRPr>
          </a:p>
          <a:p>
            <a:pPr indent="0" lvl="0" marL="0" rtl="0" algn="l">
              <a:spcBef>
                <a:spcPts val="0"/>
              </a:spcBef>
              <a:spcAft>
                <a:spcPts val="0"/>
              </a:spcAft>
              <a:buNone/>
            </a:pPr>
            <a:r>
              <a:rPr b="1" lang="es" sz="1200">
                <a:solidFill>
                  <a:srgbClr val="193364"/>
                </a:solidFill>
              </a:rPr>
              <a:t>over the unknown variables</a:t>
            </a:r>
            <a:endParaRPr b="1" sz="1200">
              <a:solidFill>
                <a:srgbClr val="193364"/>
              </a:solidFill>
            </a:endParaRPr>
          </a:p>
        </p:txBody>
      </p:sp>
      <p:sp>
        <p:nvSpPr>
          <p:cNvPr id="538" name="Google Shape;538;p30"/>
          <p:cNvSpPr txBox="1"/>
          <p:nvPr/>
        </p:nvSpPr>
        <p:spPr>
          <a:xfrm>
            <a:off x="360000" y="3382558"/>
            <a:ext cx="7484400" cy="42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Conditional density or </a:t>
            </a:r>
            <a:r>
              <a:rPr b="1" i="1" lang="es" sz="1200">
                <a:solidFill>
                  <a:srgbClr val="193364"/>
                </a:solidFill>
              </a:rPr>
              <a:t>posterior</a:t>
            </a:r>
            <a:endParaRPr b="1" i="1" sz="1200">
              <a:solidFill>
                <a:srgbClr val="193364"/>
              </a:solidFill>
            </a:endParaRPr>
          </a:p>
        </p:txBody>
      </p:sp>
      <p:pic>
        <p:nvPicPr>
          <p:cNvPr id="539" name="Google Shape;539;p30"/>
          <p:cNvPicPr preferRelativeResize="0"/>
          <p:nvPr/>
        </p:nvPicPr>
        <p:blipFill>
          <a:blip r:embed="rId6">
            <a:alphaModFix/>
          </a:blip>
          <a:stretch>
            <a:fillRect/>
          </a:stretch>
        </p:blipFill>
        <p:spPr>
          <a:xfrm>
            <a:off x="1513600" y="3778363"/>
            <a:ext cx="618464" cy="263700"/>
          </a:xfrm>
          <a:prstGeom prst="rect">
            <a:avLst/>
          </a:prstGeom>
          <a:noFill/>
          <a:ln>
            <a:noFill/>
          </a:ln>
        </p:spPr>
      </p:pic>
      <p:sp>
        <p:nvSpPr>
          <p:cNvPr id="540" name="Google Shape;540;p30"/>
          <p:cNvSpPr txBox="1"/>
          <p:nvPr/>
        </p:nvSpPr>
        <p:spPr>
          <a:xfrm>
            <a:off x="3966775" y="4581049"/>
            <a:ext cx="42111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F. Dellaert, M. Kaess, and T. Barfoot, "Factor Graphs for SLAM," in </a:t>
            </a:r>
            <a:r>
              <a:rPr i="1" lang="es" sz="800">
                <a:solidFill>
                  <a:schemeClr val="lt1"/>
                </a:solidFill>
              </a:rPr>
              <a:t>SLAM Handbook: From Localization and Mapping to Spatial Intelligence</a:t>
            </a:r>
            <a:r>
              <a:rPr lang="es" sz="800">
                <a:solidFill>
                  <a:schemeClr val="lt1"/>
                </a:solidFill>
              </a:rPr>
              <a:t>, L. Carlone, A. Kim, T. Barfoot, D. Cremers, and F. Dellaert, Eds. Cambridge University Press, 2026.</a:t>
            </a:r>
            <a:endParaRPr sz="800">
              <a:solidFill>
                <a:schemeClr val="lt1"/>
              </a:solidFill>
            </a:endParaRPr>
          </a:p>
        </p:txBody>
      </p:sp>
      <p:grpSp>
        <p:nvGrpSpPr>
          <p:cNvPr id="541" name="Google Shape;541;p30"/>
          <p:cNvGrpSpPr/>
          <p:nvPr/>
        </p:nvGrpSpPr>
        <p:grpSpPr>
          <a:xfrm>
            <a:off x="1095318" y="4449088"/>
            <a:ext cx="712880" cy="694332"/>
            <a:chOff x="1095318" y="4449088"/>
            <a:chExt cx="712880" cy="694332"/>
          </a:xfrm>
        </p:grpSpPr>
        <p:sp>
          <p:nvSpPr>
            <p:cNvPr id="542" name="Google Shape;542;p30"/>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543" name="Google Shape;543;p30"/>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544" name="Google Shape;544;p30"/>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545" name="Google Shape;545;p30"/>
            <p:cNvPicPr preferRelativeResize="0"/>
            <p:nvPr/>
          </p:nvPicPr>
          <p:blipFill>
            <a:blip r:embed="rId7">
              <a:alphaModFix/>
            </a:blip>
            <a:stretch>
              <a:fillRect/>
            </a:stretch>
          </p:blipFill>
          <p:spPr>
            <a:xfrm flipH="1" rot="133010">
              <a:off x="1106374" y="4460147"/>
              <a:ext cx="583062" cy="583197"/>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31"/>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None/>
            </a:pPr>
            <a:r>
              <a:t/>
            </a:r>
            <a:endParaRPr b="1" sz="1800">
              <a:solidFill>
                <a:srgbClr val="193364"/>
              </a:solidFill>
            </a:endParaRPr>
          </a:p>
          <a:p>
            <a:pPr indent="0" lvl="0" marL="0" rtl="0" algn="l">
              <a:spcBef>
                <a:spcPts val="0"/>
              </a:spcBef>
              <a:spcAft>
                <a:spcPts val="0"/>
              </a:spcAft>
              <a:buNone/>
            </a:pPr>
            <a:r>
              <a:t/>
            </a:r>
            <a:endParaRPr sz="1800">
              <a:solidFill>
                <a:schemeClr val="dk2"/>
              </a:solidFill>
            </a:endParaRPr>
          </a:p>
        </p:txBody>
      </p:sp>
      <p:sp>
        <p:nvSpPr>
          <p:cNvPr id="551" name="Google Shape;551;p31"/>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Graphical Models: Bayesian Networks</a:t>
            </a:r>
            <a:endParaRPr b="1" sz="2400">
              <a:solidFill>
                <a:srgbClr val="193364"/>
              </a:solidFill>
            </a:endParaRPr>
          </a:p>
        </p:txBody>
      </p:sp>
      <p:sp>
        <p:nvSpPr>
          <p:cNvPr id="552" name="Google Shape;552;p31"/>
          <p:cNvSpPr txBox="1"/>
          <p:nvPr/>
        </p:nvSpPr>
        <p:spPr>
          <a:xfrm>
            <a:off x="360000" y="1585825"/>
            <a:ext cx="3071700" cy="1913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s" sz="1200">
                <a:solidFill>
                  <a:srgbClr val="193364"/>
                </a:solidFill>
              </a:rPr>
              <a:t>Bayesian networks </a:t>
            </a:r>
            <a:r>
              <a:rPr lang="es" sz="1200">
                <a:solidFill>
                  <a:schemeClr val="dk1"/>
                </a:solidFill>
              </a:rPr>
              <a:t>consist of variables nodes, each associated with a prior or conditional probability density.</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b="1" lang="es" sz="1200">
                <a:solidFill>
                  <a:srgbClr val="193364"/>
                </a:solidFill>
              </a:rPr>
              <a:t>Convention: </a:t>
            </a:r>
            <a:r>
              <a:rPr lang="es" sz="1200">
                <a:solidFill>
                  <a:schemeClr val="dk1"/>
                </a:solidFill>
              </a:rPr>
              <a:t>indicate </a:t>
            </a:r>
            <a:r>
              <a:rPr i="1" lang="es" sz="1200">
                <a:solidFill>
                  <a:schemeClr val="dk1"/>
                </a:solidFill>
              </a:rPr>
              <a:t>known</a:t>
            </a:r>
            <a:r>
              <a:rPr lang="es" sz="1200">
                <a:solidFill>
                  <a:schemeClr val="dk1"/>
                </a:solidFill>
              </a:rPr>
              <a:t> quantities as square nodes</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b="1" lang="es" sz="1200">
                <a:solidFill>
                  <a:srgbClr val="193364"/>
                </a:solidFill>
              </a:rPr>
              <a:t>Bayesian networks are excellent for </a:t>
            </a:r>
            <a:r>
              <a:rPr b="1" i="1" lang="es" sz="1200">
                <a:solidFill>
                  <a:srgbClr val="193364"/>
                </a:solidFill>
              </a:rPr>
              <a:t>modeling</a:t>
            </a:r>
            <a:endParaRPr b="1" i="1" sz="1200">
              <a:solidFill>
                <a:srgbClr val="193364"/>
              </a:solidFill>
            </a:endParaRPr>
          </a:p>
        </p:txBody>
      </p:sp>
      <p:pic>
        <p:nvPicPr>
          <p:cNvPr id="553" name="Google Shape;553;p31"/>
          <p:cNvPicPr preferRelativeResize="0"/>
          <p:nvPr/>
        </p:nvPicPr>
        <p:blipFill>
          <a:blip r:embed="rId3">
            <a:alphaModFix/>
          </a:blip>
          <a:stretch>
            <a:fillRect/>
          </a:stretch>
        </p:blipFill>
        <p:spPr>
          <a:xfrm>
            <a:off x="3431700" y="1085650"/>
            <a:ext cx="5352302" cy="2847637"/>
          </a:xfrm>
          <a:prstGeom prst="rect">
            <a:avLst/>
          </a:prstGeom>
          <a:noFill/>
          <a:ln>
            <a:noFill/>
          </a:ln>
        </p:spPr>
      </p:pic>
      <p:sp>
        <p:nvSpPr>
          <p:cNvPr id="554" name="Google Shape;554;p31"/>
          <p:cNvSpPr txBox="1"/>
          <p:nvPr/>
        </p:nvSpPr>
        <p:spPr>
          <a:xfrm>
            <a:off x="3966775" y="4581049"/>
            <a:ext cx="42111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F. Dellaert, M. Kaess, and T. Barfoot, "Factor Graphs for SLAM," in </a:t>
            </a:r>
            <a:r>
              <a:rPr i="1" lang="es" sz="800">
                <a:solidFill>
                  <a:schemeClr val="lt1"/>
                </a:solidFill>
              </a:rPr>
              <a:t>SLAM Handbook: From Localization and Mapping to Spatial Intelligence</a:t>
            </a:r>
            <a:r>
              <a:rPr lang="es" sz="800">
                <a:solidFill>
                  <a:schemeClr val="lt1"/>
                </a:solidFill>
              </a:rPr>
              <a:t>, L. Carlone, A. Kim, T. Barfoot, D. Cremers, and F. Dellaert, Eds. Cambridge University Press, 2026.</a:t>
            </a:r>
            <a:endParaRPr sz="800">
              <a:solidFill>
                <a:schemeClr val="lt1"/>
              </a:solidFill>
            </a:endParaRPr>
          </a:p>
        </p:txBody>
      </p:sp>
      <p:grpSp>
        <p:nvGrpSpPr>
          <p:cNvPr id="555" name="Google Shape;555;p31"/>
          <p:cNvGrpSpPr/>
          <p:nvPr/>
        </p:nvGrpSpPr>
        <p:grpSpPr>
          <a:xfrm>
            <a:off x="1095318" y="4449088"/>
            <a:ext cx="712880" cy="694332"/>
            <a:chOff x="1095318" y="4449088"/>
            <a:chExt cx="712880" cy="694332"/>
          </a:xfrm>
        </p:grpSpPr>
        <p:sp>
          <p:nvSpPr>
            <p:cNvPr id="556" name="Google Shape;556;p31"/>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557" name="Google Shape;557;p31"/>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558" name="Google Shape;558;p31"/>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559" name="Google Shape;559;p31"/>
            <p:cNvPicPr preferRelativeResize="0"/>
            <p:nvPr/>
          </p:nvPicPr>
          <p:blipFill>
            <a:blip r:embed="rId4">
              <a:alphaModFix/>
            </a:blip>
            <a:stretch>
              <a:fillRect/>
            </a:stretch>
          </p:blipFill>
          <p:spPr>
            <a:xfrm flipH="1" rot="133010">
              <a:off x="1106374" y="4460147"/>
              <a:ext cx="583062" cy="583197"/>
            </a:xfrm>
            <a:prstGeom prst="rect">
              <a:avLst/>
            </a:prstGeom>
            <a:noFill/>
            <a:ln>
              <a:noFill/>
            </a:ln>
          </p:spPr>
        </p:pic>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32"/>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None/>
            </a:pPr>
            <a:r>
              <a:t/>
            </a:r>
            <a:endParaRPr b="1" sz="1800">
              <a:solidFill>
                <a:srgbClr val="193364"/>
              </a:solidFill>
            </a:endParaRPr>
          </a:p>
          <a:p>
            <a:pPr indent="0" lvl="0" marL="0" rtl="0" algn="l">
              <a:spcBef>
                <a:spcPts val="0"/>
              </a:spcBef>
              <a:spcAft>
                <a:spcPts val="0"/>
              </a:spcAft>
              <a:buNone/>
            </a:pPr>
            <a:r>
              <a:t/>
            </a:r>
            <a:endParaRPr sz="1800">
              <a:solidFill>
                <a:schemeClr val="dk2"/>
              </a:solidFill>
            </a:endParaRPr>
          </a:p>
        </p:txBody>
      </p:sp>
      <p:sp>
        <p:nvSpPr>
          <p:cNvPr id="565" name="Google Shape;565;p32"/>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Graphical Models: </a:t>
            </a:r>
            <a:r>
              <a:rPr b="1" lang="es" sz="2400">
                <a:solidFill>
                  <a:srgbClr val="193364"/>
                </a:solidFill>
              </a:rPr>
              <a:t>Bayesian Networks</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sp>
        <p:nvSpPr>
          <p:cNvPr id="566" name="Google Shape;566;p32"/>
          <p:cNvSpPr txBox="1"/>
          <p:nvPr/>
        </p:nvSpPr>
        <p:spPr>
          <a:xfrm>
            <a:off x="360000" y="1348580"/>
            <a:ext cx="3071700" cy="2812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t/>
            </a:r>
            <a:endParaRPr sz="1200">
              <a:solidFill>
                <a:schemeClr val="dk1"/>
              </a:solidFill>
            </a:endParaRPr>
          </a:p>
          <a:p>
            <a:pPr indent="0" lvl="0" marL="0" rtl="0" algn="just">
              <a:spcBef>
                <a:spcPts val="0"/>
              </a:spcBef>
              <a:spcAft>
                <a:spcPts val="0"/>
              </a:spcAft>
              <a:buNone/>
            </a:pPr>
            <a:r>
              <a:rPr lang="es" sz="1200">
                <a:solidFill>
                  <a:schemeClr val="dk1"/>
                </a:solidFill>
              </a:rPr>
              <a:t>The posterior can be re-written using Bayes’ law:</a:t>
            </a:r>
            <a:endParaRPr sz="1200">
              <a:solidFill>
                <a:schemeClr val="dk1"/>
              </a:solidFill>
            </a:endParaRPr>
          </a:p>
          <a:p>
            <a:pPr indent="0" lvl="0" marL="0" rtl="0" algn="just">
              <a:spcBef>
                <a:spcPts val="0"/>
              </a:spcBef>
              <a:spcAft>
                <a:spcPts val="0"/>
              </a:spcAft>
              <a:buNone/>
            </a:pPr>
            <a:r>
              <a:t/>
            </a:r>
            <a:endParaRPr sz="1200">
              <a:solidFill>
                <a:schemeClr val="dk1"/>
              </a:solidFill>
            </a:endParaRPr>
          </a:p>
          <a:p>
            <a:pPr indent="0" lvl="0" marL="0" rtl="0" algn="just">
              <a:spcBef>
                <a:spcPts val="0"/>
              </a:spcBef>
              <a:spcAft>
                <a:spcPts val="0"/>
              </a:spcAft>
              <a:buNone/>
            </a:pPr>
            <a:r>
              <a:t/>
            </a:r>
            <a:endParaRPr sz="1200">
              <a:solidFill>
                <a:schemeClr val="dk1"/>
              </a:solidFill>
            </a:endParaRPr>
          </a:p>
          <a:p>
            <a:pPr indent="0" lvl="0" marL="0" rtl="0" algn="just">
              <a:spcBef>
                <a:spcPts val="0"/>
              </a:spcBef>
              <a:spcAft>
                <a:spcPts val="0"/>
              </a:spcAft>
              <a:buNone/>
            </a:pPr>
            <a:r>
              <a:t/>
            </a:r>
            <a:endParaRPr sz="1200">
              <a:solidFill>
                <a:schemeClr val="dk1"/>
              </a:solidFill>
            </a:endParaRPr>
          </a:p>
          <a:p>
            <a:pPr indent="0" lvl="0" marL="0" rtl="0" algn="just">
              <a:spcBef>
                <a:spcPts val="0"/>
              </a:spcBef>
              <a:spcAft>
                <a:spcPts val="0"/>
              </a:spcAft>
              <a:buNone/>
            </a:pPr>
            <a:r>
              <a:t/>
            </a:r>
            <a:endParaRPr sz="1200">
              <a:solidFill>
                <a:schemeClr val="dk1"/>
              </a:solidFill>
            </a:endParaRPr>
          </a:p>
          <a:p>
            <a:pPr indent="0" lvl="0" marL="0" rtl="0" algn="just">
              <a:spcBef>
                <a:spcPts val="0"/>
              </a:spcBef>
              <a:spcAft>
                <a:spcPts val="0"/>
              </a:spcAft>
              <a:buNone/>
            </a:pPr>
            <a:r>
              <a:t/>
            </a:r>
            <a:endParaRPr sz="1200">
              <a:solidFill>
                <a:schemeClr val="dk1"/>
              </a:solidFill>
            </a:endParaRPr>
          </a:p>
          <a:p>
            <a:pPr indent="0" lvl="0" marL="0" rtl="0" algn="just">
              <a:spcBef>
                <a:spcPts val="0"/>
              </a:spcBef>
              <a:spcAft>
                <a:spcPts val="0"/>
              </a:spcAft>
              <a:buNone/>
            </a:pPr>
            <a:r>
              <a:t/>
            </a:r>
            <a:endParaRPr sz="1200">
              <a:solidFill>
                <a:schemeClr val="dk1"/>
              </a:solidFill>
            </a:endParaRPr>
          </a:p>
          <a:p>
            <a:pPr indent="0" lvl="0" marL="0" rtl="0" algn="just">
              <a:spcBef>
                <a:spcPts val="0"/>
              </a:spcBef>
              <a:spcAft>
                <a:spcPts val="0"/>
              </a:spcAft>
              <a:buNone/>
            </a:pPr>
            <a:r>
              <a:t/>
            </a:r>
            <a:endParaRPr sz="1200">
              <a:solidFill>
                <a:schemeClr val="dk1"/>
              </a:solidFill>
            </a:endParaRPr>
          </a:p>
          <a:p>
            <a:pPr indent="0" lvl="0" marL="0" marR="0" rtl="0" algn="just">
              <a:lnSpc>
                <a:spcPct val="100000"/>
              </a:lnSpc>
              <a:spcBef>
                <a:spcPts val="0"/>
              </a:spcBef>
              <a:spcAft>
                <a:spcPts val="0"/>
              </a:spcAft>
              <a:buNone/>
            </a:pPr>
            <a:r>
              <a:t/>
            </a:r>
            <a:endParaRPr sz="1200">
              <a:solidFill>
                <a:schemeClr val="dk1"/>
              </a:solidFill>
            </a:endParaRPr>
          </a:p>
          <a:p>
            <a:pPr indent="0" lvl="0" marL="0" marR="0" rtl="0" algn="just">
              <a:lnSpc>
                <a:spcPct val="100000"/>
              </a:lnSpc>
              <a:spcBef>
                <a:spcPts val="0"/>
              </a:spcBef>
              <a:spcAft>
                <a:spcPts val="0"/>
              </a:spcAft>
              <a:buNone/>
            </a:pPr>
            <a:r>
              <a:rPr lang="es" sz="1200">
                <a:solidFill>
                  <a:schemeClr val="dk1"/>
                </a:solidFill>
              </a:rPr>
              <a:t>Each of the factors represents one piece of information about the unknowns.</a:t>
            </a:r>
            <a:endParaRPr sz="1200">
              <a:solidFill>
                <a:schemeClr val="dk1"/>
              </a:solidFill>
            </a:endParaRPr>
          </a:p>
        </p:txBody>
      </p:sp>
      <p:pic>
        <p:nvPicPr>
          <p:cNvPr id="567" name="Google Shape;567;p32"/>
          <p:cNvPicPr preferRelativeResize="0"/>
          <p:nvPr/>
        </p:nvPicPr>
        <p:blipFill>
          <a:blip r:embed="rId3">
            <a:alphaModFix/>
          </a:blip>
          <a:stretch>
            <a:fillRect/>
          </a:stretch>
        </p:blipFill>
        <p:spPr>
          <a:xfrm>
            <a:off x="3431700" y="1085650"/>
            <a:ext cx="5352302" cy="2847637"/>
          </a:xfrm>
          <a:prstGeom prst="rect">
            <a:avLst/>
          </a:prstGeom>
          <a:noFill/>
          <a:ln>
            <a:noFill/>
          </a:ln>
        </p:spPr>
      </p:pic>
      <p:pic>
        <p:nvPicPr>
          <p:cNvPr id="568" name="Google Shape;568;p32"/>
          <p:cNvPicPr preferRelativeResize="0"/>
          <p:nvPr/>
        </p:nvPicPr>
        <p:blipFill>
          <a:blip r:embed="rId4">
            <a:alphaModFix/>
          </a:blip>
          <a:stretch>
            <a:fillRect/>
          </a:stretch>
        </p:blipFill>
        <p:spPr>
          <a:xfrm>
            <a:off x="385424" y="2077983"/>
            <a:ext cx="3071700" cy="990990"/>
          </a:xfrm>
          <a:prstGeom prst="rect">
            <a:avLst/>
          </a:prstGeom>
          <a:noFill/>
          <a:ln>
            <a:noFill/>
          </a:ln>
        </p:spPr>
      </p:pic>
      <p:sp>
        <p:nvSpPr>
          <p:cNvPr id="569" name="Google Shape;569;p32"/>
          <p:cNvSpPr txBox="1"/>
          <p:nvPr/>
        </p:nvSpPr>
        <p:spPr>
          <a:xfrm>
            <a:off x="2673290" y="2007744"/>
            <a:ext cx="1614300" cy="2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Robot motion</a:t>
            </a:r>
            <a:endParaRPr b="1" sz="1200">
              <a:solidFill>
                <a:srgbClr val="193364"/>
              </a:solidFill>
            </a:endParaRPr>
          </a:p>
        </p:txBody>
      </p:sp>
      <p:sp>
        <p:nvSpPr>
          <p:cNvPr id="570" name="Google Shape;570;p32"/>
          <p:cNvSpPr txBox="1"/>
          <p:nvPr/>
        </p:nvSpPr>
        <p:spPr>
          <a:xfrm>
            <a:off x="1834274" y="2253354"/>
            <a:ext cx="1614300" cy="2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Landmark priors</a:t>
            </a:r>
            <a:endParaRPr b="1" sz="1200">
              <a:solidFill>
                <a:srgbClr val="193364"/>
              </a:solidFill>
            </a:endParaRPr>
          </a:p>
        </p:txBody>
      </p:sp>
      <p:sp>
        <p:nvSpPr>
          <p:cNvPr id="571" name="Google Shape;571;p32"/>
          <p:cNvSpPr txBox="1"/>
          <p:nvPr/>
        </p:nvSpPr>
        <p:spPr>
          <a:xfrm>
            <a:off x="1622308" y="2507438"/>
            <a:ext cx="1614300" cy="2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First measurement</a:t>
            </a:r>
            <a:endParaRPr b="1" sz="1200">
              <a:solidFill>
                <a:srgbClr val="193364"/>
              </a:solidFill>
            </a:endParaRPr>
          </a:p>
        </p:txBody>
      </p:sp>
      <p:sp>
        <p:nvSpPr>
          <p:cNvPr id="572" name="Google Shape;572;p32"/>
          <p:cNvSpPr txBox="1"/>
          <p:nvPr/>
        </p:nvSpPr>
        <p:spPr>
          <a:xfrm>
            <a:off x="1095319" y="2999617"/>
            <a:ext cx="2834700" cy="2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Bearing measurements</a:t>
            </a:r>
            <a:endParaRPr b="1" sz="1200">
              <a:solidFill>
                <a:srgbClr val="193364"/>
              </a:solidFill>
            </a:endParaRPr>
          </a:p>
        </p:txBody>
      </p:sp>
      <p:sp>
        <p:nvSpPr>
          <p:cNvPr id="573" name="Google Shape;573;p32"/>
          <p:cNvSpPr txBox="1"/>
          <p:nvPr/>
        </p:nvSpPr>
        <p:spPr>
          <a:xfrm>
            <a:off x="3966775" y="4581049"/>
            <a:ext cx="42111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F. Dellaert, M. Kaess, and T. Barfoot, "Factor Graphs for SLAM," in </a:t>
            </a:r>
            <a:r>
              <a:rPr i="1" lang="es" sz="800">
                <a:solidFill>
                  <a:schemeClr val="lt1"/>
                </a:solidFill>
              </a:rPr>
              <a:t>SLAM Handbook: From Localization and Mapping to Spatial Intelligence</a:t>
            </a:r>
            <a:r>
              <a:rPr lang="es" sz="800">
                <a:solidFill>
                  <a:schemeClr val="lt1"/>
                </a:solidFill>
              </a:rPr>
              <a:t>, L. Carlone, A. Kim, T. Barfoot, D. Cremers, and F. Dellaert, Eds. Cambridge University Press, 2026.</a:t>
            </a:r>
            <a:endParaRPr sz="800">
              <a:solidFill>
                <a:schemeClr val="lt1"/>
              </a:solidFill>
            </a:endParaRPr>
          </a:p>
        </p:txBody>
      </p:sp>
      <p:grpSp>
        <p:nvGrpSpPr>
          <p:cNvPr id="574" name="Google Shape;574;p32"/>
          <p:cNvGrpSpPr/>
          <p:nvPr/>
        </p:nvGrpSpPr>
        <p:grpSpPr>
          <a:xfrm>
            <a:off x="1095318" y="4449088"/>
            <a:ext cx="712880" cy="694332"/>
            <a:chOff x="1095318" y="4449088"/>
            <a:chExt cx="712880" cy="694332"/>
          </a:xfrm>
        </p:grpSpPr>
        <p:sp>
          <p:nvSpPr>
            <p:cNvPr id="575" name="Google Shape;575;p32"/>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576" name="Google Shape;576;p32"/>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577" name="Google Shape;577;p32"/>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578" name="Google Shape;578;p32"/>
            <p:cNvPicPr preferRelativeResize="0"/>
            <p:nvPr/>
          </p:nvPicPr>
          <p:blipFill>
            <a:blip r:embed="rId5">
              <a:alphaModFix/>
            </a:blip>
            <a:stretch>
              <a:fillRect/>
            </a:stretch>
          </p:blipFill>
          <p:spPr>
            <a:xfrm flipH="1" rot="133010">
              <a:off x="1106374" y="4460147"/>
              <a:ext cx="583062" cy="583197"/>
            </a:xfrm>
            <a:prstGeom prst="rect">
              <a:avLst/>
            </a:prstGeom>
            <a:noFill/>
            <a:ln>
              <a:noFill/>
            </a:ln>
          </p:spPr>
        </p:pic>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33"/>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None/>
            </a:pPr>
            <a:r>
              <a:t/>
            </a:r>
            <a:endParaRPr b="1" sz="1800">
              <a:solidFill>
                <a:srgbClr val="193364"/>
              </a:solidFill>
            </a:endParaRPr>
          </a:p>
          <a:p>
            <a:pPr indent="0" lvl="0" marL="0" rtl="0" algn="l">
              <a:spcBef>
                <a:spcPts val="0"/>
              </a:spcBef>
              <a:spcAft>
                <a:spcPts val="0"/>
              </a:spcAft>
              <a:buNone/>
            </a:pPr>
            <a:r>
              <a:t/>
            </a:r>
            <a:endParaRPr sz="1800">
              <a:solidFill>
                <a:schemeClr val="dk2"/>
              </a:solidFill>
            </a:endParaRPr>
          </a:p>
        </p:txBody>
      </p:sp>
      <p:sp>
        <p:nvSpPr>
          <p:cNvPr id="584" name="Google Shape;584;p33"/>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Graphical Models: Factor Graphs</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pic>
        <p:nvPicPr>
          <p:cNvPr id="585" name="Google Shape;585;p33"/>
          <p:cNvPicPr preferRelativeResize="0"/>
          <p:nvPr/>
        </p:nvPicPr>
        <p:blipFill>
          <a:blip r:embed="rId3">
            <a:alphaModFix/>
          </a:blip>
          <a:stretch>
            <a:fillRect/>
          </a:stretch>
        </p:blipFill>
        <p:spPr>
          <a:xfrm>
            <a:off x="4361625" y="1080000"/>
            <a:ext cx="4414750" cy="3148351"/>
          </a:xfrm>
          <a:prstGeom prst="rect">
            <a:avLst/>
          </a:prstGeom>
          <a:noFill/>
          <a:ln>
            <a:noFill/>
          </a:ln>
        </p:spPr>
      </p:pic>
      <p:sp>
        <p:nvSpPr>
          <p:cNvPr id="586" name="Google Shape;586;p33"/>
          <p:cNvSpPr txBox="1"/>
          <p:nvPr/>
        </p:nvSpPr>
        <p:spPr>
          <a:xfrm>
            <a:off x="2603619" y="4779082"/>
            <a:ext cx="2834700" cy="2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Bearing measurements</a:t>
            </a:r>
            <a:endParaRPr b="1" sz="1200">
              <a:solidFill>
                <a:srgbClr val="193364"/>
              </a:solidFill>
            </a:endParaRPr>
          </a:p>
        </p:txBody>
      </p:sp>
      <p:sp>
        <p:nvSpPr>
          <p:cNvPr id="587" name="Google Shape;587;p33"/>
          <p:cNvSpPr txBox="1"/>
          <p:nvPr/>
        </p:nvSpPr>
        <p:spPr>
          <a:xfrm>
            <a:off x="360000" y="1085875"/>
            <a:ext cx="4543200" cy="3006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s" sz="1200">
                <a:solidFill>
                  <a:srgbClr val="193364"/>
                </a:solidFill>
              </a:rPr>
              <a:t>Factor graphs </a:t>
            </a:r>
            <a:r>
              <a:rPr lang="es" sz="1200">
                <a:solidFill>
                  <a:schemeClr val="dk1"/>
                </a:solidFill>
              </a:rPr>
              <a:t>are probabilistic graphical models that allow us to specify any density as a product of factors.</a:t>
            </a:r>
            <a:endParaRPr sz="1200">
              <a:solidFill>
                <a:schemeClr val="dk1"/>
              </a:solidFill>
            </a:endParaRPr>
          </a:p>
          <a:p>
            <a:pPr indent="0" lvl="0" marL="0" rtl="0" algn="just">
              <a:spcBef>
                <a:spcPts val="0"/>
              </a:spcBef>
              <a:spcAft>
                <a:spcPts val="0"/>
              </a:spcAft>
              <a:buNone/>
            </a:pPr>
            <a:r>
              <a:t/>
            </a:r>
            <a:endParaRPr sz="1200">
              <a:solidFill>
                <a:schemeClr val="dk1"/>
              </a:solidFill>
            </a:endParaRPr>
          </a:p>
          <a:p>
            <a:pPr indent="0" lvl="0" marL="0" rtl="0" algn="just">
              <a:spcBef>
                <a:spcPts val="0"/>
              </a:spcBef>
              <a:spcAft>
                <a:spcPts val="0"/>
              </a:spcAft>
              <a:buNone/>
            </a:pPr>
            <a:r>
              <a:rPr lang="es" sz="1200">
                <a:solidFill>
                  <a:schemeClr val="dk1"/>
                </a:solidFill>
              </a:rPr>
              <a:t>All unknown states </a:t>
            </a:r>
            <a:r>
              <a:rPr b="1" lang="es" sz="1200">
                <a:solidFill>
                  <a:schemeClr val="dk1"/>
                </a:solidFill>
              </a:rPr>
              <a:t>x</a:t>
            </a:r>
            <a:r>
              <a:rPr lang="es" sz="1200">
                <a:solidFill>
                  <a:schemeClr val="dk1"/>
                </a:solidFill>
              </a:rPr>
              <a:t>, both poses and landmarks, have a node associated with them. </a:t>
            </a:r>
            <a:endParaRPr sz="1200">
              <a:solidFill>
                <a:schemeClr val="dk1"/>
              </a:solidFill>
            </a:endParaRPr>
          </a:p>
          <a:p>
            <a:pPr indent="0" lvl="0" marL="0" rtl="0" algn="just">
              <a:spcBef>
                <a:spcPts val="0"/>
              </a:spcBef>
              <a:spcAft>
                <a:spcPts val="0"/>
              </a:spcAft>
              <a:buNone/>
            </a:pPr>
            <a:r>
              <a:t/>
            </a:r>
            <a:endParaRPr sz="1200">
              <a:solidFill>
                <a:schemeClr val="dk1"/>
              </a:solidFill>
            </a:endParaRPr>
          </a:p>
          <a:p>
            <a:pPr indent="0" lvl="0" marL="0" rtl="0" algn="just">
              <a:spcBef>
                <a:spcPts val="0"/>
              </a:spcBef>
              <a:spcAft>
                <a:spcPts val="0"/>
              </a:spcAft>
              <a:buNone/>
            </a:pPr>
            <a:r>
              <a:rPr lang="es" sz="1200">
                <a:solidFill>
                  <a:schemeClr val="dk1"/>
                </a:solidFill>
              </a:rPr>
              <a:t>Measurements are not represented explicitly as they are known.</a:t>
            </a:r>
            <a:endParaRPr sz="1200">
              <a:solidFill>
                <a:schemeClr val="dk1"/>
              </a:solidFill>
            </a:endParaRPr>
          </a:p>
          <a:p>
            <a:pPr indent="0" lvl="0" marL="0" rtl="0" algn="just">
              <a:spcBef>
                <a:spcPts val="0"/>
              </a:spcBef>
              <a:spcAft>
                <a:spcPts val="0"/>
              </a:spcAft>
              <a:buNone/>
            </a:pPr>
            <a:r>
              <a:t/>
            </a:r>
            <a:endParaRPr sz="1200">
              <a:solidFill>
                <a:schemeClr val="dk1"/>
              </a:solidFill>
            </a:endParaRPr>
          </a:p>
          <a:p>
            <a:pPr indent="0" lvl="0" marL="0" rtl="0" algn="just">
              <a:spcBef>
                <a:spcPts val="0"/>
              </a:spcBef>
              <a:spcAft>
                <a:spcPts val="0"/>
              </a:spcAft>
              <a:buNone/>
            </a:pPr>
            <a:r>
              <a:rPr lang="es" sz="1200">
                <a:solidFill>
                  <a:schemeClr val="dk1"/>
                </a:solidFill>
              </a:rPr>
              <a:t>Small black nodes represent </a:t>
            </a:r>
            <a:r>
              <a:rPr b="1" lang="es" sz="1200">
                <a:solidFill>
                  <a:srgbClr val="193364"/>
                </a:solidFill>
              </a:rPr>
              <a:t>factors</a:t>
            </a:r>
            <a:r>
              <a:rPr lang="es" sz="1200">
                <a:solidFill>
                  <a:schemeClr val="dk1"/>
                </a:solidFill>
              </a:rPr>
              <a:t>, and, importantly, </a:t>
            </a:r>
            <a:r>
              <a:rPr b="1" lang="es" sz="1200">
                <a:solidFill>
                  <a:srgbClr val="193364"/>
                </a:solidFill>
              </a:rPr>
              <a:t>are connected to only those state variables of which they are a function.</a:t>
            </a:r>
            <a:endParaRPr b="1" sz="1200">
              <a:solidFill>
                <a:srgbClr val="193364"/>
              </a:solidFill>
            </a:endParaRPr>
          </a:p>
          <a:p>
            <a:pPr indent="0" lvl="0" marL="0" rtl="0" algn="just">
              <a:spcBef>
                <a:spcPts val="0"/>
              </a:spcBef>
              <a:spcAft>
                <a:spcPts val="0"/>
              </a:spcAft>
              <a:buNone/>
            </a:pPr>
            <a:r>
              <a:t/>
            </a:r>
            <a:endParaRPr sz="1200">
              <a:solidFill>
                <a:schemeClr val="dk1"/>
              </a:solidFill>
            </a:endParaRPr>
          </a:p>
          <a:p>
            <a:pPr indent="0" lvl="0" marL="0" rtl="0" algn="just">
              <a:spcBef>
                <a:spcPts val="0"/>
              </a:spcBef>
              <a:spcAft>
                <a:spcPts val="0"/>
              </a:spcAft>
              <a:buNone/>
            </a:pPr>
            <a:r>
              <a:t/>
            </a:r>
            <a:endParaRPr sz="1200">
              <a:solidFill>
                <a:schemeClr val="dk1"/>
              </a:solidFill>
            </a:endParaRPr>
          </a:p>
        </p:txBody>
      </p:sp>
      <p:sp>
        <p:nvSpPr>
          <p:cNvPr id="588" name="Google Shape;588;p33"/>
          <p:cNvSpPr txBox="1"/>
          <p:nvPr/>
        </p:nvSpPr>
        <p:spPr>
          <a:xfrm>
            <a:off x="3966775" y="4581049"/>
            <a:ext cx="42111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F. Dellaert, M. Kaess, and T. Barfoot, "Factor Graphs for SLAM," in </a:t>
            </a:r>
            <a:r>
              <a:rPr i="1" lang="es" sz="800">
                <a:solidFill>
                  <a:schemeClr val="lt1"/>
                </a:solidFill>
              </a:rPr>
              <a:t>SLAM Handbook: From Localization and Mapping to Spatial Intelligence</a:t>
            </a:r>
            <a:r>
              <a:rPr lang="es" sz="800">
                <a:solidFill>
                  <a:schemeClr val="lt1"/>
                </a:solidFill>
              </a:rPr>
              <a:t>, L. Carlone, A. Kim, T. Barfoot, D. Cremers, and F. Dellaert, Eds. Cambridge University Press, 2026.</a:t>
            </a:r>
            <a:endParaRPr sz="800">
              <a:solidFill>
                <a:schemeClr val="lt1"/>
              </a:solidFill>
            </a:endParaRPr>
          </a:p>
        </p:txBody>
      </p:sp>
      <p:grpSp>
        <p:nvGrpSpPr>
          <p:cNvPr id="589" name="Google Shape;589;p33"/>
          <p:cNvGrpSpPr/>
          <p:nvPr/>
        </p:nvGrpSpPr>
        <p:grpSpPr>
          <a:xfrm>
            <a:off x="1095318" y="4449088"/>
            <a:ext cx="712880" cy="694332"/>
            <a:chOff x="1095318" y="4449088"/>
            <a:chExt cx="712880" cy="694332"/>
          </a:xfrm>
        </p:grpSpPr>
        <p:sp>
          <p:nvSpPr>
            <p:cNvPr id="590" name="Google Shape;590;p33"/>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591" name="Google Shape;591;p33"/>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592" name="Google Shape;592;p33"/>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593" name="Google Shape;593;p33"/>
            <p:cNvPicPr preferRelativeResize="0"/>
            <p:nvPr/>
          </p:nvPicPr>
          <p:blipFill>
            <a:blip r:embed="rId4">
              <a:alphaModFix/>
            </a:blip>
            <a:stretch>
              <a:fillRect/>
            </a:stretch>
          </p:blipFill>
          <p:spPr>
            <a:xfrm flipH="1" rot="133010">
              <a:off x="1106374" y="4460147"/>
              <a:ext cx="583062" cy="583197"/>
            </a:xfrm>
            <a:prstGeom prst="rect">
              <a:avLst/>
            </a:prstGeom>
            <a:noFill/>
            <a:ln>
              <a:noFill/>
            </a:ln>
          </p:spPr>
        </p:pic>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34"/>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None/>
            </a:pPr>
            <a:r>
              <a:t/>
            </a:r>
            <a:endParaRPr b="1" sz="1800">
              <a:solidFill>
                <a:srgbClr val="193364"/>
              </a:solidFill>
            </a:endParaRPr>
          </a:p>
          <a:p>
            <a:pPr indent="0" lvl="0" marL="0" rtl="0" algn="l">
              <a:spcBef>
                <a:spcPts val="0"/>
              </a:spcBef>
              <a:spcAft>
                <a:spcPts val="0"/>
              </a:spcAft>
              <a:buNone/>
            </a:pPr>
            <a:r>
              <a:t/>
            </a:r>
            <a:endParaRPr sz="1800">
              <a:solidFill>
                <a:schemeClr val="dk2"/>
              </a:solidFill>
            </a:endParaRPr>
          </a:p>
        </p:txBody>
      </p:sp>
      <p:sp>
        <p:nvSpPr>
          <p:cNvPr id="599" name="Google Shape;599;p34"/>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Graphical Models: Factor Graphs</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pic>
        <p:nvPicPr>
          <p:cNvPr id="600" name="Google Shape;600;p34"/>
          <p:cNvPicPr preferRelativeResize="0"/>
          <p:nvPr/>
        </p:nvPicPr>
        <p:blipFill>
          <a:blip r:embed="rId3">
            <a:alphaModFix/>
          </a:blip>
          <a:stretch>
            <a:fillRect/>
          </a:stretch>
        </p:blipFill>
        <p:spPr>
          <a:xfrm>
            <a:off x="4361625" y="1080000"/>
            <a:ext cx="4414750" cy="3148351"/>
          </a:xfrm>
          <a:prstGeom prst="rect">
            <a:avLst/>
          </a:prstGeom>
          <a:noFill/>
          <a:ln>
            <a:noFill/>
          </a:ln>
        </p:spPr>
      </p:pic>
      <p:sp>
        <p:nvSpPr>
          <p:cNvPr id="601" name="Google Shape;601;p34"/>
          <p:cNvSpPr txBox="1"/>
          <p:nvPr/>
        </p:nvSpPr>
        <p:spPr>
          <a:xfrm>
            <a:off x="2603619" y="4779082"/>
            <a:ext cx="2834700" cy="2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Bearing measurements</a:t>
            </a:r>
            <a:endParaRPr b="1" sz="1200">
              <a:solidFill>
                <a:srgbClr val="193364"/>
              </a:solidFill>
            </a:endParaRPr>
          </a:p>
        </p:txBody>
      </p:sp>
      <p:pic>
        <p:nvPicPr>
          <p:cNvPr id="602" name="Google Shape;602;p34"/>
          <p:cNvPicPr preferRelativeResize="0"/>
          <p:nvPr/>
        </p:nvPicPr>
        <p:blipFill>
          <a:blip r:embed="rId4">
            <a:alphaModFix/>
          </a:blip>
          <a:stretch>
            <a:fillRect/>
          </a:stretch>
        </p:blipFill>
        <p:spPr>
          <a:xfrm>
            <a:off x="442676" y="2103218"/>
            <a:ext cx="3918950" cy="1062268"/>
          </a:xfrm>
          <a:prstGeom prst="rect">
            <a:avLst/>
          </a:prstGeom>
          <a:noFill/>
          <a:ln>
            <a:noFill/>
          </a:ln>
        </p:spPr>
      </p:pic>
      <p:sp>
        <p:nvSpPr>
          <p:cNvPr id="603" name="Google Shape;603;p34"/>
          <p:cNvSpPr txBox="1"/>
          <p:nvPr/>
        </p:nvSpPr>
        <p:spPr>
          <a:xfrm>
            <a:off x="360000" y="1085875"/>
            <a:ext cx="4543200" cy="3006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s" sz="1200">
                <a:solidFill>
                  <a:srgbClr val="193364"/>
                </a:solidFill>
              </a:rPr>
              <a:t>The factor values need only be proportional to the corresponding probability densities</a:t>
            </a:r>
            <a:r>
              <a:rPr lang="es" sz="1200">
                <a:solidFill>
                  <a:schemeClr val="dk1"/>
                </a:solidFill>
              </a:rPr>
              <a:t>: any normalization constants that do not depend on the state variables may be omitted without consequence.</a:t>
            </a:r>
            <a:endParaRPr sz="1200">
              <a:solidFill>
                <a:schemeClr val="dk1"/>
              </a:solidFill>
            </a:endParaRPr>
          </a:p>
          <a:p>
            <a:pPr indent="0" lvl="0" marL="0" rtl="0" algn="just">
              <a:spcBef>
                <a:spcPts val="0"/>
              </a:spcBef>
              <a:spcAft>
                <a:spcPts val="0"/>
              </a:spcAft>
              <a:buNone/>
            </a:pPr>
            <a:r>
              <a:t/>
            </a:r>
            <a:endParaRPr sz="1200">
              <a:solidFill>
                <a:schemeClr val="dk1"/>
              </a:solidFill>
            </a:endParaRPr>
          </a:p>
          <a:p>
            <a:pPr indent="0" lvl="0" marL="0" rtl="0" algn="just">
              <a:spcBef>
                <a:spcPts val="0"/>
              </a:spcBef>
              <a:spcAft>
                <a:spcPts val="0"/>
              </a:spcAft>
              <a:buNone/>
            </a:pPr>
            <a:r>
              <a:t/>
            </a:r>
            <a:endParaRPr sz="1200">
              <a:solidFill>
                <a:schemeClr val="dk1"/>
              </a:solidFill>
            </a:endParaRPr>
          </a:p>
          <a:p>
            <a:pPr indent="0" lvl="0" marL="0" rtl="0" algn="just">
              <a:spcBef>
                <a:spcPts val="0"/>
              </a:spcBef>
              <a:spcAft>
                <a:spcPts val="0"/>
              </a:spcAft>
              <a:buNone/>
            </a:pPr>
            <a:r>
              <a:t/>
            </a:r>
            <a:endParaRPr sz="1200">
              <a:solidFill>
                <a:schemeClr val="dk1"/>
              </a:solidFill>
            </a:endParaRPr>
          </a:p>
          <a:p>
            <a:pPr indent="0" lvl="0" marL="0" rtl="0" algn="just">
              <a:spcBef>
                <a:spcPts val="0"/>
              </a:spcBef>
              <a:spcAft>
                <a:spcPts val="0"/>
              </a:spcAft>
              <a:buNone/>
            </a:pPr>
            <a:r>
              <a:t/>
            </a:r>
            <a:endParaRPr sz="1200">
              <a:solidFill>
                <a:schemeClr val="dk1"/>
              </a:solidFill>
            </a:endParaRPr>
          </a:p>
          <a:p>
            <a:pPr indent="0" lvl="0" marL="0" rtl="0" algn="just">
              <a:spcBef>
                <a:spcPts val="0"/>
              </a:spcBef>
              <a:spcAft>
                <a:spcPts val="0"/>
              </a:spcAft>
              <a:buNone/>
            </a:pPr>
            <a:r>
              <a:t/>
            </a:r>
            <a:endParaRPr sz="1200">
              <a:solidFill>
                <a:schemeClr val="dk1"/>
              </a:solidFill>
            </a:endParaRPr>
          </a:p>
          <a:p>
            <a:pPr indent="0" lvl="0" marL="0" rtl="0" algn="just">
              <a:spcBef>
                <a:spcPts val="0"/>
              </a:spcBef>
              <a:spcAft>
                <a:spcPts val="0"/>
              </a:spcAft>
              <a:buNone/>
            </a:pPr>
            <a:r>
              <a:t/>
            </a:r>
            <a:endParaRPr sz="1200">
              <a:solidFill>
                <a:schemeClr val="dk1"/>
              </a:solidFill>
            </a:endParaRPr>
          </a:p>
          <a:p>
            <a:pPr indent="0" lvl="0" marL="0" rtl="0" algn="just">
              <a:spcBef>
                <a:spcPts val="0"/>
              </a:spcBef>
              <a:spcAft>
                <a:spcPts val="0"/>
              </a:spcAft>
              <a:buNone/>
            </a:pPr>
            <a:r>
              <a:t/>
            </a:r>
            <a:endParaRPr sz="1200">
              <a:solidFill>
                <a:schemeClr val="dk1"/>
              </a:solidFill>
            </a:endParaRPr>
          </a:p>
          <a:p>
            <a:pPr indent="0" lvl="0" marL="0" rtl="0" algn="just">
              <a:spcBef>
                <a:spcPts val="0"/>
              </a:spcBef>
              <a:spcAft>
                <a:spcPts val="0"/>
              </a:spcAft>
              <a:buNone/>
            </a:pPr>
            <a:r>
              <a:t/>
            </a:r>
            <a:endParaRPr sz="1200">
              <a:solidFill>
                <a:schemeClr val="dk1"/>
              </a:solidFill>
            </a:endParaRPr>
          </a:p>
          <a:p>
            <a:pPr indent="0" lvl="0" marL="0" rtl="0" algn="just">
              <a:spcBef>
                <a:spcPts val="0"/>
              </a:spcBef>
              <a:spcAft>
                <a:spcPts val="0"/>
              </a:spcAft>
              <a:buNone/>
            </a:pPr>
            <a:r>
              <a:rPr lang="es" sz="1200">
                <a:solidFill>
                  <a:schemeClr val="dk1"/>
                </a:solidFill>
              </a:rPr>
              <a:t>Although the measurement variables are not explicitly shown in the factor graph, those factors are implicitly conditioned on them. </a:t>
            </a:r>
            <a:endParaRPr sz="1200">
              <a:solidFill>
                <a:schemeClr val="dk1"/>
              </a:solidFill>
            </a:endParaRPr>
          </a:p>
          <a:p>
            <a:pPr indent="0" lvl="0" marL="0" rtl="0" algn="just">
              <a:spcBef>
                <a:spcPts val="0"/>
              </a:spcBef>
              <a:spcAft>
                <a:spcPts val="0"/>
              </a:spcAft>
              <a:buNone/>
            </a:pPr>
            <a:r>
              <a:t/>
            </a:r>
            <a:endParaRPr sz="1200">
              <a:solidFill>
                <a:schemeClr val="dk1"/>
              </a:solidFill>
            </a:endParaRPr>
          </a:p>
        </p:txBody>
      </p:sp>
      <p:sp>
        <p:nvSpPr>
          <p:cNvPr id="604" name="Google Shape;604;p34"/>
          <p:cNvSpPr txBox="1"/>
          <p:nvPr/>
        </p:nvSpPr>
        <p:spPr>
          <a:xfrm>
            <a:off x="3966775" y="4581049"/>
            <a:ext cx="42111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F. Dellaert, M. Kaess, and T. Barfoot, "Factor Graphs for SLAM," in </a:t>
            </a:r>
            <a:r>
              <a:rPr i="1" lang="es" sz="800">
                <a:solidFill>
                  <a:schemeClr val="lt1"/>
                </a:solidFill>
              </a:rPr>
              <a:t>SLAM Handbook: From Localization and Mapping to Spatial Intelligence</a:t>
            </a:r>
            <a:r>
              <a:rPr lang="es" sz="800">
                <a:solidFill>
                  <a:schemeClr val="lt1"/>
                </a:solidFill>
              </a:rPr>
              <a:t>, L. Carlone, A. Kim, T. Barfoot, D. Cremers, and F. Dellaert, Eds. Cambridge University Press, 2026.</a:t>
            </a:r>
            <a:endParaRPr sz="800">
              <a:solidFill>
                <a:schemeClr val="lt1"/>
              </a:solidFill>
            </a:endParaRPr>
          </a:p>
        </p:txBody>
      </p:sp>
      <p:grpSp>
        <p:nvGrpSpPr>
          <p:cNvPr id="605" name="Google Shape;605;p34"/>
          <p:cNvGrpSpPr/>
          <p:nvPr/>
        </p:nvGrpSpPr>
        <p:grpSpPr>
          <a:xfrm>
            <a:off x="1095318" y="4449088"/>
            <a:ext cx="712880" cy="694332"/>
            <a:chOff x="1095318" y="4449088"/>
            <a:chExt cx="712880" cy="694332"/>
          </a:xfrm>
        </p:grpSpPr>
        <p:sp>
          <p:nvSpPr>
            <p:cNvPr id="606" name="Google Shape;606;p34"/>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607" name="Google Shape;607;p34"/>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608" name="Google Shape;608;p34"/>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609" name="Google Shape;609;p34"/>
            <p:cNvPicPr preferRelativeResize="0"/>
            <p:nvPr/>
          </p:nvPicPr>
          <p:blipFill>
            <a:blip r:embed="rId5">
              <a:alphaModFix/>
            </a:blip>
            <a:stretch>
              <a:fillRect/>
            </a:stretch>
          </p:blipFill>
          <p:spPr>
            <a:xfrm flipH="1" rot="133010">
              <a:off x="1106374" y="4460147"/>
              <a:ext cx="583062" cy="583197"/>
            </a:xfrm>
            <a:prstGeom prst="rect">
              <a:avLst/>
            </a:prstGeom>
            <a:noFill/>
            <a:ln>
              <a:noFill/>
            </a:ln>
          </p:spPr>
        </p:pic>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35"/>
          <p:cNvSpPr txBox="1"/>
          <p:nvPr/>
        </p:nvSpPr>
        <p:spPr>
          <a:xfrm>
            <a:off x="360000" y="1080000"/>
            <a:ext cx="4620600" cy="3240000"/>
          </a:xfrm>
          <a:prstGeom prst="rect">
            <a:avLst/>
          </a:prstGeom>
          <a:noFill/>
          <a:ln>
            <a:noFill/>
          </a:ln>
        </p:spPr>
        <p:txBody>
          <a:bodyPr anchorCtr="0" anchor="t" bIns="91425" lIns="91425" spcFirstLastPara="1" rIns="91425" wrap="square" tIns="91425">
            <a:noAutofit/>
          </a:bodyPr>
          <a:lstStyle/>
          <a:p>
            <a:pPr indent="-304800" lvl="0" marL="457200" marR="0" rtl="0" algn="just">
              <a:lnSpc>
                <a:spcPct val="100000"/>
              </a:lnSpc>
              <a:spcBef>
                <a:spcPts val="0"/>
              </a:spcBef>
              <a:spcAft>
                <a:spcPts val="0"/>
              </a:spcAft>
              <a:buClr>
                <a:srgbClr val="193364"/>
              </a:buClr>
              <a:buSzPts val="1200"/>
              <a:buChar char="❖"/>
            </a:pPr>
            <a:r>
              <a:rPr b="1" lang="es" sz="1200">
                <a:solidFill>
                  <a:srgbClr val="193364"/>
                </a:solidFill>
              </a:rPr>
              <a:t>Landmark-based SLAM </a:t>
            </a:r>
            <a:r>
              <a:rPr lang="es" sz="1200">
                <a:solidFill>
                  <a:schemeClr val="dk1"/>
                </a:solidFill>
              </a:rPr>
              <a:t>has both pose and landmark variables; landmarks are measured from poses and there is some motion prior between poses typically based on odometry</a:t>
            </a:r>
            <a:endParaRPr sz="1200">
              <a:solidFill>
                <a:schemeClr val="dk1"/>
              </a:solidFill>
            </a:endParaRPr>
          </a:p>
          <a:p>
            <a:pPr indent="0" lvl="0" marL="457200" marR="0" rtl="0" algn="just">
              <a:lnSpc>
                <a:spcPct val="100000"/>
              </a:lnSpc>
              <a:spcBef>
                <a:spcPts val="0"/>
              </a:spcBef>
              <a:spcAft>
                <a:spcPts val="0"/>
              </a:spcAft>
              <a:buNone/>
            </a:pPr>
            <a:r>
              <a:t/>
            </a:r>
            <a:endParaRPr sz="1200">
              <a:solidFill>
                <a:schemeClr val="dk1"/>
              </a:solidFill>
            </a:endParaRPr>
          </a:p>
          <a:p>
            <a:pPr indent="-304800" lvl="0" marL="457200" marR="0" rtl="0" algn="just">
              <a:lnSpc>
                <a:spcPct val="100000"/>
              </a:lnSpc>
              <a:spcBef>
                <a:spcPts val="0"/>
              </a:spcBef>
              <a:spcAft>
                <a:spcPts val="0"/>
              </a:spcAft>
              <a:buClr>
                <a:srgbClr val="193364"/>
              </a:buClr>
              <a:buSzPts val="1200"/>
              <a:buChar char="❖"/>
            </a:pPr>
            <a:r>
              <a:rPr b="1" lang="es" sz="1200">
                <a:solidFill>
                  <a:srgbClr val="193364"/>
                </a:solidFill>
              </a:rPr>
              <a:t>Bundle Adjustment (BA) </a:t>
            </a:r>
            <a:r>
              <a:rPr lang="es" sz="1200">
                <a:solidFill>
                  <a:schemeClr val="dk1"/>
                </a:solidFill>
              </a:rPr>
              <a:t>is the same but without the motion prior</a:t>
            </a:r>
            <a:endParaRPr sz="1200">
              <a:solidFill>
                <a:schemeClr val="dk1"/>
              </a:solidFill>
            </a:endParaRPr>
          </a:p>
          <a:p>
            <a:pPr indent="0" lvl="0" marL="457200" marR="0" rtl="0" algn="just">
              <a:lnSpc>
                <a:spcPct val="100000"/>
              </a:lnSpc>
              <a:spcBef>
                <a:spcPts val="0"/>
              </a:spcBef>
              <a:spcAft>
                <a:spcPts val="0"/>
              </a:spcAft>
              <a:buNone/>
            </a:pPr>
            <a:r>
              <a:t/>
            </a:r>
            <a:endParaRPr sz="1200">
              <a:solidFill>
                <a:schemeClr val="dk1"/>
              </a:solidFill>
            </a:endParaRPr>
          </a:p>
          <a:p>
            <a:pPr indent="-304800" lvl="0" marL="457200" marR="0" rtl="0" algn="just">
              <a:lnSpc>
                <a:spcPct val="100000"/>
              </a:lnSpc>
              <a:spcBef>
                <a:spcPts val="0"/>
              </a:spcBef>
              <a:spcAft>
                <a:spcPts val="0"/>
              </a:spcAft>
              <a:buClr>
                <a:srgbClr val="193364"/>
              </a:buClr>
              <a:buSzPts val="1200"/>
              <a:buChar char="❖"/>
            </a:pPr>
            <a:r>
              <a:rPr b="1" lang="es" sz="1200">
                <a:solidFill>
                  <a:srgbClr val="193364"/>
                </a:solidFill>
              </a:rPr>
              <a:t>Pose-Graph Optimization (PGO) </a:t>
            </a:r>
            <a:r>
              <a:rPr lang="es" sz="1200">
                <a:solidFill>
                  <a:schemeClr val="dk1"/>
                </a:solidFill>
              </a:rPr>
              <a:t>does not have landmark variables but enjoys extra loop closure measurements between poses</a:t>
            </a:r>
            <a:endParaRPr sz="1200">
              <a:solidFill>
                <a:schemeClr val="dk1"/>
              </a:solidFill>
            </a:endParaRPr>
          </a:p>
          <a:p>
            <a:pPr indent="0" lvl="0" marL="457200" marR="0" rtl="0" algn="just">
              <a:lnSpc>
                <a:spcPct val="100000"/>
              </a:lnSpc>
              <a:spcBef>
                <a:spcPts val="0"/>
              </a:spcBef>
              <a:spcAft>
                <a:spcPts val="0"/>
              </a:spcAft>
              <a:buNone/>
            </a:pPr>
            <a:r>
              <a:t/>
            </a:r>
            <a:endParaRPr sz="1200">
              <a:solidFill>
                <a:schemeClr val="dk1"/>
              </a:solidFill>
            </a:endParaRPr>
          </a:p>
          <a:p>
            <a:pPr indent="-304800" lvl="0" marL="457200" marR="0" rtl="0" algn="just">
              <a:lnSpc>
                <a:spcPct val="100000"/>
              </a:lnSpc>
              <a:spcBef>
                <a:spcPts val="0"/>
              </a:spcBef>
              <a:spcAft>
                <a:spcPts val="0"/>
              </a:spcAft>
              <a:buClr>
                <a:srgbClr val="193364"/>
              </a:buClr>
              <a:buSzPts val="1200"/>
              <a:buChar char="❖"/>
            </a:pPr>
            <a:r>
              <a:rPr b="1" lang="es" sz="1200">
                <a:solidFill>
                  <a:srgbClr val="193364"/>
                </a:solidFill>
              </a:rPr>
              <a:t>Simultaneous Trajectory Estimation and Mapping (STEAM) i</a:t>
            </a:r>
            <a:r>
              <a:rPr lang="es" sz="1200">
                <a:solidFill>
                  <a:schemeClr val="dk1"/>
                </a:solidFill>
              </a:rPr>
              <a:t>s similar to landmark-based SLAM, but now poses can be replaced by higher-order states and a smooth continuous-time motion prior is used</a:t>
            </a:r>
            <a:endParaRPr sz="1200">
              <a:solidFill>
                <a:schemeClr val="dk1"/>
              </a:solidFill>
            </a:endParaRPr>
          </a:p>
          <a:p>
            <a:pPr indent="0" lvl="0" marL="0" rtl="0" algn="just">
              <a:spcBef>
                <a:spcPts val="0"/>
              </a:spcBef>
              <a:spcAft>
                <a:spcPts val="0"/>
              </a:spcAft>
              <a:buNone/>
            </a:pPr>
            <a:r>
              <a:t/>
            </a:r>
            <a:endParaRPr sz="1200">
              <a:solidFill>
                <a:schemeClr val="dk2"/>
              </a:solidFill>
            </a:endParaRPr>
          </a:p>
        </p:txBody>
      </p:sp>
      <p:sp>
        <p:nvSpPr>
          <p:cNvPr id="615" name="Google Shape;615;p35"/>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Factor Graphs as a Language</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sp>
        <p:nvSpPr>
          <p:cNvPr id="616" name="Google Shape;616;p35"/>
          <p:cNvSpPr txBox="1"/>
          <p:nvPr/>
        </p:nvSpPr>
        <p:spPr>
          <a:xfrm>
            <a:off x="2603619" y="4779082"/>
            <a:ext cx="2834700" cy="2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Bearing measurements</a:t>
            </a:r>
            <a:endParaRPr b="1" sz="1200">
              <a:solidFill>
                <a:srgbClr val="193364"/>
              </a:solidFill>
            </a:endParaRPr>
          </a:p>
        </p:txBody>
      </p:sp>
      <p:pic>
        <p:nvPicPr>
          <p:cNvPr id="617" name="Google Shape;617;p35"/>
          <p:cNvPicPr preferRelativeResize="0"/>
          <p:nvPr/>
        </p:nvPicPr>
        <p:blipFill>
          <a:blip r:embed="rId3">
            <a:alphaModFix/>
          </a:blip>
          <a:stretch>
            <a:fillRect/>
          </a:stretch>
        </p:blipFill>
        <p:spPr>
          <a:xfrm>
            <a:off x="5057719" y="1085650"/>
            <a:ext cx="3726281" cy="3234350"/>
          </a:xfrm>
          <a:prstGeom prst="rect">
            <a:avLst/>
          </a:prstGeom>
          <a:noFill/>
          <a:ln>
            <a:noFill/>
          </a:ln>
        </p:spPr>
      </p:pic>
      <p:sp>
        <p:nvSpPr>
          <p:cNvPr id="618" name="Google Shape;618;p35"/>
          <p:cNvSpPr txBox="1"/>
          <p:nvPr/>
        </p:nvSpPr>
        <p:spPr>
          <a:xfrm>
            <a:off x="3966775" y="4581049"/>
            <a:ext cx="42111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F. Dellaert, M. Kaess, and T. Barfoot, "Factor Graphs for SLAM," in </a:t>
            </a:r>
            <a:r>
              <a:rPr i="1" lang="es" sz="800">
                <a:solidFill>
                  <a:schemeClr val="lt1"/>
                </a:solidFill>
              </a:rPr>
              <a:t>SLAM Handbook: From Localization and Mapping to Spatial Intelligence</a:t>
            </a:r>
            <a:r>
              <a:rPr lang="es" sz="800">
                <a:solidFill>
                  <a:schemeClr val="lt1"/>
                </a:solidFill>
              </a:rPr>
              <a:t>, L. Carlone, A. Kim, T. Barfoot, D. Cremers, and F. Dellaert, Eds. Cambridge University Press, 2026.</a:t>
            </a:r>
            <a:endParaRPr sz="800">
              <a:solidFill>
                <a:schemeClr val="lt1"/>
              </a:solidFill>
            </a:endParaRPr>
          </a:p>
        </p:txBody>
      </p:sp>
      <p:grpSp>
        <p:nvGrpSpPr>
          <p:cNvPr id="619" name="Google Shape;619;p35"/>
          <p:cNvGrpSpPr/>
          <p:nvPr/>
        </p:nvGrpSpPr>
        <p:grpSpPr>
          <a:xfrm>
            <a:off x="1095318" y="4449088"/>
            <a:ext cx="712880" cy="694332"/>
            <a:chOff x="1095318" y="4449088"/>
            <a:chExt cx="712880" cy="694332"/>
          </a:xfrm>
        </p:grpSpPr>
        <p:sp>
          <p:nvSpPr>
            <p:cNvPr id="620" name="Google Shape;620;p35"/>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621" name="Google Shape;621;p35"/>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622" name="Google Shape;622;p35"/>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623" name="Google Shape;623;p35"/>
            <p:cNvPicPr preferRelativeResize="0"/>
            <p:nvPr/>
          </p:nvPicPr>
          <p:blipFill>
            <a:blip r:embed="rId4">
              <a:alphaModFix/>
            </a:blip>
            <a:stretch>
              <a:fillRect/>
            </a:stretch>
          </p:blipFill>
          <p:spPr>
            <a:xfrm flipH="1" rot="133010">
              <a:off x="1106374" y="4460147"/>
              <a:ext cx="583062" cy="583197"/>
            </a:xfrm>
            <a:prstGeom prst="rect">
              <a:avLst/>
            </a:prstGeom>
            <a:noFill/>
            <a:ln>
              <a:noFill/>
            </a:ln>
          </p:spPr>
        </p:pic>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36"/>
          <p:cNvSpPr txBox="1"/>
          <p:nvPr/>
        </p:nvSpPr>
        <p:spPr>
          <a:xfrm>
            <a:off x="360000" y="1080000"/>
            <a:ext cx="3044400" cy="324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1200"/>
              <a:t>Examining the factor graph reveals a great deal of structure by which we can gain insight into a particular instance of the SLAM problem:</a:t>
            </a:r>
            <a:endParaRPr sz="1200"/>
          </a:p>
          <a:p>
            <a:pPr indent="0" lvl="0" marL="0" rtl="0" algn="just">
              <a:spcBef>
                <a:spcPts val="0"/>
              </a:spcBef>
              <a:spcAft>
                <a:spcPts val="0"/>
              </a:spcAft>
              <a:buNone/>
            </a:pPr>
            <a:r>
              <a:t/>
            </a:r>
            <a:endParaRPr sz="1200"/>
          </a:p>
          <a:p>
            <a:pPr indent="-304800" lvl="0" marL="457200" rtl="0" algn="just">
              <a:spcBef>
                <a:spcPts val="0"/>
              </a:spcBef>
              <a:spcAft>
                <a:spcPts val="0"/>
              </a:spcAft>
              <a:buSzPts val="1200"/>
              <a:buChar char="❖"/>
            </a:pPr>
            <a:r>
              <a:rPr lang="es" sz="1200"/>
              <a:t>First, there are landmarks with a great deal of measurements, which we expect to be pinned down very well.</a:t>
            </a:r>
            <a:endParaRPr sz="1200"/>
          </a:p>
          <a:p>
            <a:pPr indent="0" lvl="0" marL="457200" rtl="0" algn="just">
              <a:spcBef>
                <a:spcPts val="0"/>
              </a:spcBef>
              <a:spcAft>
                <a:spcPts val="0"/>
              </a:spcAft>
              <a:buNone/>
            </a:pPr>
            <a:r>
              <a:t/>
            </a:r>
            <a:endParaRPr sz="1200"/>
          </a:p>
          <a:p>
            <a:pPr indent="-304800" lvl="0" marL="457200" rtl="0" algn="just">
              <a:spcBef>
                <a:spcPts val="0"/>
              </a:spcBef>
              <a:spcAft>
                <a:spcPts val="0"/>
              </a:spcAft>
              <a:buSzPts val="1200"/>
              <a:buChar char="❖"/>
            </a:pPr>
            <a:r>
              <a:rPr lang="es" sz="1200"/>
              <a:t>Others have only a tenuous connection to the graph, and hence we expect them to be less well determined. For example, the lone landmark near the bottom right has only a single measurement associated with it</a:t>
            </a:r>
            <a:endParaRPr sz="1200"/>
          </a:p>
          <a:p>
            <a:pPr indent="0" lvl="0" marL="0" rtl="0" algn="just">
              <a:spcBef>
                <a:spcPts val="0"/>
              </a:spcBef>
              <a:spcAft>
                <a:spcPts val="0"/>
              </a:spcAft>
              <a:buNone/>
            </a:pPr>
            <a:r>
              <a:t/>
            </a:r>
            <a:endParaRPr sz="1200">
              <a:solidFill>
                <a:schemeClr val="dk2"/>
              </a:solidFill>
            </a:endParaRPr>
          </a:p>
        </p:txBody>
      </p:sp>
      <p:sp>
        <p:nvSpPr>
          <p:cNvPr id="629" name="Google Shape;629;p36"/>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Factor Graphs as a Language</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sp>
        <p:nvSpPr>
          <p:cNvPr id="630" name="Google Shape;630;p36"/>
          <p:cNvSpPr txBox="1"/>
          <p:nvPr/>
        </p:nvSpPr>
        <p:spPr>
          <a:xfrm>
            <a:off x="2603619" y="4779082"/>
            <a:ext cx="2834700" cy="2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Bearing measurements</a:t>
            </a:r>
            <a:endParaRPr b="1" sz="1200">
              <a:solidFill>
                <a:srgbClr val="193364"/>
              </a:solidFill>
            </a:endParaRPr>
          </a:p>
        </p:txBody>
      </p:sp>
      <p:sp>
        <p:nvSpPr>
          <p:cNvPr id="631" name="Google Shape;631;p36"/>
          <p:cNvSpPr txBox="1"/>
          <p:nvPr/>
        </p:nvSpPr>
        <p:spPr>
          <a:xfrm>
            <a:off x="3966775" y="4581049"/>
            <a:ext cx="42111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F. Dellaert, M. Kaess, and T. Barfoot, "Factor Graphs for SLAM," in </a:t>
            </a:r>
            <a:r>
              <a:rPr i="1" lang="es" sz="800">
                <a:solidFill>
                  <a:schemeClr val="lt1"/>
                </a:solidFill>
              </a:rPr>
              <a:t>SLAM Handbook: From Localization and Mapping to Spatial Intelligence</a:t>
            </a:r>
            <a:r>
              <a:rPr lang="es" sz="800">
                <a:solidFill>
                  <a:schemeClr val="lt1"/>
                </a:solidFill>
              </a:rPr>
              <a:t>, L. Carlone, A. Kim, T. Barfoot, D. Cremers, and F. Dellaert, Eds. Cambridge University Press, 2026.</a:t>
            </a:r>
            <a:endParaRPr sz="800">
              <a:solidFill>
                <a:schemeClr val="lt1"/>
              </a:solidFill>
            </a:endParaRPr>
          </a:p>
        </p:txBody>
      </p:sp>
      <p:pic>
        <p:nvPicPr>
          <p:cNvPr id="632" name="Google Shape;632;p36"/>
          <p:cNvPicPr preferRelativeResize="0"/>
          <p:nvPr/>
        </p:nvPicPr>
        <p:blipFill>
          <a:blip r:embed="rId3">
            <a:alphaModFix/>
          </a:blip>
          <a:stretch>
            <a:fillRect/>
          </a:stretch>
        </p:blipFill>
        <p:spPr>
          <a:xfrm>
            <a:off x="4203600" y="1080000"/>
            <a:ext cx="4580401" cy="3207799"/>
          </a:xfrm>
          <a:prstGeom prst="rect">
            <a:avLst/>
          </a:prstGeom>
          <a:noFill/>
          <a:ln>
            <a:noFill/>
          </a:ln>
        </p:spPr>
      </p:pic>
      <p:grpSp>
        <p:nvGrpSpPr>
          <p:cNvPr id="633" name="Google Shape;633;p36"/>
          <p:cNvGrpSpPr/>
          <p:nvPr/>
        </p:nvGrpSpPr>
        <p:grpSpPr>
          <a:xfrm>
            <a:off x="1095318" y="4449088"/>
            <a:ext cx="712880" cy="694332"/>
            <a:chOff x="1095318" y="4449088"/>
            <a:chExt cx="712880" cy="694332"/>
          </a:xfrm>
        </p:grpSpPr>
        <p:sp>
          <p:nvSpPr>
            <p:cNvPr id="634" name="Google Shape;634;p36"/>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635" name="Google Shape;635;p36"/>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636" name="Google Shape;636;p36"/>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637" name="Google Shape;637;p36"/>
            <p:cNvPicPr preferRelativeResize="0"/>
            <p:nvPr/>
          </p:nvPicPr>
          <p:blipFill>
            <a:blip r:embed="rId4">
              <a:alphaModFix/>
            </a:blip>
            <a:stretch>
              <a:fillRect/>
            </a:stretch>
          </p:blipFill>
          <p:spPr>
            <a:xfrm flipH="1" rot="133010">
              <a:off x="1106374" y="4460147"/>
              <a:ext cx="583062" cy="583197"/>
            </a:xfrm>
            <a:prstGeom prst="rect">
              <a:avLst/>
            </a:prstGeom>
            <a:noFill/>
            <a:ln>
              <a:noFill/>
            </a:ln>
          </p:spPr>
        </p:pic>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37"/>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p:txBody>
      </p:sp>
      <p:sp>
        <p:nvSpPr>
          <p:cNvPr id="643" name="Google Shape;643;p37"/>
          <p:cNvSpPr txBox="1"/>
          <p:nvPr/>
        </p:nvSpPr>
        <p:spPr>
          <a:xfrm>
            <a:off x="360000" y="1085650"/>
            <a:ext cx="3207300" cy="323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s" sz="1200">
                <a:solidFill>
                  <a:srgbClr val="193364"/>
                </a:solidFill>
              </a:rPr>
              <a:t>maximum a posteriori (MAP) estimate</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rPr lang="es" sz="1200">
                <a:solidFill>
                  <a:schemeClr val="dk1"/>
                </a:solidFill>
              </a:rPr>
              <a:t>A factor graph F defines the factorization of a global function:</a:t>
            </a:r>
            <a:endParaRPr sz="1200">
              <a:solidFill>
                <a:schemeClr val="dk1"/>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rPr lang="es" sz="1200">
                <a:solidFill>
                  <a:schemeClr val="dk1"/>
                </a:solidFill>
              </a:rPr>
              <a:t>For an arbitrary factor graph, MAP inference comes down to maximizing the product of all factor-graph potentials:</a:t>
            </a:r>
            <a:endParaRPr sz="1200">
              <a:solidFill>
                <a:schemeClr val="dk1"/>
              </a:solidFill>
            </a:endParaRPr>
          </a:p>
          <a:p>
            <a:pPr indent="0" lvl="0" marL="0" rtl="0" algn="l">
              <a:spcBef>
                <a:spcPts val="0"/>
              </a:spcBef>
              <a:spcAft>
                <a:spcPts val="0"/>
              </a:spcAft>
              <a:buNone/>
            </a:pPr>
            <a:r>
              <a:t/>
            </a:r>
            <a:endParaRPr b="1" i="1" sz="1200">
              <a:solidFill>
                <a:srgbClr val="193364"/>
              </a:solidFill>
            </a:endParaRPr>
          </a:p>
        </p:txBody>
      </p:sp>
      <p:sp>
        <p:nvSpPr>
          <p:cNvPr id="644" name="Google Shape;644;p37"/>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Factor Graphs for MAP Inference</a:t>
            </a:r>
            <a:endParaRPr b="1" sz="2400">
              <a:solidFill>
                <a:srgbClr val="193364"/>
              </a:solidFill>
            </a:endParaRPr>
          </a:p>
        </p:txBody>
      </p:sp>
      <p:sp>
        <p:nvSpPr>
          <p:cNvPr id="645" name="Google Shape;645;p37"/>
          <p:cNvSpPr txBox="1"/>
          <p:nvPr/>
        </p:nvSpPr>
        <p:spPr>
          <a:xfrm>
            <a:off x="3966775" y="4581049"/>
            <a:ext cx="42111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F. Dellaert, M. Kaess, and T. Barfoot, "Factor Graphs for SLAM," in </a:t>
            </a:r>
            <a:r>
              <a:rPr i="1" lang="es" sz="800">
                <a:solidFill>
                  <a:schemeClr val="lt1"/>
                </a:solidFill>
              </a:rPr>
              <a:t>SLAM Handbook: From Localization and Mapping to Spatial Intelligence</a:t>
            </a:r>
            <a:r>
              <a:rPr lang="es" sz="800">
                <a:solidFill>
                  <a:schemeClr val="lt1"/>
                </a:solidFill>
              </a:rPr>
              <a:t>, L. Carlone, A. Kim, T. Barfoot, D. Cremers, and F. Dellaert, Eds. Cambridge University Press, 2026.</a:t>
            </a:r>
            <a:endParaRPr sz="800">
              <a:solidFill>
                <a:schemeClr val="lt1"/>
              </a:solidFill>
            </a:endParaRPr>
          </a:p>
        </p:txBody>
      </p:sp>
      <p:pic>
        <p:nvPicPr>
          <p:cNvPr id="646" name="Google Shape;646;p37"/>
          <p:cNvPicPr preferRelativeResize="0"/>
          <p:nvPr/>
        </p:nvPicPr>
        <p:blipFill>
          <a:blip r:embed="rId3">
            <a:alphaModFix/>
          </a:blip>
          <a:stretch>
            <a:fillRect/>
          </a:stretch>
        </p:blipFill>
        <p:spPr>
          <a:xfrm>
            <a:off x="486350" y="1434324"/>
            <a:ext cx="1824225" cy="982250"/>
          </a:xfrm>
          <a:prstGeom prst="rect">
            <a:avLst/>
          </a:prstGeom>
          <a:noFill/>
          <a:ln>
            <a:noFill/>
          </a:ln>
        </p:spPr>
      </p:pic>
      <p:pic>
        <p:nvPicPr>
          <p:cNvPr id="647" name="Google Shape;647;p37"/>
          <p:cNvPicPr preferRelativeResize="0"/>
          <p:nvPr/>
        </p:nvPicPr>
        <p:blipFill>
          <a:blip r:embed="rId4">
            <a:alphaModFix/>
          </a:blip>
          <a:stretch>
            <a:fillRect/>
          </a:stretch>
        </p:blipFill>
        <p:spPr>
          <a:xfrm>
            <a:off x="1736150" y="2645020"/>
            <a:ext cx="1105800" cy="358180"/>
          </a:xfrm>
          <a:prstGeom prst="rect">
            <a:avLst/>
          </a:prstGeom>
          <a:noFill/>
          <a:ln>
            <a:noFill/>
          </a:ln>
        </p:spPr>
      </p:pic>
      <p:sp>
        <p:nvSpPr>
          <p:cNvPr id="648" name="Google Shape;648;p37"/>
          <p:cNvSpPr txBox="1"/>
          <p:nvPr/>
        </p:nvSpPr>
        <p:spPr>
          <a:xfrm>
            <a:off x="1968553" y="1330719"/>
            <a:ext cx="2694000" cy="50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000">
                <a:solidFill>
                  <a:schemeClr val="dk2"/>
                </a:solidFill>
              </a:rPr>
              <a:t>posterior density given </a:t>
            </a:r>
            <a:endParaRPr sz="1000">
              <a:solidFill>
                <a:schemeClr val="dk2"/>
              </a:solidFill>
            </a:endParaRPr>
          </a:p>
          <a:p>
            <a:pPr indent="0" lvl="0" marL="0" rtl="0" algn="l">
              <a:spcBef>
                <a:spcPts val="0"/>
              </a:spcBef>
              <a:spcAft>
                <a:spcPts val="0"/>
              </a:spcAft>
              <a:buNone/>
            </a:pPr>
            <a:r>
              <a:rPr lang="es" sz="1000">
                <a:solidFill>
                  <a:schemeClr val="dk2"/>
                </a:solidFill>
              </a:rPr>
              <a:t>the measurements</a:t>
            </a:r>
            <a:endParaRPr sz="1000">
              <a:solidFill>
                <a:schemeClr val="dk2"/>
              </a:solidFill>
            </a:endParaRPr>
          </a:p>
        </p:txBody>
      </p:sp>
      <p:sp>
        <p:nvSpPr>
          <p:cNvPr id="649" name="Google Shape;649;p37"/>
          <p:cNvSpPr txBox="1"/>
          <p:nvPr/>
        </p:nvSpPr>
        <p:spPr>
          <a:xfrm>
            <a:off x="2357774" y="1771744"/>
            <a:ext cx="1105800" cy="32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000">
                <a:solidFill>
                  <a:schemeClr val="dk2"/>
                </a:solidFill>
              </a:rPr>
              <a:t>Bayes’ Law</a:t>
            </a:r>
            <a:endParaRPr sz="1000">
              <a:solidFill>
                <a:schemeClr val="dk2"/>
              </a:solidFill>
            </a:endParaRPr>
          </a:p>
        </p:txBody>
      </p:sp>
      <p:pic>
        <p:nvPicPr>
          <p:cNvPr id="650" name="Google Shape;650;p37"/>
          <p:cNvPicPr preferRelativeResize="0"/>
          <p:nvPr/>
        </p:nvPicPr>
        <p:blipFill>
          <a:blip r:embed="rId5">
            <a:alphaModFix/>
          </a:blip>
          <a:stretch>
            <a:fillRect/>
          </a:stretch>
        </p:blipFill>
        <p:spPr>
          <a:xfrm>
            <a:off x="977503" y="3645435"/>
            <a:ext cx="1747846" cy="694350"/>
          </a:xfrm>
          <a:prstGeom prst="rect">
            <a:avLst/>
          </a:prstGeom>
          <a:noFill/>
          <a:ln>
            <a:noFill/>
          </a:ln>
        </p:spPr>
      </p:pic>
      <p:cxnSp>
        <p:nvCxnSpPr>
          <p:cNvPr id="651" name="Google Shape;651;p37"/>
          <p:cNvCxnSpPr/>
          <p:nvPr/>
        </p:nvCxnSpPr>
        <p:spPr>
          <a:xfrm flipH="1">
            <a:off x="3626452" y="1038350"/>
            <a:ext cx="14700" cy="3271200"/>
          </a:xfrm>
          <a:prstGeom prst="straightConnector1">
            <a:avLst/>
          </a:prstGeom>
          <a:noFill/>
          <a:ln cap="flat" cmpd="sng" w="28575">
            <a:solidFill>
              <a:srgbClr val="193364"/>
            </a:solidFill>
            <a:prstDash val="solid"/>
            <a:round/>
            <a:headEnd len="med" w="med" type="none"/>
            <a:tailEnd len="med" w="med" type="none"/>
          </a:ln>
        </p:spPr>
      </p:cxnSp>
      <p:grpSp>
        <p:nvGrpSpPr>
          <p:cNvPr id="652" name="Google Shape;652;p37"/>
          <p:cNvGrpSpPr/>
          <p:nvPr/>
        </p:nvGrpSpPr>
        <p:grpSpPr>
          <a:xfrm>
            <a:off x="1095318" y="4449088"/>
            <a:ext cx="712880" cy="694332"/>
            <a:chOff x="1095318" y="4449088"/>
            <a:chExt cx="712880" cy="694332"/>
          </a:xfrm>
        </p:grpSpPr>
        <p:sp>
          <p:nvSpPr>
            <p:cNvPr id="653" name="Google Shape;653;p37"/>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654" name="Google Shape;654;p37"/>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655" name="Google Shape;655;p37"/>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656" name="Google Shape;656;p37"/>
            <p:cNvPicPr preferRelativeResize="0"/>
            <p:nvPr/>
          </p:nvPicPr>
          <p:blipFill>
            <a:blip r:embed="rId6">
              <a:alphaModFix/>
            </a:blip>
            <a:stretch>
              <a:fillRect/>
            </a:stretch>
          </p:blipFill>
          <p:spPr>
            <a:xfrm flipH="1" rot="133010">
              <a:off x="1106374" y="4460147"/>
              <a:ext cx="583062" cy="583197"/>
            </a:xfrm>
            <a:prstGeom prst="rect">
              <a:avLst/>
            </a:prstGeom>
            <a:noFill/>
            <a:ln>
              <a:noFill/>
            </a:ln>
          </p:spPr>
        </p:pic>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38"/>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p:txBody>
      </p:sp>
      <p:sp>
        <p:nvSpPr>
          <p:cNvPr id="662" name="Google Shape;662;p38"/>
          <p:cNvSpPr txBox="1"/>
          <p:nvPr/>
        </p:nvSpPr>
        <p:spPr>
          <a:xfrm>
            <a:off x="360000" y="1085650"/>
            <a:ext cx="3073800" cy="323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i="1" lang="es" sz="1200">
                <a:solidFill>
                  <a:srgbClr val="193364"/>
                </a:solidFill>
              </a:rPr>
              <a:t>multivariate Gaussian density</a:t>
            </a:r>
            <a:endParaRPr b="1" i="1" sz="1200">
              <a:solidFill>
                <a:srgbClr val="193364"/>
              </a:solidFill>
            </a:endParaRPr>
          </a:p>
          <a:p>
            <a:pPr indent="0" lvl="0" marL="0" rtl="0" algn="l">
              <a:spcBef>
                <a:spcPts val="0"/>
              </a:spcBef>
              <a:spcAft>
                <a:spcPts val="0"/>
              </a:spcAft>
              <a:buClr>
                <a:schemeClr val="dk1"/>
              </a:buClr>
              <a:buSzPts val="1100"/>
              <a:buFont typeface="Arial"/>
              <a:buNone/>
            </a:pPr>
            <a:r>
              <a:t/>
            </a:r>
            <a:endParaRPr b="1" i="1" sz="1200">
              <a:solidFill>
                <a:srgbClr val="193364"/>
              </a:solidFill>
            </a:endParaRPr>
          </a:p>
          <a:p>
            <a:pPr indent="0" lvl="0" marL="0" rtl="0" algn="l">
              <a:spcBef>
                <a:spcPts val="0"/>
              </a:spcBef>
              <a:spcAft>
                <a:spcPts val="0"/>
              </a:spcAft>
              <a:buClr>
                <a:schemeClr val="dk1"/>
              </a:buClr>
              <a:buSzPts val="1100"/>
              <a:buFont typeface="Arial"/>
              <a:buNone/>
            </a:pPr>
            <a:r>
              <a:t/>
            </a:r>
            <a:endParaRPr b="1" i="1" sz="1200">
              <a:solidFill>
                <a:srgbClr val="193364"/>
              </a:solidFill>
            </a:endParaRPr>
          </a:p>
          <a:p>
            <a:pPr indent="0" lvl="0" marL="0" rtl="0" algn="l">
              <a:spcBef>
                <a:spcPts val="0"/>
              </a:spcBef>
              <a:spcAft>
                <a:spcPts val="0"/>
              </a:spcAft>
              <a:buClr>
                <a:schemeClr val="dk1"/>
              </a:buClr>
              <a:buSzPts val="1100"/>
              <a:buFont typeface="Arial"/>
              <a:buNone/>
            </a:pPr>
            <a:r>
              <a:t/>
            </a:r>
            <a:endParaRPr b="1" i="1" sz="1200">
              <a:solidFill>
                <a:srgbClr val="193364"/>
              </a:solidFill>
            </a:endParaRPr>
          </a:p>
          <a:p>
            <a:pPr indent="0" lvl="0" marL="0" rtl="0" algn="l">
              <a:spcBef>
                <a:spcPts val="0"/>
              </a:spcBef>
              <a:spcAft>
                <a:spcPts val="0"/>
              </a:spcAft>
              <a:buClr>
                <a:schemeClr val="dk1"/>
              </a:buClr>
              <a:buSzPts val="1100"/>
              <a:buFont typeface="Arial"/>
              <a:buNone/>
            </a:pPr>
            <a:r>
              <a:rPr b="1" i="1" lang="es" sz="1200">
                <a:solidFill>
                  <a:srgbClr val="193364"/>
                </a:solidFill>
              </a:rPr>
              <a:t>squared Mahalanobis distance</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Clr>
                <a:schemeClr val="dk1"/>
              </a:buClr>
              <a:buSzPts val="1100"/>
              <a:buFont typeface="Arial"/>
              <a:buNone/>
            </a:pPr>
            <a:r>
              <a:rPr b="1" i="1" lang="es" sz="1200">
                <a:solidFill>
                  <a:srgbClr val="193364"/>
                </a:solidFill>
              </a:rPr>
              <a:t>bearing measurement</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Clr>
                <a:schemeClr val="dk1"/>
              </a:buClr>
              <a:buSzPts val="1100"/>
              <a:buFont typeface="Arial"/>
              <a:buNone/>
            </a:pPr>
            <a:r>
              <a:rPr b="1" i="1" lang="es" sz="1200">
                <a:solidFill>
                  <a:srgbClr val="193364"/>
                </a:solidFill>
              </a:rPr>
              <a:t>motion model</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i="1" sz="1200">
              <a:solidFill>
                <a:schemeClr val="dk1"/>
              </a:solidFill>
            </a:endParaRPr>
          </a:p>
          <a:p>
            <a:pPr indent="0" lvl="0" marL="0" rtl="0" algn="l">
              <a:spcBef>
                <a:spcPts val="0"/>
              </a:spcBef>
              <a:spcAft>
                <a:spcPts val="0"/>
              </a:spcAft>
              <a:buNone/>
            </a:pPr>
            <a:r>
              <a:t/>
            </a:r>
            <a:endParaRPr b="1" i="1" sz="1200">
              <a:solidFill>
                <a:srgbClr val="193364"/>
              </a:solidFill>
            </a:endParaRPr>
          </a:p>
        </p:txBody>
      </p:sp>
      <p:sp>
        <p:nvSpPr>
          <p:cNvPr id="663" name="Google Shape;663;p38"/>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Factor Graphs for MAP Inference</a:t>
            </a:r>
            <a:endParaRPr b="1" sz="2400">
              <a:solidFill>
                <a:srgbClr val="193364"/>
              </a:solidFill>
            </a:endParaRPr>
          </a:p>
        </p:txBody>
      </p:sp>
      <p:sp>
        <p:nvSpPr>
          <p:cNvPr id="664" name="Google Shape;664;p38"/>
          <p:cNvSpPr txBox="1"/>
          <p:nvPr/>
        </p:nvSpPr>
        <p:spPr>
          <a:xfrm>
            <a:off x="3966775" y="4581049"/>
            <a:ext cx="42111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F. Dellaert, M. Kaess, and T. Barfoot, "Factor Graphs for SLAM," in </a:t>
            </a:r>
            <a:r>
              <a:rPr i="1" lang="es" sz="800">
                <a:solidFill>
                  <a:schemeClr val="lt1"/>
                </a:solidFill>
              </a:rPr>
              <a:t>SLAM Handbook: From Localization and Mapping to Spatial Intelligence</a:t>
            </a:r>
            <a:r>
              <a:rPr lang="es" sz="800">
                <a:solidFill>
                  <a:schemeClr val="lt1"/>
                </a:solidFill>
              </a:rPr>
              <a:t>, L. Carlone, A. Kim, T. Barfoot, D. Cremers, and F. Dellaert, Eds. Cambridge University Press, 2026.</a:t>
            </a:r>
            <a:endParaRPr sz="800">
              <a:solidFill>
                <a:schemeClr val="lt1"/>
              </a:solidFill>
            </a:endParaRPr>
          </a:p>
        </p:txBody>
      </p:sp>
      <p:sp>
        <p:nvSpPr>
          <p:cNvPr id="665" name="Google Shape;665;p38"/>
          <p:cNvSpPr txBox="1"/>
          <p:nvPr/>
        </p:nvSpPr>
        <p:spPr>
          <a:xfrm>
            <a:off x="3833800" y="1075250"/>
            <a:ext cx="4950300" cy="323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i="1" lang="es" sz="1200">
                <a:solidFill>
                  <a:srgbClr val="193364"/>
                </a:solidFill>
              </a:rPr>
              <a:t>conditional density of the measurement</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a:p>
            <a:pPr indent="0" lvl="0" marL="0" rtl="0" algn="l">
              <a:spcBef>
                <a:spcPts val="0"/>
              </a:spcBef>
              <a:spcAft>
                <a:spcPts val="0"/>
              </a:spcAft>
              <a:buNone/>
            </a:pPr>
            <a:r>
              <a:rPr b="1" i="1" lang="es" sz="1200">
                <a:solidFill>
                  <a:srgbClr val="193364"/>
                </a:solidFill>
              </a:rPr>
              <a:t>conditional density of the prior</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rPr b="1" i="1" lang="es" sz="1200">
                <a:solidFill>
                  <a:srgbClr val="193364"/>
                </a:solidFill>
              </a:rPr>
              <a:t>conditional density of the prior (wo control inputs)</a:t>
            </a:r>
            <a:endParaRPr b="1" i="1" sz="1200">
              <a:solidFill>
                <a:srgbClr val="193364"/>
              </a:solidFill>
            </a:endParaRPr>
          </a:p>
          <a:p>
            <a:pPr indent="0" lvl="0" marL="0" rtl="0" algn="l">
              <a:spcBef>
                <a:spcPts val="0"/>
              </a:spcBef>
              <a:spcAft>
                <a:spcPts val="0"/>
              </a:spcAft>
              <a:buClr>
                <a:schemeClr val="dk1"/>
              </a:buClr>
              <a:buSzPts val="1100"/>
              <a:buFont typeface="Arial"/>
              <a:buNone/>
            </a:pPr>
            <a:r>
              <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p:txBody>
      </p:sp>
      <p:cxnSp>
        <p:nvCxnSpPr>
          <p:cNvPr id="666" name="Google Shape;666;p38"/>
          <p:cNvCxnSpPr/>
          <p:nvPr/>
        </p:nvCxnSpPr>
        <p:spPr>
          <a:xfrm flipH="1">
            <a:off x="3626452" y="1038350"/>
            <a:ext cx="14700" cy="3271200"/>
          </a:xfrm>
          <a:prstGeom prst="straightConnector1">
            <a:avLst/>
          </a:prstGeom>
          <a:noFill/>
          <a:ln cap="flat" cmpd="sng" w="28575">
            <a:solidFill>
              <a:srgbClr val="193364"/>
            </a:solidFill>
            <a:prstDash val="solid"/>
            <a:round/>
            <a:headEnd len="med" w="med" type="none"/>
            <a:tailEnd len="med" w="med" type="none"/>
          </a:ln>
        </p:spPr>
      </p:cxnSp>
      <p:pic>
        <p:nvPicPr>
          <p:cNvPr id="667" name="Google Shape;667;p38"/>
          <p:cNvPicPr preferRelativeResize="0"/>
          <p:nvPr/>
        </p:nvPicPr>
        <p:blipFill>
          <a:blip r:embed="rId3">
            <a:alphaModFix/>
          </a:blip>
          <a:stretch>
            <a:fillRect/>
          </a:stretch>
        </p:blipFill>
        <p:spPr>
          <a:xfrm>
            <a:off x="442567" y="1389924"/>
            <a:ext cx="2803334" cy="504600"/>
          </a:xfrm>
          <a:prstGeom prst="rect">
            <a:avLst/>
          </a:prstGeom>
          <a:noFill/>
          <a:ln>
            <a:noFill/>
          </a:ln>
        </p:spPr>
      </p:pic>
      <p:pic>
        <p:nvPicPr>
          <p:cNvPr id="668" name="Google Shape;668;p38"/>
          <p:cNvPicPr preferRelativeResize="0"/>
          <p:nvPr/>
        </p:nvPicPr>
        <p:blipFill>
          <a:blip r:embed="rId4">
            <a:alphaModFix/>
          </a:blip>
          <a:stretch>
            <a:fillRect/>
          </a:stretch>
        </p:blipFill>
        <p:spPr>
          <a:xfrm>
            <a:off x="479575" y="2161791"/>
            <a:ext cx="2364301" cy="289900"/>
          </a:xfrm>
          <a:prstGeom prst="rect">
            <a:avLst/>
          </a:prstGeom>
          <a:noFill/>
          <a:ln>
            <a:noFill/>
          </a:ln>
        </p:spPr>
      </p:pic>
      <p:pic>
        <p:nvPicPr>
          <p:cNvPr id="669" name="Google Shape;669;p38"/>
          <p:cNvPicPr preferRelativeResize="0"/>
          <p:nvPr/>
        </p:nvPicPr>
        <p:blipFill>
          <a:blip r:embed="rId5">
            <a:alphaModFix/>
          </a:blip>
          <a:stretch>
            <a:fillRect/>
          </a:stretch>
        </p:blipFill>
        <p:spPr>
          <a:xfrm>
            <a:off x="3934237" y="1389925"/>
            <a:ext cx="4817224" cy="467288"/>
          </a:xfrm>
          <a:prstGeom prst="rect">
            <a:avLst/>
          </a:prstGeom>
          <a:noFill/>
          <a:ln>
            <a:noFill/>
          </a:ln>
        </p:spPr>
      </p:pic>
      <p:pic>
        <p:nvPicPr>
          <p:cNvPr id="670" name="Google Shape;670;p38"/>
          <p:cNvPicPr preferRelativeResize="0"/>
          <p:nvPr/>
        </p:nvPicPr>
        <p:blipFill>
          <a:blip r:embed="rId6">
            <a:alphaModFix/>
          </a:blip>
          <a:stretch>
            <a:fillRect/>
          </a:stretch>
        </p:blipFill>
        <p:spPr>
          <a:xfrm>
            <a:off x="3932875" y="2106696"/>
            <a:ext cx="4752150" cy="504600"/>
          </a:xfrm>
          <a:prstGeom prst="rect">
            <a:avLst/>
          </a:prstGeom>
          <a:noFill/>
          <a:ln>
            <a:noFill/>
          </a:ln>
        </p:spPr>
      </p:pic>
      <p:pic>
        <p:nvPicPr>
          <p:cNvPr id="671" name="Google Shape;671;p38"/>
          <p:cNvPicPr preferRelativeResize="0"/>
          <p:nvPr/>
        </p:nvPicPr>
        <p:blipFill>
          <a:blip r:embed="rId7">
            <a:alphaModFix/>
          </a:blip>
          <a:stretch>
            <a:fillRect/>
          </a:stretch>
        </p:blipFill>
        <p:spPr>
          <a:xfrm>
            <a:off x="3932875" y="2853363"/>
            <a:ext cx="4752150" cy="504600"/>
          </a:xfrm>
          <a:prstGeom prst="rect">
            <a:avLst/>
          </a:prstGeom>
          <a:noFill/>
          <a:ln>
            <a:noFill/>
          </a:ln>
        </p:spPr>
      </p:pic>
      <p:pic>
        <p:nvPicPr>
          <p:cNvPr id="672" name="Google Shape;672;p38"/>
          <p:cNvPicPr preferRelativeResize="0"/>
          <p:nvPr/>
        </p:nvPicPr>
        <p:blipFill>
          <a:blip r:embed="rId8">
            <a:alphaModFix/>
          </a:blip>
          <a:stretch>
            <a:fillRect/>
          </a:stretch>
        </p:blipFill>
        <p:spPr>
          <a:xfrm>
            <a:off x="442576" y="2707250"/>
            <a:ext cx="1180318" cy="289900"/>
          </a:xfrm>
          <a:prstGeom prst="rect">
            <a:avLst/>
          </a:prstGeom>
          <a:noFill/>
          <a:ln>
            <a:noFill/>
          </a:ln>
        </p:spPr>
      </p:pic>
      <p:pic>
        <p:nvPicPr>
          <p:cNvPr id="673" name="Google Shape;673;p38"/>
          <p:cNvPicPr preferRelativeResize="0"/>
          <p:nvPr/>
        </p:nvPicPr>
        <p:blipFill>
          <a:blip r:embed="rId9">
            <a:alphaModFix/>
          </a:blip>
          <a:stretch>
            <a:fillRect/>
          </a:stretch>
        </p:blipFill>
        <p:spPr>
          <a:xfrm>
            <a:off x="442578" y="3252693"/>
            <a:ext cx="343550" cy="238825"/>
          </a:xfrm>
          <a:prstGeom prst="rect">
            <a:avLst/>
          </a:prstGeom>
          <a:noFill/>
          <a:ln>
            <a:noFill/>
          </a:ln>
        </p:spPr>
      </p:pic>
      <p:grpSp>
        <p:nvGrpSpPr>
          <p:cNvPr id="674" name="Google Shape;674;p38"/>
          <p:cNvGrpSpPr/>
          <p:nvPr/>
        </p:nvGrpSpPr>
        <p:grpSpPr>
          <a:xfrm>
            <a:off x="1095318" y="4449088"/>
            <a:ext cx="712880" cy="694332"/>
            <a:chOff x="1095318" y="4449088"/>
            <a:chExt cx="712880" cy="694332"/>
          </a:xfrm>
        </p:grpSpPr>
        <p:sp>
          <p:nvSpPr>
            <p:cNvPr id="675" name="Google Shape;675;p38"/>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676" name="Google Shape;676;p38"/>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677" name="Google Shape;677;p38"/>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678" name="Google Shape;678;p38"/>
            <p:cNvPicPr preferRelativeResize="0"/>
            <p:nvPr/>
          </p:nvPicPr>
          <p:blipFill>
            <a:blip r:embed="rId10">
              <a:alphaModFix/>
            </a:blip>
            <a:stretch>
              <a:fillRect/>
            </a:stretch>
          </p:blipFill>
          <p:spPr>
            <a:xfrm flipH="1" rot="133010">
              <a:off x="1106374" y="4460147"/>
              <a:ext cx="583062" cy="583197"/>
            </a:xfrm>
            <a:prstGeom prst="rect">
              <a:avLst/>
            </a:prstGeom>
            <a:noFill/>
            <a:ln>
              <a:noFill/>
            </a:ln>
          </p:spPr>
        </p:pic>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39"/>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p:txBody>
      </p:sp>
      <p:sp>
        <p:nvSpPr>
          <p:cNvPr id="684" name="Google Shape;684;p39"/>
          <p:cNvSpPr txBox="1"/>
          <p:nvPr/>
        </p:nvSpPr>
        <p:spPr>
          <a:xfrm>
            <a:off x="360000" y="1085650"/>
            <a:ext cx="3207300" cy="323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s" sz="1200">
                <a:solidFill>
                  <a:srgbClr val="193364"/>
                </a:solidFill>
              </a:rPr>
              <a:t>maximum a posteriori (MAP) estimate</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rPr lang="es" sz="1200">
                <a:solidFill>
                  <a:schemeClr val="dk1"/>
                </a:solidFill>
              </a:rPr>
              <a:t>A factor graph F defines the factorization of a global function:</a:t>
            </a:r>
            <a:endParaRPr sz="1200">
              <a:solidFill>
                <a:schemeClr val="dk1"/>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rPr lang="es" sz="1200">
                <a:solidFill>
                  <a:schemeClr val="dk1"/>
                </a:solidFill>
              </a:rPr>
              <a:t>For an arbitrary factor graph, MAP inference comes down to maximizing the product of all factor-graph potentials:</a:t>
            </a:r>
            <a:endParaRPr sz="1200">
              <a:solidFill>
                <a:schemeClr val="dk1"/>
              </a:solidFill>
            </a:endParaRPr>
          </a:p>
          <a:p>
            <a:pPr indent="0" lvl="0" marL="0" rtl="0" algn="l">
              <a:spcBef>
                <a:spcPts val="0"/>
              </a:spcBef>
              <a:spcAft>
                <a:spcPts val="0"/>
              </a:spcAft>
              <a:buNone/>
            </a:pPr>
            <a:r>
              <a:t/>
            </a:r>
            <a:endParaRPr b="1" i="1" sz="1200">
              <a:solidFill>
                <a:srgbClr val="193364"/>
              </a:solidFill>
            </a:endParaRPr>
          </a:p>
        </p:txBody>
      </p:sp>
      <p:sp>
        <p:nvSpPr>
          <p:cNvPr id="685" name="Google Shape;685;p39"/>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Factor Graphs for MAP Inference</a:t>
            </a:r>
            <a:endParaRPr b="1" sz="2400">
              <a:solidFill>
                <a:srgbClr val="193364"/>
              </a:solidFill>
            </a:endParaRPr>
          </a:p>
        </p:txBody>
      </p:sp>
      <p:sp>
        <p:nvSpPr>
          <p:cNvPr id="686" name="Google Shape;686;p39"/>
          <p:cNvSpPr txBox="1"/>
          <p:nvPr/>
        </p:nvSpPr>
        <p:spPr>
          <a:xfrm>
            <a:off x="3966775" y="4581049"/>
            <a:ext cx="42111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F. Dellaert, M. Kaess, and T. Barfoot, "Factor Graphs for SLAM," in </a:t>
            </a:r>
            <a:r>
              <a:rPr i="1" lang="es" sz="800">
                <a:solidFill>
                  <a:schemeClr val="lt1"/>
                </a:solidFill>
              </a:rPr>
              <a:t>SLAM Handbook: From Localization and Mapping to Spatial Intelligence</a:t>
            </a:r>
            <a:r>
              <a:rPr lang="es" sz="800">
                <a:solidFill>
                  <a:schemeClr val="lt1"/>
                </a:solidFill>
              </a:rPr>
              <a:t>, L. Carlone, A. Kim, T. Barfoot, D. Cremers, and F. Dellaert, Eds. Cambridge University Press, 2026.</a:t>
            </a:r>
            <a:endParaRPr sz="800">
              <a:solidFill>
                <a:schemeClr val="lt1"/>
              </a:solidFill>
            </a:endParaRPr>
          </a:p>
        </p:txBody>
      </p:sp>
      <p:pic>
        <p:nvPicPr>
          <p:cNvPr id="687" name="Google Shape;687;p39"/>
          <p:cNvPicPr preferRelativeResize="0"/>
          <p:nvPr/>
        </p:nvPicPr>
        <p:blipFill>
          <a:blip r:embed="rId3">
            <a:alphaModFix/>
          </a:blip>
          <a:stretch>
            <a:fillRect/>
          </a:stretch>
        </p:blipFill>
        <p:spPr>
          <a:xfrm>
            <a:off x="486350" y="1434324"/>
            <a:ext cx="1824225" cy="982250"/>
          </a:xfrm>
          <a:prstGeom prst="rect">
            <a:avLst/>
          </a:prstGeom>
          <a:noFill/>
          <a:ln>
            <a:noFill/>
          </a:ln>
        </p:spPr>
      </p:pic>
      <p:pic>
        <p:nvPicPr>
          <p:cNvPr id="688" name="Google Shape;688;p39"/>
          <p:cNvPicPr preferRelativeResize="0"/>
          <p:nvPr/>
        </p:nvPicPr>
        <p:blipFill>
          <a:blip r:embed="rId4">
            <a:alphaModFix/>
          </a:blip>
          <a:stretch>
            <a:fillRect/>
          </a:stretch>
        </p:blipFill>
        <p:spPr>
          <a:xfrm>
            <a:off x="1736150" y="2645020"/>
            <a:ext cx="1105800" cy="358180"/>
          </a:xfrm>
          <a:prstGeom prst="rect">
            <a:avLst/>
          </a:prstGeom>
          <a:noFill/>
          <a:ln>
            <a:noFill/>
          </a:ln>
        </p:spPr>
      </p:pic>
      <p:sp>
        <p:nvSpPr>
          <p:cNvPr id="689" name="Google Shape;689;p39"/>
          <p:cNvSpPr txBox="1"/>
          <p:nvPr/>
        </p:nvSpPr>
        <p:spPr>
          <a:xfrm>
            <a:off x="1968553" y="1330719"/>
            <a:ext cx="2694000" cy="50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000">
                <a:solidFill>
                  <a:schemeClr val="dk2"/>
                </a:solidFill>
              </a:rPr>
              <a:t>posterior density given </a:t>
            </a:r>
            <a:endParaRPr sz="1000">
              <a:solidFill>
                <a:schemeClr val="dk2"/>
              </a:solidFill>
            </a:endParaRPr>
          </a:p>
          <a:p>
            <a:pPr indent="0" lvl="0" marL="0" rtl="0" algn="l">
              <a:spcBef>
                <a:spcPts val="0"/>
              </a:spcBef>
              <a:spcAft>
                <a:spcPts val="0"/>
              </a:spcAft>
              <a:buNone/>
            </a:pPr>
            <a:r>
              <a:rPr lang="es" sz="1000">
                <a:solidFill>
                  <a:schemeClr val="dk2"/>
                </a:solidFill>
              </a:rPr>
              <a:t>the measurements</a:t>
            </a:r>
            <a:endParaRPr sz="1000">
              <a:solidFill>
                <a:schemeClr val="dk2"/>
              </a:solidFill>
            </a:endParaRPr>
          </a:p>
        </p:txBody>
      </p:sp>
      <p:sp>
        <p:nvSpPr>
          <p:cNvPr id="690" name="Google Shape;690;p39"/>
          <p:cNvSpPr txBox="1"/>
          <p:nvPr/>
        </p:nvSpPr>
        <p:spPr>
          <a:xfrm>
            <a:off x="2357774" y="1771744"/>
            <a:ext cx="1105800" cy="32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000">
                <a:solidFill>
                  <a:schemeClr val="dk2"/>
                </a:solidFill>
              </a:rPr>
              <a:t>Bayes’ Law</a:t>
            </a:r>
            <a:endParaRPr sz="1000">
              <a:solidFill>
                <a:schemeClr val="dk2"/>
              </a:solidFill>
            </a:endParaRPr>
          </a:p>
        </p:txBody>
      </p:sp>
      <p:pic>
        <p:nvPicPr>
          <p:cNvPr id="691" name="Google Shape;691;p39"/>
          <p:cNvPicPr preferRelativeResize="0"/>
          <p:nvPr/>
        </p:nvPicPr>
        <p:blipFill>
          <a:blip r:embed="rId5">
            <a:alphaModFix/>
          </a:blip>
          <a:stretch>
            <a:fillRect/>
          </a:stretch>
        </p:blipFill>
        <p:spPr>
          <a:xfrm>
            <a:off x="977503" y="3645435"/>
            <a:ext cx="1747846" cy="694350"/>
          </a:xfrm>
          <a:prstGeom prst="rect">
            <a:avLst/>
          </a:prstGeom>
          <a:noFill/>
          <a:ln>
            <a:noFill/>
          </a:ln>
        </p:spPr>
      </p:pic>
      <p:sp>
        <p:nvSpPr>
          <p:cNvPr id="692" name="Google Shape;692;p39"/>
          <p:cNvSpPr txBox="1"/>
          <p:nvPr/>
        </p:nvSpPr>
        <p:spPr>
          <a:xfrm>
            <a:off x="3833800" y="1075250"/>
            <a:ext cx="4950300" cy="323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s" sz="1200">
                <a:solidFill>
                  <a:srgbClr val="193364"/>
                </a:solidFill>
              </a:rPr>
              <a:t>conditional density of the measurement</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a:p>
            <a:pPr indent="0" lvl="0" marL="0" rtl="0" algn="l">
              <a:spcBef>
                <a:spcPts val="0"/>
              </a:spcBef>
              <a:spcAft>
                <a:spcPts val="0"/>
              </a:spcAft>
              <a:buNone/>
            </a:pPr>
            <a:r>
              <a:rPr b="1" i="1" lang="es" sz="1200">
                <a:solidFill>
                  <a:srgbClr val="193364"/>
                </a:solidFill>
              </a:rPr>
              <a:t>Let us assume that all factors are proportional to a multivariate Gaussian, i.e.,</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Clr>
                <a:schemeClr val="dk1"/>
              </a:buClr>
              <a:buSzPts val="1100"/>
              <a:buFont typeface="Arial"/>
              <a:buNone/>
            </a:pPr>
            <a:r>
              <a:rPr b="1" i="1" lang="es" sz="1200">
                <a:solidFill>
                  <a:srgbClr val="193364"/>
                </a:solidFill>
              </a:rPr>
              <a:t>T</a:t>
            </a:r>
            <a:r>
              <a:rPr b="1" i="1" lang="es" sz="1200">
                <a:solidFill>
                  <a:srgbClr val="193364"/>
                </a:solidFill>
              </a:rPr>
              <a:t>aking the negative log and dropping the factor 1/2 allows us</a:t>
            </a:r>
            <a:endParaRPr b="1" i="1" sz="1200">
              <a:solidFill>
                <a:srgbClr val="193364"/>
              </a:solidFill>
            </a:endParaRPr>
          </a:p>
          <a:p>
            <a:pPr indent="0" lvl="0" marL="0" rtl="0" algn="l">
              <a:spcBef>
                <a:spcPts val="0"/>
              </a:spcBef>
              <a:spcAft>
                <a:spcPts val="0"/>
              </a:spcAft>
              <a:buNone/>
            </a:pPr>
            <a:r>
              <a:rPr b="1" i="1" lang="es" sz="1200">
                <a:solidFill>
                  <a:srgbClr val="193364"/>
                </a:solidFill>
              </a:rPr>
              <a:t>to instead minimize a sum of nonlinear least squares terms: </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p:txBody>
      </p:sp>
      <p:cxnSp>
        <p:nvCxnSpPr>
          <p:cNvPr id="693" name="Google Shape;693;p39"/>
          <p:cNvCxnSpPr/>
          <p:nvPr/>
        </p:nvCxnSpPr>
        <p:spPr>
          <a:xfrm flipH="1">
            <a:off x="3626452" y="1038350"/>
            <a:ext cx="14700" cy="3271200"/>
          </a:xfrm>
          <a:prstGeom prst="straightConnector1">
            <a:avLst/>
          </a:prstGeom>
          <a:noFill/>
          <a:ln cap="flat" cmpd="sng" w="28575">
            <a:solidFill>
              <a:srgbClr val="193364"/>
            </a:solidFill>
            <a:prstDash val="solid"/>
            <a:round/>
            <a:headEnd len="med" w="med" type="none"/>
            <a:tailEnd len="med" w="med" type="none"/>
          </a:ln>
        </p:spPr>
      </p:cxnSp>
      <p:pic>
        <p:nvPicPr>
          <p:cNvPr id="694" name="Google Shape;694;p39"/>
          <p:cNvPicPr preferRelativeResize="0"/>
          <p:nvPr/>
        </p:nvPicPr>
        <p:blipFill>
          <a:blip r:embed="rId6">
            <a:alphaModFix/>
          </a:blip>
          <a:stretch>
            <a:fillRect/>
          </a:stretch>
        </p:blipFill>
        <p:spPr>
          <a:xfrm>
            <a:off x="3934237" y="1389925"/>
            <a:ext cx="4817224" cy="467288"/>
          </a:xfrm>
          <a:prstGeom prst="rect">
            <a:avLst/>
          </a:prstGeom>
          <a:noFill/>
          <a:ln>
            <a:noFill/>
          </a:ln>
        </p:spPr>
      </p:pic>
      <p:pic>
        <p:nvPicPr>
          <p:cNvPr id="695" name="Google Shape;695;p39"/>
          <p:cNvPicPr preferRelativeResize="0"/>
          <p:nvPr/>
        </p:nvPicPr>
        <p:blipFill>
          <a:blip r:embed="rId7">
            <a:alphaModFix/>
          </a:blip>
          <a:stretch>
            <a:fillRect/>
          </a:stretch>
        </p:blipFill>
        <p:spPr>
          <a:xfrm>
            <a:off x="5080525" y="3315991"/>
            <a:ext cx="2620075" cy="467300"/>
          </a:xfrm>
          <a:prstGeom prst="rect">
            <a:avLst/>
          </a:prstGeom>
          <a:noFill/>
          <a:ln>
            <a:noFill/>
          </a:ln>
        </p:spPr>
      </p:pic>
      <p:pic>
        <p:nvPicPr>
          <p:cNvPr id="696" name="Google Shape;696;p39"/>
          <p:cNvPicPr preferRelativeResize="0"/>
          <p:nvPr/>
        </p:nvPicPr>
        <p:blipFill>
          <a:blip r:embed="rId8">
            <a:alphaModFix/>
          </a:blip>
          <a:stretch>
            <a:fillRect/>
          </a:stretch>
        </p:blipFill>
        <p:spPr>
          <a:xfrm>
            <a:off x="5080525" y="2298177"/>
            <a:ext cx="2325650" cy="414800"/>
          </a:xfrm>
          <a:prstGeom prst="rect">
            <a:avLst/>
          </a:prstGeom>
          <a:noFill/>
          <a:ln>
            <a:noFill/>
          </a:ln>
        </p:spPr>
      </p:pic>
      <p:grpSp>
        <p:nvGrpSpPr>
          <p:cNvPr id="697" name="Google Shape;697;p39"/>
          <p:cNvGrpSpPr/>
          <p:nvPr/>
        </p:nvGrpSpPr>
        <p:grpSpPr>
          <a:xfrm>
            <a:off x="1095318" y="4449088"/>
            <a:ext cx="712880" cy="694332"/>
            <a:chOff x="1095318" y="4449088"/>
            <a:chExt cx="712880" cy="694332"/>
          </a:xfrm>
        </p:grpSpPr>
        <p:sp>
          <p:nvSpPr>
            <p:cNvPr id="698" name="Google Shape;698;p39"/>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699" name="Google Shape;699;p39"/>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700" name="Google Shape;700;p39"/>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701" name="Google Shape;701;p39"/>
            <p:cNvPicPr preferRelativeResize="0"/>
            <p:nvPr/>
          </p:nvPicPr>
          <p:blipFill>
            <a:blip r:embed="rId9">
              <a:alphaModFix/>
            </a:blip>
            <a:stretch>
              <a:fillRect/>
            </a:stretch>
          </p:blipFill>
          <p:spPr>
            <a:xfrm flipH="1" rot="133010">
              <a:off x="1106374" y="4460147"/>
              <a:ext cx="583062" cy="583197"/>
            </a:xfrm>
            <a:prstGeom prst="rect">
              <a:avLst/>
            </a:prstGeom>
            <a:noFill/>
            <a:ln>
              <a:noFill/>
            </a:ln>
          </p:spPr>
        </p:pic>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40"/>
          <p:cNvSpPr txBox="1"/>
          <p:nvPr/>
        </p:nvSpPr>
        <p:spPr>
          <a:xfrm>
            <a:off x="360000" y="1080000"/>
            <a:ext cx="3479100" cy="324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1" lang="es" sz="1200">
                <a:solidFill>
                  <a:srgbClr val="193364"/>
                </a:solidFill>
              </a:rPr>
              <a:t>nonlinear least squares</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a:p>
            <a:pPr indent="0" lvl="0" marL="0" rtl="0" algn="l">
              <a:spcBef>
                <a:spcPts val="0"/>
              </a:spcBef>
              <a:spcAft>
                <a:spcPts val="0"/>
              </a:spcAft>
              <a:buNone/>
            </a:pPr>
            <a:r>
              <a:rPr b="1" lang="es" sz="1200">
                <a:solidFill>
                  <a:srgbClr val="193364"/>
                </a:solidFill>
              </a:rPr>
              <a:t>Taylor expansion</a:t>
            </a:r>
            <a:endParaRPr b="1" sz="1200">
              <a:solidFill>
                <a:srgbClr val="193364"/>
              </a:solidFill>
            </a:endParaRPr>
          </a:p>
          <a:p>
            <a:pPr indent="0" lvl="0" marL="0" rtl="0" algn="l">
              <a:spcBef>
                <a:spcPts val="0"/>
              </a:spcBef>
              <a:spcAft>
                <a:spcPts val="0"/>
              </a:spcAft>
              <a:buNone/>
            </a:pPr>
            <a:r>
              <a:rPr b="1" lang="es" sz="1200">
                <a:solidFill>
                  <a:srgbClr val="193364"/>
                </a:solidFill>
              </a:rPr>
              <a:t>                                                                          </a:t>
            </a:r>
            <a:endParaRPr b="1" sz="1200">
              <a:solidFill>
                <a:srgbClr val="193364"/>
              </a:solidFill>
            </a:endParaRPr>
          </a:p>
          <a:p>
            <a:pPr indent="0" lvl="0" marL="0" rtl="0" algn="l">
              <a:spcBef>
                <a:spcPts val="0"/>
              </a:spcBef>
              <a:spcAft>
                <a:spcPts val="0"/>
              </a:spcAft>
              <a:buNone/>
            </a:pPr>
            <a:r>
              <a:t/>
            </a:r>
            <a:endParaRPr b="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rPr b="1" i="1" lang="es" sz="1200">
                <a:solidFill>
                  <a:srgbClr val="193364"/>
                </a:solidFill>
              </a:rPr>
              <a:t>linear least squares</a:t>
            </a:r>
            <a:endParaRPr b="1" i="1" sz="1200">
              <a:solidFill>
                <a:srgbClr val="193364"/>
              </a:solidFill>
            </a:endParaRPr>
          </a:p>
          <a:p>
            <a:pPr indent="0" lvl="0" marL="0" rtl="0" algn="l">
              <a:spcBef>
                <a:spcPts val="0"/>
              </a:spcBef>
              <a:spcAft>
                <a:spcPts val="0"/>
              </a:spcAft>
              <a:buClr>
                <a:schemeClr val="dk1"/>
              </a:buClr>
              <a:buSzPts val="1100"/>
              <a:buFont typeface="Arial"/>
              <a:buNone/>
            </a:pPr>
            <a:r>
              <a:t/>
            </a:r>
            <a:endParaRPr b="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p:txBody>
      </p:sp>
      <p:sp>
        <p:nvSpPr>
          <p:cNvPr id="707" name="Google Shape;707;p40"/>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Solving Linear Least Squares</a:t>
            </a:r>
            <a:endParaRPr b="1" sz="2400">
              <a:solidFill>
                <a:srgbClr val="193364"/>
              </a:solidFill>
            </a:endParaRPr>
          </a:p>
        </p:txBody>
      </p:sp>
      <p:grpSp>
        <p:nvGrpSpPr>
          <p:cNvPr id="708" name="Google Shape;708;p40"/>
          <p:cNvGrpSpPr/>
          <p:nvPr/>
        </p:nvGrpSpPr>
        <p:grpSpPr>
          <a:xfrm>
            <a:off x="1095318" y="4449088"/>
            <a:ext cx="712880" cy="694332"/>
            <a:chOff x="1095318" y="4449088"/>
            <a:chExt cx="712880" cy="694332"/>
          </a:xfrm>
        </p:grpSpPr>
        <p:sp>
          <p:nvSpPr>
            <p:cNvPr id="709" name="Google Shape;709;p40"/>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710" name="Google Shape;710;p40"/>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711" name="Google Shape;711;p40"/>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712" name="Google Shape;712;p40"/>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sp>
        <p:nvSpPr>
          <p:cNvPr id="713" name="Google Shape;713;p40"/>
          <p:cNvSpPr txBox="1"/>
          <p:nvPr/>
        </p:nvSpPr>
        <p:spPr>
          <a:xfrm>
            <a:off x="3966775" y="4581049"/>
            <a:ext cx="42111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F. Dellaert, M. Kaess, and T. Barfoot, "Factor Graphs for SLAM," in </a:t>
            </a:r>
            <a:r>
              <a:rPr i="1" lang="es" sz="800">
                <a:solidFill>
                  <a:schemeClr val="lt1"/>
                </a:solidFill>
              </a:rPr>
              <a:t>SLAM Handbook: From Localization and Mapping to Spatial Intelligence</a:t>
            </a:r>
            <a:r>
              <a:rPr lang="es" sz="800">
                <a:solidFill>
                  <a:schemeClr val="lt1"/>
                </a:solidFill>
              </a:rPr>
              <a:t>, L. Carlone, A. Kim, T. Barfoot, D. Cremers, and F. Dellaert, Eds. Cambridge University Press, 2026.</a:t>
            </a:r>
            <a:endParaRPr sz="800">
              <a:solidFill>
                <a:schemeClr val="lt1"/>
              </a:solidFill>
            </a:endParaRPr>
          </a:p>
        </p:txBody>
      </p:sp>
      <p:pic>
        <p:nvPicPr>
          <p:cNvPr id="714" name="Google Shape;714;p40"/>
          <p:cNvPicPr preferRelativeResize="0"/>
          <p:nvPr/>
        </p:nvPicPr>
        <p:blipFill>
          <a:blip r:embed="rId4">
            <a:alphaModFix/>
          </a:blip>
          <a:stretch>
            <a:fillRect/>
          </a:stretch>
        </p:blipFill>
        <p:spPr>
          <a:xfrm>
            <a:off x="450700" y="1349170"/>
            <a:ext cx="2620075" cy="467300"/>
          </a:xfrm>
          <a:prstGeom prst="rect">
            <a:avLst/>
          </a:prstGeom>
          <a:noFill/>
          <a:ln>
            <a:noFill/>
          </a:ln>
        </p:spPr>
      </p:pic>
      <p:pic>
        <p:nvPicPr>
          <p:cNvPr id="715" name="Google Shape;715;p40"/>
          <p:cNvPicPr preferRelativeResize="0"/>
          <p:nvPr/>
        </p:nvPicPr>
        <p:blipFill>
          <a:blip r:embed="rId5">
            <a:alphaModFix/>
          </a:blip>
          <a:stretch>
            <a:fillRect/>
          </a:stretch>
        </p:blipFill>
        <p:spPr>
          <a:xfrm>
            <a:off x="430423" y="2163497"/>
            <a:ext cx="2921975" cy="259550"/>
          </a:xfrm>
          <a:prstGeom prst="rect">
            <a:avLst/>
          </a:prstGeom>
          <a:noFill/>
          <a:ln>
            <a:noFill/>
          </a:ln>
        </p:spPr>
      </p:pic>
      <p:pic>
        <p:nvPicPr>
          <p:cNvPr id="716" name="Google Shape;716;p40"/>
          <p:cNvPicPr preferRelativeResize="0"/>
          <p:nvPr/>
        </p:nvPicPr>
        <p:blipFill>
          <a:blip r:embed="rId6">
            <a:alphaModFix/>
          </a:blip>
          <a:stretch>
            <a:fillRect/>
          </a:stretch>
        </p:blipFill>
        <p:spPr>
          <a:xfrm>
            <a:off x="450701" y="2724054"/>
            <a:ext cx="1107674" cy="467300"/>
          </a:xfrm>
          <a:prstGeom prst="rect">
            <a:avLst/>
          </a:prstGeom>
          <a:noFill/>
          <a:ln>
            <a:noFill/>
          </a:ln>
        </p:spPr>
      </p:pic>
      <p:pic>
        <p:nvPicPr>
          <p:cNvPr id="717" name="Google Shape;717;p40"/>
          <p:cNvPicPr preferRelativeResize="0"/>
          <p:nvPr/>
        </p:nvPicPr>
        <p:blipFill>
          <a:blip r:embed="rId7">
            <a:alphaModFix/>
          </a:blip>
          <a:stretch>
            <a:fillRect/>
          </a:stretch>
        </p:blipFill>
        <p:spPr>
          <a:xfrm>
            <a:off x="450692" y="3629322"/>
            <a:ext cx="2620075" cy="696010"/>
          </a:xfrm>
          <a:prstGeom prst="rect">
            <a:avLst/>
          </a:prstGeom>
          <a:noFill/>
          <a:ln>
            <a:noFill/>
          </a:ln>
        </p:spPr>
      </p:pic>
      <p:sp>
        <p:nvSpPr>
          <p:cNvPr id="718" name="Google Shape;718;p40"/>
          <p:cNvSpPr txBox="1"/>
          <p:nvPr/>
        </p:nvSpPr>
        <p:spPr>
          <a:xfrm>
            <a:off x="4176975" y="1076950"/>
            <a:ext cx="4129500" cy="324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i="1" lang="es" sz="1200">
                <a:solidFill>
                  <a:srgbClr val="193364"/>
                </a:solidFill>
              </a:rPr>
              <a:t>rewrite the square Mahalanobis norm</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a:p>
            <a:pPr indent="0" lvl="0" marL="0" rtl="0" algn="l">
              <a:spcBef>
                <a:spcPts val="0"/>
              </a:spcBef>
              <a:spcAft>
                <a:spcPts val="0"/>
              </a:spcAft>
              <a:buNone/>
            </a:pPr>
            <a:r>
              <a:rPr b="1" lang="es" sz="1200">
                <a:solidFill>
                  <a:srgbClr val="193364"/>
                </a:solidFill>
              </a:rPr>
              <a:t>whitening</a:t>
            </a:r>
            <a:endParaRPr b="1" sz="1200">
              <a:solidFill>
                <a:srgbClr val="193364"/>
              </a:solidFill>
            </a:endParaRPr>
          </a:p>
          <a:p>
            <a:pPr indent="0" lvl="0" marL="0" rtl="0" algn="l">
              <a:spcBef>
                <a:spcPts val="0"/>
              </a:spcBef>
              <a:spcAft>
                <a:spcPts val="0"/>
              </a:spcAft>
              <a:buNone/>
            </a:pPr>
            <a:r>
              <a:rPr b="1" lang="es" sz="1200">
                <a:solidFill>
                  <a:srgbClr val="193364"/>
                </a:solidFill>
              </a:rPr>
              <a:t>                                                                          </a:t>
            </a:r>
            <a:endParaRPr b="1" sz="1200">
              <a:solidFill>
                <a:srgbClr val="193364"/>
              </a:solidFill>
            </a:endParaRPr>
          </a:p>
          <a:p>
            <a:pPr indent="0" lvl="0" marL="0" rtl="0" algn="l">
              <a:spcBef>
                <a:spcPts val="0"/>
              </a:spcBef>
              <a:spcAft>
                <a:spcPts val="0"/>
              </a:spcAft>
              <a:buNone/>
            </a:pPr>
            <a:r>
              <a:t/>
            </a:r>
            <a:endParaRPr b="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t/>
            </a:r>
            <a:endParaRPr b="1" i="1" sz="1200">
              <a:solidFill>
                <a:srgbClr val="193364"/>
              </a:solidFill>
            </a:endParaRPr>
          </a:p>
          <a:p>
            <a:pPr indent="0" lvl="0" marL="0" rtl="0" algn="l">
              <a:spcBef>
                <a:spcPts val="0"/>
              </a:spcBef>
              <a:spcAft>
                <a:spcPts val="0"/>
              </a:spcAft>
              <a:buNone/>
            </a:pPr>
            <a:r>
              <a:rPr b="1" i="1" lang="es" sz="1200">
                <a:solidFill>
                  <a:srgbClr val="193364"/>
                </a:solidFill>
              </a:rPr>
              <a:t>linear least squares</a:t>
            </a:r>
            <a:endParaRPr b="1" i="1" sz="1200">
              <a:solidFill>
                <a:srgbClr val="193364"/>
              </a:solidFill>
            </a:endParaRPr>
          </a:p>
          <a:p>
            <a:pPr indent="0" lvl="0" marL="0" rtl="0" algn="l">
              <a:spcBef>
                <a:spcPts val="0"/>
              </a:spcBef>
              <a:spcAft>
                <a:spcPts val="0"/>
              </a:spcAft>
              <a:buNone/>
            </a:pPr>
            <a:r>
              <a:t/>
            </a:r>
            <a:endParaRPr b="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a:p>
            <a:pPr indent="0" lvl="0" marL="0" marR="0" rtl="0" algn="l">
              <a:lnSpc>
                <a:spcPct val="100000"/>
              </a:lnSpc>
              <a:spcBef>
                <a:spcPts val="0"/>
              </a:spcBef>
              <a:spcAft>
                <a:spcPts val="0"/>
              </a:spcAft>
              <a:buNone/>
            </a:pPr>
            <a:r>
              <a:rPr b="1" i="1" lang="es" sz="1200">
                <a:solidFill>
                  <a:srgbClr val="193364"/>
                </a:solidFill>
              </a:rPr>
              <a:t>normal equations</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a:p>
            <a:pPr indent="0" lvl="0" marL="0" marR="0" rtl="0" algn="l">
              <a:lnSpc>
                <a:spcPct val="100000"/>
              </a:lnSpc>
              <a:spcBef>
                <a:spcPts val="0"/>
              </a:spcBef>
              <a:spcAft>
                <a:spcPts val="0"/>
              </a:spcAft>
              <a:buNone/>
            </a:pPr>
            <a:r>
              <a:t/>
            </a:r>
            <a:endParaRPr b="1" i="1" sz="1200">
              <a:solidFill>
                <a:srgbClr val="193364"/>
              </a:solidFill>
            </a:endParaRPr>
          </a:p>
        </p:txBody>
      </p:sp>
      <p:pic>
        <p:nvPicPr>
          <p:cNvPr id="719" name="Google Shape;719;p40"/>
          <p:cNvPicPr preferRelativeResize="0"/>
          <p:nvPr/>
        </p:nvPicPr>
        <p:blipFill>
          <a:blip r:embed="rId8">
            <a:alphaModFix/>
          </a:blip>
          <a:stretch>
            <a:fillRect/>
          </a:stretch>
        </p:blipFill>
        <p:spPr>
          <a:xfrm>
            <a:off x="4251325" y="1409152"/>
            <a:ext cx="3942103" cy="399600"/>
          </a:xfrm>
          <a:prstGeom prst="rect">
            <a:avLst/>
          </a:prstGeom>
          <a:noFill/>
          <a:ln>
            <a:noFill/>
          </a:ln>
        </p:spPr>
      </p:pic>
      <p:cxnSp>
        <p:nvCxnSpPr>
          <p:cNvPr id="720" name="Google Shape;720;p40"/>
          <p:cNvCxnSpPr/>
          <p:nvPr/>
        </p:nvCxnSpPr>
        <p:spPr>
          <a:xfrm flipH="1">
            <a:off x="3778225" y="1142238"/>
            <a:ext cx="13500" cy="3149700"/>
          </a:xfrm>
          <a:prstGeom prst="straightConnector1">
            <a:avLst/>
          </a:prstGeom>
          <a:noFill/>
          <a:ln cap="flat" cmpd="sng" w="19050">
            <a:solidFill>
              <a:srgbClr val="193364"/>
            </a:solidFill>
            <a:prstDash val="solid"/>
            <a:round/>
            <a:headEnd len="med" w="med" type="none"/>
            <a:tailEnd len="med" w="med" type="none"/>
          </a:ln>
        </p:spPr>
      </p:cxnSp>
      <p:pic>
        <p:nvPicPr>
          <p:cNvPr id="721" name="Google Shape;721;p40"/>
          <p:cNvPicPr preferRelativeResize="0"/>
          <p:nvPr/>
        </p:nvPicPr>
        <p:blipFill>
          <a:blip r:embed="rId9">
            <a:alphaModFix/>
          </a:blip>
          <a:stretch>
            <a:fillRect/>
          </a:stretch>
        </p:blipFill>
        <p:spPr>
          <a:xfrm>
            <a:off x="4251325" y="2163500"/>
            <a:ext cx="1897839" cy="560550"/>
          </a:xfrm>
          <a:prstGeom prst="rect">
            <a:avLst/>
          </a:prstGeom>
          <a:noFill/>
          <a:ln>
            <a:noFill/>
          </a:ln>
        </p:spPr>
      </p:pic>
      <p:pic>
        <p:nvPicPr>
          <p:cNvPr id="722" name="Google Shape;722;p40"/>
          <p:cNvPicPr preferRelativeResize="0"/>
          <p:nvPr/>
        </p:nvPicPr>
        <p:blipFill>
          <a:blip r:embed="rId10">
            <a:alphaModFix/>
          </a:blip>
          <a:stretch>
            <a:fillRect/>
          </a:stretch>
        </p:blipFill>
        <p:spPr>
          <a:xfrm>
            <a:off x="4253775" y="3016374"/>
            <a:ext cx="1892948" cy="694325"/>
          </a:xfrm>
          <a:prstGeom prst="rect">
            <a:avLst/>
          </a:prstGeom>
          <a:noFill/>
          <a:ln>
            <a:noFill/>
          </a:ln>
        </p:spPr>
      </p:pic>
      <p:pic>
        <p:nvPicPr>
          <p:cNvPr id="723" name="Google Shape;723;p40"/>
          <p:cNvPicPr preferRelativeResize="0"/>
          <p:nvPr/>
        </p:nvPicPr>
        <p:blipFill>
          <a:blip r:embed="rId11">
            <a:alphaModFix/>
          </a:blip>
          <a:stretch>
            <a:fillRect/>
          </a:stretch>
        </p:blipFill>
        <p:spPr>
          <a:xfrm>
            <a:off x="4619300" y="3941753"/>
            <a:ext cx="1345074" cy="2595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41"/>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None/>
            </a:pPr>
            <a:r>
              <a:t/>
            </a:r>
            <a:endParaRPr b="1" sz="1800">
              <a:solidFill>
                <a:srgbClr val="193364"/>
              </a:solidFill>
            </a:endParaRPr>
          </a:p>
          <a:p>
            <a:pPr indent="0" lvl="0" marL="0" rtl="0" algn="l">
              <a:spcBef>
                <a:spcPts val="0"/>
              </a:spcBef>
              <a:spcAft>
                <a:spcPts val="0"/>
              </a:spcAft>
              <a:buNone/>
            </a:pPr>
            <a:r>
              <a:t/>
            </a:r>
            <a:endParaRPr sz="1800">
              <a:solidFill>
                <a:schemeClr val="dk2"/>
              </a:solidFill>
            </a:endParaRPr>
          </a:p>
        </p:txBody>
      </p:sp>
      <p:sp>
        <p:nvSpPr>
          <p:cNvPr id="729" name="Google Shape;729;p41"/>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Factor Graphs and Sparsity</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pic>
        <p:nvPicPr>
          <p:cNvPr id="730" name="Google Shape;730;p41"/>
          <p:cNvPicPr preferRelativeResize="0"/>
          <p:nvPr/>
        </p:nvPicPr>
        <p:blipFill>
          <a:blip r:embed="rId3">
            <a:alphaModFix/>
          </a:blip>
          <a:stretch>
            <a:fillRect/>
          </a:stretch>
        </p:blipFill>
        <p:spPr>
          <a:xfrm>
            <a:off x="4361625" y="1080000"/>
            <a:ext cx="4414750" cy="3148351"/>
          </a:xfrm>
          <a:prstGeom prst="rect">
            <a:avLst/>
          </a:prstGeom>
          <a:noFill/>
          <a:ln>
            <a:noFill/>
          </a:ln>
        </p:spPr>
      </p:pic>
      <p:sp>
        <p:nvSpPr>
          <p:cNvPr id="731" name="Google Shape;731;p41"/>
          <p:cNvSpPr txBox="1"/>
          <p:nvPr/>
        </p:nvSpPr>
        <p:spPr>
          <a:xfrm>
            <a:off x="2603619" y="4779082"/>
            <a:ext cx="2834700" cy="2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Bearing measurements</a:t>
            </a:r>
            <a:endParaRPr b="1" sz="1200">
              <a:solidFill>
                <a:srgbClr val="193364"/>
              </a:solidFill>
            </a:endParaRPr>
          </a:p>
        </p:txBody>
      </p:sp>
      <p:sp>
        <p:nvSpPr>
          <p:cNvPr id="732" name="Google Shape;732;p41"/>
          <p:cNvSpPr txBox="1"/>
          <p:nvPr/>
        </p:nvSpPr>
        <p:spPr>
          <a:xfrm>
            <a:off x="360000" y="1085875"/>
            <a:ext cx="4543200" cy="3006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t/>
            </a:r>
            <a:endParaRPr sz="1200">
              <a:solidFill>
                <a:schemeClr val="dk1"/>
              </a:solidFill>
            </a:endParaRPr>
          </a:p>
          <a:p>
            <a:pPr indent="0" lvl="0" marL="0" rtl="0" algn="just">
              <a:spcBef>
                <a:spcPts val="0"/>
              </a:spcBef>
              <a:spcAft>
                <a:spcPts val="0"/>
              </a:spcAft>
              <a:buNone/>
            </a:pPr>
            <a:r>
              <a:t/>
            </a:r>
            <a:endParaRPr sz="1200">
              <a:solidFill>
                <a:schemeClr val="dk1"/>
              </a:solidFill>
            </a:endParaRPr>
          </a:p>
        </p:txBody>
      </p:sp>
      <p:sp>
        <p:nvSpPr>
          <p:cNvPr id="733" name="Google Shape;733;p41"/>
          <p:cNvSpPr txBox="1"/>
          <p:nvPr/>
        </p:nvSpPr>
        <p:spPr>
          <a:xfrm>
            <a:off x="3966775" y="4581049"/>
            <a:ext cx="42111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F. Dellaert, M. Kaess, and T. Barfoot, "Factor Graphs for SLAM," in </a:t>
            </a:r>
            <a:r>
              <a:rPr i="1" lang="es" sz="800">
                <a:solidFill>
                  <a:schemeClr val="lt1"/>
                </a:solidFill>
              </a:rPr>
              <a:t>SLAM Handbook: From Localization and Mapping to Spatial Intelligence</a:t>
            </a:r>
            <a:r>
              <a:rPr lang="es" sz="800">
                <a:solidFill>
                  <a:schemeClr val="lt1"/>
                </a:solidFill>
              </a:rPr>
              <a:t>, L. Carlone, A. Kim, T. Barfoot, D. Cremers, and F. Dellaert, Eds. Cambridge University Press, 2026.</a:t>
            </a:r>
            <a:endParaRPr sz="800">
              <a:solidFill>
                <a:schemeClr val="lt1"/>
              </a:solidFill>
            </a:endParaRPr>
          </a:p>
        </p:txBody>
      </p:sp>
      <p:grpSp>
        <p:nvGrpSpPr>
          <p:cNvPr id="734" name="Google Shape;734;p41"/>
          <p:cNvGrpSpPr/>
          <p:nvPr/>
        </p:nvGrpSpPr>
        <p:grpSpPr>
          <a:xfrm>
            <a:off x="1095318" y="4449088"/>
            <a:ext cx="712880" cy="694332"/>
            <a:chOff x="1095318" y="4449088"/>
            <a:chExt cx="712880" cy="694332"/>
          </a:xfrm>
        </p:grpSpPr>
        <p:sp>
          <p:nvSpPr>
            <p:cNvPr id="735" name="Google Shape;735;p41"/>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736" name="Google Shape;736;p41"/>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737" name="Google Shape;737;p41"/>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738" name="Google Shape;738;p41"/>
            <p:cNvPicPr preferRelativeResize="0"/>
            <p:nvPr/>
          </p:nvPicPr>
          <p:blipFill>
            <a:blip r:embed="rId4">
              <a:alphaModFix/>
            </a:blip>
            <a:stretch>
              <a:fillRect/>
            </a:stretch>
          </p:blipFill>
          <p:spPr>
            <a:xfrm flipH="1" rot="133010">
              <a:off x="1106374" y="4460147"/>
              <a:ext cx="583062" cy="583197"/>
            </a:xfrm>
            <a:prstGeom prst="rect">
              <a:avLst/>
            </a:prstGeom>
            <a:noFill/>
            <a:ln>
              <a:noFill/>
            </a:ln>
          </p:spPr>
        </p:pic>
      </p:grpSp>
      <p:pic>
        <p:nvPicPr>
          <p:cNvPr id="739" name="Google Shape;739;p41"/>
          <p:cNvPicPr preferRelativeResize="0"/>
          <p:nvPr/>
        </p:nvPicPr>
        <p:blipFill>
          <a:blip r:embed="rId5">
            <a:alphaModFix/>
          </a:blip>
          <a:stretch>
            <a:fillRect/>
          </a:stretch>
        </p:blipFill>
        <p:spPr>
          <a:xfrm>
            <a:off x="350376" y="1081449"/>
            <a:ext cx="3245350" cy="1749350"/>
          </a:xfrm>
          <a:prstGeom prst="rect">
            <a:avLst/>
          </a:prstGeom>
          <a:noFill/>
          <a:ln>
            <a:noFill/>
          </a:ln>
        </p:spPr>
      </p:pic>
      <p:pic>
        <p:nvPicPr>
          <p:cNvPr id="740" name="Google Shape;740;p41"/>
          <p:cNvPicPr preferRelativeResize="0"/>
          <p:nvPr/>
        </p:nvPicPr>
        <p:blipFill>
          <a:blip r:embed="rId6">
            <a:alphaModFix/>
          </a:blip>
          <a:stretch>
            <a:fillRect/>
          </a:stretch>
        </p:blipFill>
        <p:spPr>
          <a:xfrm>
            <a:off x="1284174" y="3086274"/>
            <a:ext cx="2102025" cy="12337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42"/>
          <p:cNvSpPr txBox="1"/>
          <p:nvPr/>
        </p:nvSpPr>
        <p:spPr>
          <a:xfrm>
            <a:off x="360000" y="1080000"/>
            <a:ext cx="3044400" cy="324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t/>
            </a:r>
            <a:endParaRPr sz="1200">
              <a:solidFill>
                <a:schemeClr val="dk2"/>
              </a:solidFill>
            </a:endParaRPr>
          </a:p>
        </p:txBody>
      </p:sp>
      <p:sp>
        <p:nvSpPr>
          <p:cNvPr id="746" name="Google Shape;746;p42"/>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sz="2400">
                <a:solidFill>
                  <a:srgbClr val="193364"/>
                </a:solidFill>
              </a:rPr>
              <a:t>Factor Graphs and Sparsity</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sp>
        <p:nvSpPr>
          <p:cNvPr id="747" name="Google Shape;747;p42"/>
          <p:cNvSpPr txBox="1"/>
          <p:nvPr/>
        </p:nvSpPr>
        <p:spPr>
          <a:xfrm>
            <a:off x="2603619" y="4779082"/>
            <a:ext cx="2834700" cy="26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Bearing measurements</a:t>
            </a:r>
            <a:endParaRPr b="1" sz="1200">
              <a:solidFill>
                <a:srgbClr val="193364"/>
              </a:solidFill>
            </a:endParaRPr>
          </a:p>
        </p:txBody>
      </p:sp>
      <p:sp>
        <p:nvSpPr>
          <p:cNvPr id="748" name="Google Shape;748;p42"/>
          <p:cNvSpPr txBox="1"/>
          <p:nvPr/>
        </p:nvSpPr>
        <p:spPr>
          <a:xfrm>
            <a:off x="3966775" y="4581049"/>
            <a:ext cx="42111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F. Dellaert, M. Kaess, and T. Barfoot, "Factor Graphs for SLAM," in </a:t>
            </a:r>
            <a:r>
              <a:rPr i="1" lang="es" sz="800">
                <a:solidFill>
                  <a:schemeClr val="lt1"/>
                </a:solidFill>
              </a:rPr>
              <a:t>SLAM Handbook: From Localization and Mapping to Spatial Intelligence</a:t>
            </a:r>
            <a:r>
              <a:rPr lang="es" sz="800">
                <a:solidFill>
                  <a:schemeClr val="lt1"/>
                </a:solidFill>
              </a:rPr>
              <a:t>, L. Carlone, A. Kim, T. Barfoot, D. Cremers, and F. Dellaert, Eds. Cambridge University Press, 2026.</a:t>
            </a:r>
            <a:endParaRPr sz="800">
              <a:solidFill>
                <a:schemeClr val="lt1"/>
              </a:solidFill>
            </a:endParaRPr>
          </a:p>
        </p:txBody>
      </p:sp>
      <p:pic>
        <p:nvPicPr>
          <p:cNvPr id="749" name="Google Shape;749;p42"/>
          <p:cNvPicPr preferRelativeResize="0"/>
          <p:nvPr/>
        </p:nvPicPr>
        <p:blipFill>
          <a:blip r:embed="rId3">
            <a:alphaModFix/>
          </a:blip>
          <a:stretch>
            <a:fillRect/>
          </a:stretch>
        </p:blipFill>
        <p:spPr>
          <a:xfrm>
            <a:off x="4203600" y="1080000"/>
            <a:ext cx="4580401" cy="3207799"/>
          </a:xfrm>
          <a:prstGeom prst="rect">
            <a:avLst/>
          </a:prstGeom>
          <a:noFill/>
          <a:ln>
            <a:noFill/>
          </a:ln>
        </p:spPr>
      </p:pic>
      <p:grpSp>
        <p:nvGrpSpPr>
          <p:cNvPr id="750" name="Google Shape;750;p42"/>
          <p:cNvGrpSpPr/>
          <p:nvPr/>
        </p:nvGrpSpPr>
        <p:grpSpPr>
          <a:xfrm>
            <a:off x="1095318" y="4449088"/>
            <a:ext cx="712880" cy="694332"/>
            <a:chOff x="1095318" y="4449088"/>
            <a:chExt cx="712880" cy="694332"/>
          </a:xfrm>
        </p:grpSpPr>
        <p:sp>
          <p:nvSpPr>
            <p:cNvPr id="751" name="Google Shape;751;p42"/>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752" name="Google Shape;752;p42"/>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753" name="Google Shape;753;p42"/>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754" name="Google Shape;754;p42"/>
            <p:cNvPicPr preferRelativeResize="0"/>
            <p:nvPr/>
          </p:nvPicPr>
          <p:blipFill>
            <a:blip r:embed="rId4">
              <a:alphaModFix/>
            </a:blip>
            <a:stretch>
              <a:fillRect/>
            </a:stretch>
          </p:blipFill>
          <p:spPr>
            <a:xfrm flipH="1" rot="133010">
              <a:off x="1106374" y="4460147"/>
              <a:ext cx="583062" cy="583197"/>
            </a:xfrm>
            <a:prstGeom prst="rect">
              <a:avLst/>
            </a:prstGeom>
            <a:noFill/>
            <a:ln>
              <a:noFill/>
            </a:ln>
          </p:spPr>
        </p:pic>
      </p:grpSp>
      <p:pic>
        <p:nvPicPr>
          <p:cNvPr id="755" name="Google Shape;755;p42"/>
          <p:cNvPicPr preferRelativeResize="0"/>
          <p:nvPr/>
        </p:nvPicPr>
        <p:blipFill>
          <a:blip r:embed="rId5">
            <a:alphaModFix/>
          </a:blip>
          <a:stretch>
            <a:fillRect/>
          </a:stretch>
        </p:blipFill>
        <p:spPr>
          <a:xfrm>
            <a:off x="1095503" y="1093517"/>
            <a:ext cx="2048862" cy="3240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43"/>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s" sz="1800">
                <a:solidFill>
                  <a:schemeClr val="dk2"/>
                </a:solidFill>
              </a:rPr>
              <a:t>      Steepest Descent           Gauss Newton            </a:t>
            </a:r>
            <a:r>
              <a:rPr lang="es" sz="1800">
                <a:solidFill>
                  <a:schemeClr val="dk2"/>
                </a:solidFill>
              </a:rPr>
              <a:t>Levenberg-Marquardt</a:t>
            </a:r>
            <a:endParaRPr sz="1800">
              <a:solidFill>
                <a:schemeClr val="dk2"/>
              </a:solidFill>
            </a:endParaRPr>
          </a:p>
          <a:p>
            <a:pPr indent="0" lvl="0" marL="0" marR="0" rtl="0" algn="l">
              <a:lnSpc>
                <a:spcPct val="100000"/>
              </a:lnSpc>
              <a:spcBef>
                <a:spcPts val="0"/>
              </a:spcBef>
              <a:spcAft>
                <a:spcPts val="0"/>
              </a:spcAft>
              <a:buNone/>
            </a:pPr>
            <a:r>
              <a:t/>
            </a:r>
            <a:endParaRPr sz="1800">
              <a:solidFill>
                <a:schemeClr val="dk2"/>
              </a:solidFill>
            </a:endParaRPr>
          </a:p>
          <a:p>
            <a:pPr indent="0" lvl="0" marL="457200" marR="0" rtl="0" algn="l">
              <a:lnSpc>
                <a:spcPct val="100000"/>
              </a:lnSpc>
              <a:spcBef>
                <a:spcPts val="0"/>
              </a:spcBef>
              <a:spcAft>
                <a:spcPts val="0"/>
              </a:spcAft>
              <a:buNone/>
            </a:pPr>
            <a:r>
              <a:t/>
            </a:r>
            <a:endParaRPr sz="1800">
              <a:solidFill>
                <a:schemeClr val="dk2"/>
              </a:solidFill>
            </a:endParaRPr>
          </a:p>
          <a:p>
            <a:pPr indent="0" lvl="0" marL="457200" marR="0" rtl="0" algn="l">
              <a:lnSpc>
                <a:spcPct val="100000"/>
              </a:lnSpc>
              <a:spcBef>
                <a:spcPts val="0"/>
              </a:spcBef>
              <a:spcAft>
                <a:spcPts val="0"/>
              </a:spcAft>
              <a:buNone/>
            </a:pPr>
            <a:r>
              <a:t/>
            </a:r>
            <a:endParaRPr sz="1800">
              <a:solidFill>
                <a:schemeClr val="dk2"/>
              </a:solidFill>
            </a:endParaRPr>
          </a:p>
          <a:p>
            <a:pPr indent="0" lvl="0" marL="457200" marR="0" rtl="0" algn="l">
              <a:lnSpc>
                <a:spcPct val="100000"/>
              </a:lnSpc>
              <a:spcBef>
                <a:spcPts val="0"/>
              </a:spcBef>
              <a:spcAft>
                <a:spcPts val="0"/>
              </a:spcAft>
              <a:buNone/>
            </a:pPr>
            <a:r>
              <a:t/>
            </a:r>
            <a:endParaRPr sz="1800">
              <a:solidFill>
                <a:schemeClr val="dk2"/>
              </a:solidFill>
            </a:endParaRPr>
          </a:p>
          <a:p>
            <a:pPr indent="0" lvl="0" marL="457200" marR="0" rtl="0" algn="l">
              <a:lnSpc>
                <a:spcPct val="100000"/>
              </a:lnSpc>
              <a:spcBef>
                <a:spcPts val="0"/>
              </a:spcBef>
              <a:spcAft>
                <a:spcPts val="0"/>
              </a:spcAft>
              <a:buNone/>
            </a:pPr>
            <a:r>
              <a:t/>
            </a:r>
            <a:endParaRPr sz="1800">
              <a:solidFill>
                <a:schemeClr val="dk2"/>
              </a:solidFill>
            </a:endParaRPr>
          </a:p>
          <a:p>
            <a:pPr indent="-342900" lvl="0" marL="457200" marR="0" rtl="0" algn="l">
              <a:lnSpc>
                <a:spcPct val="100000"/>
              </a:lnSpc>
              <a:spcBef>
                <a:spcPts val="0"/>
              </a:spcBef>
              <a:spcAft>
                <a:spcPts val="0"/>
              </a:spcAft>
              <a:buClr>
                <a:schemeClr val="dk2"/>
              </a:buClr>
              <a:buSzPts val="1800"/>
              <a:buChar char="-"/>
            </a:pPr>
            <a:r>
              <a:t/>
            </a:r>
            <a:endParaRPr sz="1800">
              <a:solidFill>
                <a:schemeClr val="dk2"/>
              </a:solidFill>
            </a:endParaRPr>
          </a:p>
          <a:p>
            <a:pPr indent="0" lvl="0" marL="457200" marR="0" rtl="0" algn="l">
              <a:lnSpc>
                <a:spcPct val="100000"/>
              </a:lnSpc>
              <a:spcBef>
                <a:spcPts val="0"/>
              </a:spcBef>
              <a:spcAft>
                <a:spcPts val="0"/>
              </a:spcAft>
              <a:buNone/>
            </a:pPr>
            <a:r>
              <a:t/>
            </a:r>
            <a:endParaRPr sz="1800">
              <a:solidFill>
                <a:schemeClr val="dk2"/>
              </a:solidFill>
            </a:endParaRPr>
          </a:p>
          <a:p>
            <a:pPr indent="0" lvl="0" marL="0" marR="0" rtl="0" algn="l">
              <a:lnSpc>
                <a:spcPct val="100000"/>
              </a:lnSpc>
              <a:spcBef>
                <a:spcPts val="0"/>
              </a:spcBef>
              <a:spcAft>
                <a:spcPts val="0"/>
              </a:spcAft>
              <a:buNone/>
            </a:pPr>
            <a:r>
              <a:t/>
            </a:r>
            <a:endParaRPr sz="1800">
              <a:solidFill>
                <a:schemeClr val="dk2"/>
              </a:solidFill>
            </a:endParaRPr>
          </a:p>
          <a:p>
            <a:pPr indent="0" lvl="0" marL="0" marR="0" rtl="0" algn="l">
              <a:lnSpc>
                <a:spcPct val="100000"/>
              </a:lnSpc>
              <a:spcBef>
                <a:spcPts val="0"/>
              </a:spcBef>
              <a:spcAft>
                <a:spcPts val="0"/>
              </a:spcAft>
              <a:buNone/>
            </a:pPr>
            <a:r>
              <a:rPr lang="es" sz="1800">
                <a:solidFill>
                  <a:schemeClr val="dk2"/>
                </a:solidFill>
              </a:rPr>
              <a:t>                  Dogleg Minimization</a:t>
            </a:r>
            <a:endParaRPr sz="1800">
              <a:solidFill>
                <a:schemeClr val="dk2"/>
              </a:solidFill>
            </a:endParaRPr>
          </a:p>
        </p:txBody>
      </p:sp>
      <p:sp>
        <p:nvSpPr>
          <p:cNvPr id="761" name="Google Shape;761;p43"/>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Nonlinear Optimization</a:t>
            </a:r>
            <a:endParaRPr b="1" sz="2400">
              <a:solidFill>
                <a:srgbClr val="193364"/>
              </a:solidFill>
            </a:endParaRPr>
          </a:p>
        </p:txBody>
      </p:sp>
      <p:grpSp>
        <p:nvGrpSpPr>
          <p:cNvPr id="762" name="Google Shape;762;p43"/>
          <p:cNvGrpSpPr/>
          <p:nvPr/>
        </p:nvGrpSpPr>
        <p:grpSpPr>
          <a:xfrm>
            <a:off x="1095318" y="4449088"/>
            <a:ext cx="712880" cy="694332"/>
            <a:chOff x="1095318" y="4449088"/>
            <a:chExt cx="712880" cy="694332"/>
          </a:xfrm>
        </p:grpSpPr>
        <p:sp>
          <p:nvSpPr>
            <p:cNvPr id="763" name="Google Shape;763;p43"/>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764" name="Google Shape;764;p43"/>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765" name="Google Shape;765;p43"/>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766" name="Google Shape;766;p43"/>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sp>
        <p:nvSpPr>
          <p:cNvPr id="767" name="Google Shape;767;p43"/>
          <p:cNvSpPr txBox="1"/>
          <p:nvPr/>
        </p:nvSpPr>
        <p:spPr>
          <a:xfrm>
            <a:off x="3966775" y="4581049"/>
            <a:ext cx="42111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F. Dellaert, M. Kaess, and T. Barfoot, "Factor Graphs for SLAM," in </a:t>
            </a:r>
            <a:r>
              <a:rPr i="1" lang="es" sz="800">
                <a:solidFill>
                  <a:schemeClr val="lt1"/>
                </a:solidFill>
              </a:rPr>
              <a:t>SLAM Handbook: From Localization and Mapping to Spatial Intelligence</a:t>
            </a:r>
            <a:r>
              <a:rPr lang="es" sz="800">
                <a:solidFill>
                  <a:schemeClr val="lt1"/>
                </a:solidFill>
              </a:rPr>
              <a:t>, L. Carlone, A. Kim, T. Barfoot, D. Cremers, and F. Dellaert, Eds. Cambridge University Press, 2026.</a:t>
            </a:r>
            <a:endParaRPr sz="800">
              <a:solidFill>
                <a:schemeClr val="lt1"/>
              </a:solidFill>
            </a:endParaRPr>
          </a:p>
        </p:txBody>
      </p:sp>
      <p:pic>
        <p:nvPicPr>
          <p:cNvPr id="768" name="Google Shape;768;p43"/>
          <p:cNvPicPr preferRelativeResize="0"/>
          <p:nvPr/>
        </p:nvPicPr>
        <p:blipFill>
          <a:blip r:embed="rId4">
            <a:alphaModFix/>
          </a:blip>
          <a:stretch>
            <a:fillRect/>
          </a:stretch>
        </p:blipFill>
        <p:spPr>
          <a:xfrm>
            <a:off x="360000" y="1554156"/>
            <a:ext cx="2594055" cy="1573925"/>
          </a:xfrm>
          <a:prstGeom prst="rect">
            <a:avLst/>
          </a:prstGeom>
          <a:noFill/>
          <a:ln>
            <a:noFill/>
          </a:ln>
        </p:spPr>
      </p:pic>
      <p:pic>
        <p:nvPicPr>
          <p:cNvPr id="769" name="Google Shape;769;p43" title="gdJ3v.gif"/>
          <p:cNvPicPr preferRelativeResize="0"/>
          <p:nvPr/>
        </p:nvPicPr>
        <p:blipFill>
          <a:blip r:embed="rId5">
            <a:alphaModFix/>
          </a:blip>
          <a:stretch>
            <a:fillRect/>
          </a:stretch>
        </p:blipFill>
        <p:spPr>
          <a:xfrm>
            <a:off x="3056875" y="1509758"/>
            <a:ext cx="1975625" cy="1662966"/>
          </a:xfrm>
          <a:prstGeom prst="rect">
            <a:avLst/>
          </a:prstGeom>
          <a:noFill/>
          <a:ln>
            <a:noFill/>
          </a:ln>
        </p:spPr>
      </p:pic>
      <p:pic>
        <p:nvPicPr>
          <p:cNvPr id="770" name="Google Shape;770;p43"/>
          <p:cNvPicPr preferRelativeResize="0"/>
          <p:nvPr/>
        </p:nvPicPr>
        <p:blipFill>
          <a:blip r:embed="rId6">
            <a:alphaModFix/>
          </a:blip>
          <a:stretch>
            <a:fillRect/>
          </a:stretch>
        </p:blipFill>
        <p:spPr>
          <a:xfrm>
            <a:off x="5155500" y="1509758"/>
            <a:ext cx="3628500" cy="1633137"/>
          </a:xfrm>
          <a:prstGeom prst="rect">
            <a:avLst/>
          </a:prstGeom>
          <a:noFill/>
          <a:ln>
            <a:noFill/>
          </a:ln>
        </p:spPr>
      </p:pic>
      <p:pic>
        <p:nvPicPr>
          <p:cNvPr id="771" name="Google Shape;771;p43"/>
          <p:cNvPicPr preferRelativeResize="0"/>
          <p:nvPr/>
        </p:nvPicPr>
        <p:blipFill>
          <a:blip r:embed="rId7">
            <a:alphaModFix/>
          </a:blip>
          <a:stretch>
            <a:fillRect/>
          </a:stretch>
        </p:blipFill>
        <p:spPr>
          <a:xfrm>
            <a:off x="3966779" y="3160648"/>
            <a:ext cx="2383847" cy="11963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44"/>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chemeClr val="dk2"/>
              </a:buClr>
              <a:buSzPts val="1800"/>
              <a:buChar char="❖"/>
            </a:pPr>
            <a:r>
              <a:rPr lang="es" sz="1800">
                <a:solidFill>
                  <a:schemeClr val="dk2"/>
                </a:solidFill>
              </a:rPr>
              <a:t>GTSAM </a:t>
            </a:r>
            <a:r>
              <a:rPr lang="es" sz="1800" u="sng">
                <a:solidFill>
                  <a:schemeClr val="hlink"/>
                </a:solidFill>
                <a:hlinkClick r:id="rId3"/>
              </a:rPr>
              <a:t>https://gtsam.org/</a:t>
            </a:r>
            <a:r>
              <a:rPr lang="es" sz="1800">
                <a:solidFill>
                  <a:schemeClr val="dk2"/>
                </a:solidFill>
              </a:rPr>
              <a:t> </a:t>
            </a:r>
            <a:endParaRPr sz="1800">
              <a:solidFill>
                <a:schemeClr val="dk2"/>
              </a:solidFill>
            </a:endParaRPr>
          </a:p>
          <a:p>
            <a:pPr indent="-342900" lvl="0" marL="457200" marR="0" rtl="0" algn="l">
              <a:lnSpc>
                <a:spcPct val="100000"/>
              </a:lnSpc>
              <a:spcBef>
                <a:spcPts val="0"/>
              </a:spcBef>
              <a:spcAft>
                <a:spcPts val="0"/>
              </a:spcAft>
              <a:buClr>
                <a:schemeClr val="dk2"/>
              </a:buClr>
              <a:buSzPts val="1800"/>
              <a:buChar char="❖"/>
            </a:pPr>
            <a:r>
              <a:rPr lang="es" sz="1800">
                <a:solidFill>
                  <a:schemeClr val="dk2"/>
                </a:solidFill>
              </a:rPr>
              <a:t>G2o </a:t>
            </a:r>
            <a:r>
              <a:rPr lang="es" sz="1800" u="sng">
                <a:solidFill>
                  <a:schemeClr val="hlink"/>
                </a:solidFill>
                <a:hlinkClick r:id="rId4"/>
              </a:rPr>
              <a:t>https://openslam-org.github.io/g2o.html</a:t>
            </a:r>
            <a:r>
              <a:rPr lang="es" sz="1800">
                <a:solidFill>
                  <a:schemeClr val="dk2"/>
                </a:solidFill>
              </a:rPr>
              <a:t> </a:t>
            </a:r>
            <a:endParaRPr sz="1800">
              <a:solidFill>
                <a:schemeClr val="dk2"/>
              </a:solidFill>
            </a:endParaRPr>
          </a:p>
          <a:p>
            <a:pPr indent="-342900" lvl="0" marL="457200" marR="0" rtl="0" algn="l">
              <a:lnSpc>
                <a:spcPct val="100000"/>
              </a:lnSpc>
              <a:spcBef>
                <a:spcPts val="0"/>
              </a:spcBef>
              <a:spcAft>
                <a:spcPts val="0"/>
              </a:spcAft>
              <a:buClr>
                <a:schemeClr val="dk2"/>
              </a:buClr>
              <a:buSzPts val="1800"/>
              <a:buChar char="❖"/>
            </a:pPr>
            <a:r>
              <a:rPr lang="es" sz="1800">
                <a:solidFill>
                  <a:schemeClr val="dk2"/>
                </a:solidFill>
              </a:rPr>
              <a:t>Ceres </a:t>
            </a:r>
            <a:r>
              <a:rPr lang="es" sz="1800" u="sng">
                <a:solidFill>
                  <a:schemeClr val="hlink"/>
                </a:solidFill>
                <a:hlinkClick r:id="rId5"/>
              </a:rPr>
              <a:t>https://github.com/ceres-solver/ceres-solver</a:t>
            </a:r>
            <a:r>
              <a:rPr lang="es" sz="1800">
                <a:solidFill>
                  <a:schemeClr val="dk2"/>
                </a:solidFill>
              </a:rPr>
              <a:t> </a:t>
            </a:r>
            <a:endParaRPr sz="1800">
              <a:solidFill>
                <a:schemeClr val="dk2"/>
              </a:solidFill>
            </a:endParaRPr>
          </a:p>
        </p:txBody>
      </p:sp>
      <p:sp>
        <p:nvSpPr>
          <p:cNvPr id="777" name="Google Shape;777;p44"/>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Solvers</a:t>
            </a:r>
            <a:endParaRPr b="1" sz="2400">
              <a:solidFill>
                <a:srgbClr val="193364"/>
              </a:solidFill>
            </a:endParaRPr>
          </a:p>
        </p:txBody>
      </p:sp>
      <p:grpSp>
        <p:nvGrpSpPr>
          <p:cNvPr id="778" name="Google Shape;778;p44"/>
          <p:cNvGrpSpPr/>
          <p:nvPr/>
        </p:nvGrpSpPr>
        <p:grpSpPr>
          <a:xfrm>
            <a:off x="1095318" y="4449088"/>
            <a:ext cx="712880" cy="694332"/>
            <a:chOff x="1095318" y="4449088"/>
            <a:chExt cx="712880" cy="694332"/>
          </a:xfrm>
        </p:grpSpPr>
        <p:sp>
          <p:nvSpPr>
            <p:cNvPr id="779" name="Google Shape;779;p44"/>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780" name="Google Shape;780;p44"/>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781" name="Google Shape;781;p44"/>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782" name="Google Shape;782;p44"/>
            <p:cNvPicPr preferRelativeResize="0"/>
            <p:nvPr/>
          </p:nvPicPr>
          <p:blipFill>
            <a:blip r:embed="rId6">
              <a:alphaModFix/>
            </a:blip>
            <a:stretch>
              <a:fillRect/>
            </a:stretch>
          </p:blipFill>
          <p:spPr>
            <a:xfrm flipH="1" rot="133010">
              <a:off x="1106374" y="4460147"/>
              <a:ext cx="583062" cy="583197"/>
            </a:xfrm>
            <a:prstGeom prst="rect">
              <a:avLst/>
            </a:prstGeom>
            <a:noFill/>
            <a:ln>
              <a:noFill/>
            </a:ln>
          </p:spPr>
        </p:pic>
      </p:grpSp>
      <p:sp>
        <p:nvSpPr>
          <p:cNvPr id="783" name="Google Shape;783;p44"/>
          <p:cNvSpPr txBox="1"/>
          <p:nvPr/>
        </p:nvSpPr>
        <p:spPr>
          <a:xfrm>
            <a:off x="3966775" y="4581049"/>
            <a:ext cx="42111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F. Dellaert, M. Kaess, and T. Barfoot, "Factor Graphs for SLAM," in </a:t>
            </a:r>
            <a:r>
              <a:rPr i="1" lang="es" sz="800">
                <a:solidFill>
                  <a:schemeClr val="lt1"/>
                </a:solidFill>
              </a:rPr>
              <a:t>SLAM Handbook: From Localization and Mapping to Spatial Intelligence</a:t>
            </a:r>
            <a:r>
              <a:rPr lang="es" sz="800">
                <a:solidFill>
                  <a:schemeClr val="lt1"/>
                </a:solidFill>
              </a:rPr>
              <a:t>, L. Carlone, A. Kim, T. Barfoot, D. Cremers, and F. Dellaert, Eds. Cambridge University Press, 2026.</a:t>
            </a:r>
            <a:endParaRPr sz="800">
              <a:solidFill>
                <a:schemeClr val="lt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45"/>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789" name="Google Shape;789;p45"/>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The SLAM problem</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grpSp>
        <p:nvGrpSpPr>
          <p:cNvPr id="790" name="Google Shape;790;p45"/>
          <p:cNvGrpSpPr/>
          <p:nvPr/>
        </p:nvGrpSpPr>
        <p:grpSpPr>
          <a:xfrm>
            <a:off x="1095318" y="4449088"/>
            <a:ext cx="712880" cy="694332"/>
            <a:chOff x="1095318" y="4449088"/>
            <a:chExt cx="712880" cy="694332"/>
          </a:xfrm>
        </p:grpSpPr>
        <p:sp>
          <p:nvSpPr>
            <p:cNvPr id="791" name="Google Shape;791;p45"/>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792" name="Google Shape;792;p45"/>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793" name="Google Shape;793;p45"/>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794" name="Google Shape;794;p45"/>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sp>
        <p:nvSpPr>
          <p:cNvPr id="795" name="Google Shape;795;p45"/>
          <p:cNvSpPr txBox="1"/>
          <p:nvPr/>
        </p:nvSpPr>
        <p:spPr>
          <a:xfrm>
            <a:off x="3966775" y="4645975"/>
            <a:ext cx="36006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*Courtesy of Maani Ghaffari, Ryan Eustice, Frank Dellaert, Michael Kaess, Cyrill Stachniss, Pranav Ganti, Luca Carlone</a:t>
            </a:r>
            <a:endParaRPr sz="800">
              <a:solidFill>
                <a:schemeClr val="lt1"/>
              </a:solidFill>
            </a:endParaRPr>
          </a:p>
        </p:txBody>
      </p:sp>
      <p:pic>
        <p:nvPicPr>
          <p:cNvPr id="796" name="Google Shape;796;p45" title="ChatGPT Image Apr 19, 2026, 12_37_07 PM.png"/>
          <p:cNvPicPr preferRelativeResize="0"/>
          <p:nvPr/>
        </p:nvPicPr>
        <p:blipFill>
          <a:blip r:embed="rId4">
            <a:alphaModFix/>
          </a:blip>
          <a:stretch>
            <a:fillRect/>
          </a:stretch>
        </p:blipFill>
        <p:spPr>
          <a:xfrm>
            <a:off x="2449000" y="1080000"/>
            <a:ext cx="4860000" cy="32400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46"/>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802" name="Google Shape;802;p46"/>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The SLAM problem (t = 0)</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grpSp>
        <p:nvGrpSpPr>
          <p:cNvPr id="803" name="Google Shape;803;p46"/>
          <p:cNvGrpSpPr/>
          <p:nvPr/>
        </p:nvGrpSpPr>
        <p:grpSpPr>
          <a:xfrm>
            <a:off x="1095318" y="4449088"/>
            <a:ext cx="712880" cy="694332"/>
            <a:chOff x="1095318" y="4449088"/>
            <a:chExt cx="712880" cy="694332"/>
          </a:xfrm>
        </p:grpSpPr>
        <p:sp>
          <p:nvSpPr>
            <p:cNvPr id="804" name="Google Shape;804;p46"/>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805" name="Google Shape;805;p46"/>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806" name="Google Shape;806;p46"/>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807" name="Google Shape;807;p46"/>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pic>
        <p:nvPicPr>
          <p:cNvPr id="808" name="Google Shape;808;p46" title="ChatGPT Image Apr 19, 2026, 12_37_01 PM.png"/>
          <p:cNvPicPr preferRelativeResize="0"/>
          <p:nvPr/>
        </p:nvPicPr>
        <p:blipFill rotWithShape="1">
          <a:blip r:embed="rId4">
            <a:alphaModFix/>
          </a:blip>
          <a:srcRect b="39849" l="14168" r="52065" t="5750"/>
          <a:stretch/>
        </p:blipFill>
        <p:spPr>
          <a:xfrm>
            <a:off x="410497" y="1851886"/>
            <a:ext cx="1168650" cy="1255224"/>
          </a:xfrm>
          <a:prstGeom prst="rect">
            <a:avLst/>
          </a:prstGeom>
          <a:noFill/>
          <a:ln>
            <a:noFill/>
          </a:ln>
        </p:spPr>
      </p:pic>
      <p:pic>
        <p:nvPicPr>
          <p:cNvPr id="809" name="Google Shape;809;p46" title="ChatGPT Image Apr 19, 2026, 12_37_01 PM.png"/>
          <p:cNvPicPr preferRelativeResize="0"/>
          <p:nvPr/>
        </p:nvPicPr>
        <p:blipFill rotWithShape="1">
          <a:blip r:embed="rId4">
            <a:alphaModFix/>
          </a:blip>
          <a:srcRect b="4835" l="13703" r="52529" t="61190"/>
          <a:stretch/>
        </p:blipFill>
        <p:spPr>
          <a:xfrm>
            <a:off x="1317822" y="3343636"/>
            <a:ext cx="1168650" cy="783900"/>
          </a:xfrm>
          <a:prstGeom prst="rect">
            <a:avLst/>
          </a:prstGeom>
          <a:noFill/>
          <a:ln>
            <a:noFill/>
          </a:ln>
        </p:spPr>
      </p:pic>
      <p:cxnSp>
        <p:nvCxnSpPr>
          <p:cNvPr id="810" name="Google Shape;810;p46"/>
          <p:cNvCxnSpPr>
            <a:stCxn id="808" idx="2"/>
            <a:endCxn id="809" idx="1"/>
          </p:cNvCxnSpPr>
          <p:nvPr/>
        </p:nvCxnSpPr>
        <p:spPr>
          <a:xfrm>
            <a:off x="994823" y="3107110"/>
            <a:ext cx="323100" cy="628500"/>
          </a:xfrm>
          <a:prstGeom prst="straightConnector1">
            <a:avLst/>
          </a:prstGeom>
          <a:noFill/>
          <a:ln cap="flat" cmpd="sng" w="9525">
            <a:solidFill>
              <a:srgbClr val="193364"/>
            </a:solidFill>
            <a:prstDash val="solid"/>
            <a:round/>
            <a:headEnd len="med" w="med" type="none"/>
            <a:tailEnd len="med" w="med" type="none"/>
          </a:ln>
        </p:spPr>
      </p:cxnSp>
      <p:sp>
        <p:nvSpPr>
          <p:cNvPr id="811" name="Google Shape;811;p46"/>
          <p:cNvSpPr/>
          <p:nvPr/>
        </p:nvSpPr>
        <p:spPr>
          <a:xfrm>
            <a:off x="1120364" y="3385361"/>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12" name="Google Shape;812;p46" title="{&quot;red&quot;:89,&quot;green&quot;:89,&quot;blue&quot;:89,&quot;origURL&quot;:&quot;https://www.codecogs.com/eqnedit.php?latex=m_1#0&quot;,&quot;size&quot;:18,&quot;width&quot;:154.86614173228347,&quot;height&quot;:152.2204724409449}"/>
          <p:cNvPicPr preferRelativeResize="0"/>
          <p:nvPr/>
        </p:nvPicPr>
        <p:blipFill>
          <a:blip r:embed="rId5">
            <a:alphaModFix/>
          </a:blip>
          <a:stretch>
            <a:fillRect/>
          </a:stretch>
        </p:blipFill>
        <p:spPr>
          <a:xfrm>
            <a:off x="1251847" y="3267336"/>
            <a:ext cx="289751" cy="152590"/>
          </a:xfrm>
          <a:prstGeom prst="rect">
            <a:avLst/>
          </a:prstGeom>
          <a:noFill/>
          <a:ln>
            <a:noFill/>
          </a:ln>
        </p:spPr>
      </p:pic>
      <p:sp>
        <p:nvSpPr>
          <p:cNvPr id="813" name="Google Shape;813;p46"/>
          <p:cNvSpPr txBox="1"/>
          <p:nvPr/>
        </p:nvSpPr>
        <p:spPr>
          <a:xfrm>
            <a:off x="252508" y="3421319"/>
            <a:ext cx="12624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Landmark factor</a:t>
            </a:r>
            <a:endParaRPr b="1" sz="1200">
              <a:solidFill>
                <a:srgbClr val="193364"/>
              </a:solidFill>
            </a:endParaRPr>
          </a:p>
        </p:txBody>
      </p:sp>
      <p:sp>
        <p:nvSpPr>
          <p:cNvPr id="814" name="Google Shape;814;p46"/>
          <p:cNvSpPr txBox="1"/>
          <p:nvPr/>
        </p:nvSpPr>
        <p:spPr>
          <a:xfrm>
            <a:off x="2228649" y="3935200"/>
            <a:ext cx="13902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Landmark 1</a:t>
            </a:r>
            <a:endParaRPr b="1" sz="1200">
              <a:solidFill>
                <a:srgbClr val="193364"/>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47"/>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820" name="Google Shape;820;p47"/>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The SLAM problem (t = 1)</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grpSp>
        <p:nvGrpSpPr>
          <p:cNvPr id="821" name="Google Shape;821;p47"/>
          <p:cNvGrpSpPr/>
          <p:nvPr/>
        </p:nvGrpSpPr>
        <p:grpSpPr>
          <a:xfrm>
            <a:off x="1095318" y="4449088"/>
            <a:ext cx="712880" cy="694332"/>
            <a:chOff x="1095318" y="4449088"/>
            <a:chExt cx="712880" cy="694332"/>
          </a:xfrm>
        </p:grpSpPr>
        <p:sp>
          <p:nvSpPr>
            <p:cNvPr id="822" name="Google Shape;822;p47"/>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823" name="Google Shape;823;p47"/>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824" name="Google Shape;824;p47"/>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825" name="Google Shape;825;p47"/>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pic>
        <p:nvPicPr>
          <p:cNvPr id="826" name="Google Shape;826;p47" title="ChatGPT Image Apr 19, 2026, 12_37_01 PM.png"/>
          <p:cNvPicPr preferRelativeResize="0"/>
          <p:nvPr/>
        </p:nvPicPr>
        <p:blipFill rotWithShape="1">
          <a:blip r:embed="rId4">
            <a:alphaModFix/>
          </a:blip>
          <a:srcRect b="39849" l="14168" r="52065" t="5750"/>
          <a:stretch/>
        </p:blipFill>
        <p:spPr>
          <a:xfrm>
            <a:off x="410497" y="1851886"/>
            <a:ext cx="1168650" cy="1255224"/>
          </a:xfrm>
          <a:prstGeom prst="rect">
            <a:avLst/>
          </a:prstGeom>
          <a:noFill/>
          <a:ln>
            <a:noFill/>
          </a:ln>
        </p:spPr>
      </p:pic>
      <p:pic>
        <p:nvPicPr>
          <p:cNvPr id="827" name="Google Shape;827;p47" title="ChatGPT Image Apr 19, 2026, 12_37_01 PM.png"/>
          <p:cNvPicPr preferRelativeResize="0"/>
          <p:nvPr/>
        </p:nvPicPr>
        <p:blipFill rotWithShape="1">
          <a:blip r:embed="rId5">
            <a:alphaModFix/>
          </a:blip>
          <a:srcRect b="39849" l="14168" r="52065" t="5750"/>
          <a:stretch/>
        </p:blipFill>
        <p:spPr>
          <a:xfrm>
            <a:off x="2224335" y="1851886"/>
            <a:ext cx="1168650" cy="1255224"/>
          </a:xfrm>
          <a:prstGeom prst="rect">
            <a:avLst/>
          </a:prstGeom>
          <a:noFill/>
          <a:ln>
            <a:noFill/>
          </a:ln>
        </p:spPr>
      </p:pic>
      <p:cxnSp>
        <p:nvCxnSpPr>
          <p:cNvPr id="828" name="Google Shape;828;p47"/>
          <p:cNvCxnSpPr>
            <a:endCxn id="827" idx="1"/>
          </p:cNvCxnSpPr>
          <p:nvPr/>
        </p:nvCxnSpPr>
        <p:spPr>
          <a:xfrm flipH="1" rot="10800000">
            <a:off x="1579935" y="2479498"/>
            <a:ext cx="644400" cy="9300"/>
          </a:xfrm>
          <a:prstGeom prst="straightConnector1">
            <a:avLst/>
          </a:prstGeom>
          <a:noFill/>
          <a:ln cap="flat" cmpd="sng" w="9525">
            <a:solidFill>
              <a:srgbClr val="193364"/>
            </a:solidFill>
            <a:prstDash val="solid"/>
            <a:round/>
            <a:headEnd len="med" w="med" type="none"/>
            <a:tailEnd len="med" w="med" type="none"/>
          </a:ln>
        </p:spPr>
      </p:cxnSp>
      <p:pic>
        <p:nvPicPr>
          <p:cNvPr id="829" name="Google Shape;829;p47" title="ChatGPT Image Apr 19, 2026, 12_37_01 PM.png"/>
          <p:cNvPicPr preferRelativeResize="0"/>
          <p:nvPr/>
        </p:nvPicPr>
        <p:blipFill rotWithShape="1">
          <a:blip r:embed="rId5">
            <a:alphaModFix/>
          </a:blip>
          <a:srcRect b="4835" l="13703" r="52529" t="61190"/>
          <a:stretch/>
        </p:blipFill>
        <p:spPr>
          <a:xfrm>
            <a:off x="1317822" y="3343636"/>
            <a:ext cx="1168650" cy="783900"/>
          </a:xfrm>
          <a:prstGeom prst="rect">
            <a:avLst/>
          </a:prstGeom>
          <a:noFill/>
          <a:ln>
            <a:noFill/>
          </a:ln>
        </p:spPr>
      </p:pic>
      <p:cxnSp>
        <p:nvCxnSpPr>
          <p:cNvPr id="830" name="Google Shape;830;p47"/>
          <p:cNvCxnSpPr>
            <a:stCxn id="826" idx="2"/>
            <a:endCxn id="829" idx="1"/>
          </p:cNvCxnSpPr>
          <p:nvPr/>
        </p:nvCxnSpPr>
        <p:spPr>
          <a:xfrm>
            <a:off x="994823" y="3107110"/>
            <a:ext cx="323100" cy="628500"/>
          </a:xfrm>
          <a:prstGeom prst="straightConnector1">
            <a:avLst/>
          </a:prstGeom>
          <a:noFill/>
          <a:ln cap="flat" cmpd="sng" w="9525">
            <a:solidFill>
              <a:srgbClr val="193364"/>
            </a:solidFill>
            <a:prstDash val="solid"/>
            <a:round/>
            <a:headEnd len="med" w="med" type="none"/>
            <a:tailEnd len="med" w="med" type="none"/>
          </a:ln>
        </p:spPr>
      </p:cxnSp>
      <p:sp>
        <p:nvSpPr>
          <p:cNvPr id="831" name="Google Shape;831;p47"/>
          <p:cNvSpPr/>
          <p:nvPr/>
        </p:nvSpPr>
        <p:spPr>
          <a:xfrm>
            <a:off x="1872139" y="24422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2" name="Google Shape;832;p47"/>
          <p:cNvSpPr/>
          <p:nvPr/>
        </p:nvSpPr>
        <p:spPr>
          <a:xfrm>
            <a:off x="1120364" y="3385361"/>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33" name="Google Shape;833;p47" title="{&quot;red&quot;:89,&quot;green&quot;:89,&quot;blue&quot;:89,&quot;origURL&quot;:&quot;https://www.codecogs.com/eqnedit.php?latex=u_1#0&quot;,&quot;size&quot;:18,&quot;width&quot;:154.86614173228347,&quot;height&quot;:152.2204724409449}"/>
          <p:cNvPicPr preferRelativeResize="0"/>
          <p:nvPr/>
        </p:nvPicPr>
        <p:blipFill>
          <a:blip r:embed="rId6">
            <a:alphaModFix/>
          </a:blip>
          <a:stretch>
            <a:fillRect/>
          </a:stretch>
        </p:blipFill>
        <p:spPr>
          <a:xfrm>
            <a:off x="1795447" y="2251586"/>
            <a:ext cx="212598" cy="152590"/>
          </a:xfrm>
          <a:prstGeom prst="rect">
            <a:avLst/>
          </a:prstGeom>
          <a:noFill/>
          <a:ln>
            <a:noFill/>
          </a:ln>
        </p:spPr>
      </p:pic>
      <p:pic>
        <p:nvPicPr>
          <p:cNvPr id="834" name="Google Shape;834;p47" title="{&quot;red&quot;:89,&quot;green&quot;:89,&quot;blue&quot;:89,&quot;origURL&quot;:&quot;https://www.codecogs.com/eqnedit.php?latex=m_1#0&quot;,&quot;size&quot;:18,&quot;width&quot;:154.86614173228347,&quot;height&quot;:152.2204724409449}"/>
          <p:cNvPicPr preferRelativeResize="0"/>
          <p:nvPr/>
        </p:nvPicPr>
        <p:blipFill>
          <a:blip r:embed="rId7">
            <a:alphaModFix/>
          </a:blip>
          <a:stretch>
            <a:fillRect/>
          </a:stretch>
        </p:blipFill>
        <p:spPr>
          <a:xfrm>
            <a:off x="1251847" y="3267336"/>
            <a:ext cx="289751" cy="152590"/>
          </a:xfrm>
          <a:prstGeom prst="rect">
            <a:avLst/>
          </a:prstGeom>
          <a:noFill/>
          <a:ln>
            <a:noFill/>
          </a:ln>
        </p:spPr>
      </p:pic>
      <p:sp>
        <p:nvSpPr>
          <p:cNvPr id="835" name="Google Shape;835;p47"/>
          <p:cNvSpPr txBox="1"/>
          <p:nvPr/>
        </p:nvSpPr>
        <p:spPr>
          <a:xfrm>
            <a:off x="252508" y="3421319"/>
            <a:ext cx="12624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Landmark factor</a:t>
            </a:r>
            <a:endParaRPr b="1" sz="1200">
              <a:solidFill>
                <a:srgbClr val="193364"/>
              </a:solidFill>
            </a:endParaRPr>
          </a:p>
        </p:txBody>
      </p:sp>
      <p:sp>
        <p:nvSpPr>
          <p:cNvPr id="836" name="Google Shape;836;p47"/>
          <p:cNvSpPr txBox="1"/>
          <p:nvPr/>
        </p:nvSpPr>
        <p:spPr>
          <a:xfrm>
            <a:off x="1270947" y="1741419"/>
            <a:ext cx="12624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Odometry factor</a:t>
            </a:r>
            <a:endParaRPr b="1" sz="1200">
              <a:solidFill>
                <a:srgbClr val="193364"/>
              </a:solidFill>
            </a:endParaRPr>
          </a:p>
        </p:txBody>
      </p:sp>
      <p:sp>
        <p:nvSpPr>
          <p:cNvPr id="837" name="Google Shape;837;p47"/>
          <p:cNvSpPr txBox="1"/>
          <p:nvPr/>
        </p:nvSpPr>
        <p:spPr>
          <a:xfrm>
            <a:off x="2228649" y="3935200"/>
            <a:ext cx="13902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Landmark 1</a:t>
            </a:r>
            <a:endParaRPr b="1" sz="1200">
              <a:solidFill>
                <a:srgbClr val="193364"/>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48"/>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843" name="Google Shape;843;p48"/>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The SLAM problem (t = 1)</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grpSp>
        <p:nvGrpSpPr>
          <p:cNvPr id="844" name="Google Shape;844;p48"/>
          <p:cNvGrpSpPr/>
          <p:nvPr/>
        </p:nvGrpSpPr>
        <p:grpSpPr>
          <a:xfrm>
            <a:off x="1095318" y="4449088"/>
            <a:ext cx="712880" cy="694332"/>
            <a:chOff x="1095318" y="4449088"/>
            <a:chExt cx="712880" cy="694332"/>
          </a:xfrm>
        </p:grpSpPr>
        <p:sp>
          <p:nvSpPr>
            <p:cNvPr id="845" name="Google Shape;845;p48"/>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846" name="Google Shape;846;p48"/>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847" name="Google Shape;847;p48"/>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848" name="Google Shape;848;p48"/>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pic>
        <p:nvPicPr>
          <p:cNvPr id="849" name="Google Shape;849;p48" title="ChatGPT Image Apr 19, 2026, 12_37_01 PM.png"/>
          <p:cNvPicPr preferRelativeResize="0"/>
          <p:nvPr/>
        </p:nvPicPr>
        <p:blipFill rotWithShape="1">
          <a:blip r:embed="rId4">
            <a:alphaModFix/>
          </a:blip>
          <a:srcRect b="39849" l="14168" r="52065" t="5750"/>
          <a:stretch/>
        </p:blipFill>
        <p:spPr>
          <a:xfrm>
            <a:off x="410497" y="1851886"/>
            <a:ext cx="1168650" cy="1255224"/>
          </a:xfrm>
          <a:prstGeom prst="rect">
            <a:avLst/>
          </a:prstGeom>
          <a:noFill/>
          <a:ln>
            <a:noFill/>
          </a:ln>
        </p:spPr>
      </p:pic>
      <p:pic>
        <p:nvPicPr>
          <p:cNvPr id="850" name="Google Shape;850;p48" title="ChatGPT Image Apr 19, 2026, 12_37_01 PM.png"/>
          <p:cNvPicPr preferRelativeResize="0"/>
          <p:nvPr/>
        </p:nvPicPr>
        <p:blipFill rotWithShape="1">
          <a:blip r:embed="rId5">
            <a:alphaModFix/>
          </a:blip>
          <a:srcRect b="39849" l="14168" r="52065" t="5750"/>
          <a:stretch/>
        </p:blipFill>
        <p:spPr>
          <a:xfrm>
            <a:off x="2224335" y="1851886"/>
            <a:ext cx="1168650" cy="1255224"/>
          </a:xfrm>
          <a:prstGeom prst="rect">
            <a:avLst/>
          </a:prstGeom>
          <a:noFill/>
          <a:ln>
            <a:noFill/>
          </a:ln>
        </p:spPr>
      </p:pic>
      <p:cxnSp>
        <p:nvCxnSpPr>
          <p:cNvPr id="851" name="Google Shape;851;p48"/>
          <p:cNvCxnSpPr>
            <a:endCxn id="850" idx="1"/>
          </p:cNvCxnSpPr>
          <p:nvPr/>
        </p:nvCxnSpPr>
        <p:spPr>
          <a:xfrm flipH="1" rot="10800000">
            <a:off x="1579935" y="2479498"/>
            <a:ext cx="644400" cy="9300"/>
          </a:xfrm>
          <a:prstGeom prst="straightConnector1">
            <a:avLst/>
          </a:prstGeom>
          <a:noFill/>
          <a:ln cap="flat" cmpd="sng" w="9525">
            <a:solidFill>
              <a:srgbClr val="193364"/>
            </a:solidFill>
            <a:prstDash val="solid"/>
            <a:round/>
            <a:headEnd len="med" w="med" type="none"/>
            <a:tailEnd len="med" w="med" type="none"/>
          </a:ln>
        </p:spPr>
      </p:cxnSp>
      <p:pic>
        <p:nvPicPr>
          <p:cNvPr id="852" name="Google Shape;852;p48" title="ChatGPT Image Apr 19, 2026, 12_37_01 PM.png"/>
          <p:cNvPicPr preferRelativeResize="0"/>
          <p:nvPr/>
        </p:nvPicPr>
        <p:blipFill rotWithShape="1">
          <a:blip r:embed="rId5">
            <a:alphaModFix/>
          </a:blip>
          <a:srcRect b="4835" l="13703" r="52529" t="61190"/>
          <a:stretch/>
        </p:blipFill>
        <p:spPr>
          <a:xfrm>
            <a:off x="1317822" y="3343636"/>
            <a:ext cx="1168650" cy="783900"/>
          </a:xfrm>
          <a:prstGeom prst="rect">
            <a:avLst/>
          </a:prstGeom>
          <a:noFill/>
          <a:ln>
            <a:noFill/>
          </a:ln>
        </p:spPr>
      </p:pic>
      <p:cxnSp>
        <p:nvCxnSpPr>
          <p:cNvPr id="853" name="Google Shape;853;p48"/>
          <p:cNvCxnSpPr>
            <a:stCxn id="849" idx="2"/>
            <a:endCxn id="852" idx="1"/>
          </p:cNvCxnSpPr>
          <p:nvPr/>
        </p:nvCxnSpPr>
        <p:spPr>
          <a:xfrm>
            <a:off x="994823" y="3107110"/>
            <a:ext cx="323100" cy="628500"/>
          </a:xfrm>
          <a:prstGeom prst="straightConnector1">
            <a:avLst/>
          </a:prstGeom>
          <a:noFill/>
          <a:ln cap="flat" cmpd="sng" w="9525">
            <a:solidFill>
              <a:srgbClr val="193364"/>
            </a:solidFill>
            <a:prstDash val="solid"/>
            <a:round/>
            <a:headEnd len="med" w="med" type="none"/>
            <a:tailEnd len="med" w="med" type="none"/>
          </a:ln>
        </p:spPr>
      </p:cxnSp>
      <p:cxnSp>
        <p:nvCxnSpPr>
          <p:cNvPr id="854" name="Google Shape;854;p48"/>
          <p:cNvCxnSpPr>
            <a:stCxn id="850" idx="2"/>
            <a:endCxn id="852" idx="3"/>
          </p:cNvCxnSpPr>
          <p:nvPr/>
        </p:nvCxnSpPr>
        <p:spPr>
          <a:xfrm flipH="1">
            <a:off x="2486460" y="3107110"/>
            <a:ext cx="322200" cy="628500"/>
          </a:xfrm>
          <a:prstGeom prst="straightConnector1">
            <a:avLst/>
          </a:prstGeom>
          <a:noFill/>
          <a:ln cap="flat" cmpd="sng" w="9525">
            <a:solidFill>
              <a:srgbClr val="193364"/>
            </a:solidFill>
            <a:prstDash val="solid"/>
            <a:round/>
            <a:headEnd len="med" w="med" type="none"/>
            <a:tailEnd len="med" w="med" type="none"/>
          </a:ln>
        </p:spPr>
      </p:cxnSp>
      <p:pic>
        <p:nvPicPr>
          <p:cNvPr id="855" name="Google Shape;855;p48" title="ChatGPT Image Apr 19, 2026, 12_43_28 PM.png"/>
          <p:cNvPicPr preferRelativeResize="0"/>
          <p:nvPr/>
        </p:nvPicPr>
        <p:blipFill rotWithShape="1">
          <a:blip r:embed="rId6">
            <a:alphaModFix/>
          </a:blip>
          <a:srcRect b="49904" l="69632" r="4094" t="5239"/>
          <a:stretch/>
        </p:blipFill>
        <p:spPr>
          <a:xfrm>
            <a:off x="4147172" y="3311186"/>
            <a:ext cx="864100" cy="983501"/>
          </a:xfrm>
          <a:prstGeom prst="rect">
            <a:avLst/>
          </a:prstGeom>
          <a:noFill/>
          <a:ln>
            <a:noFill/>
          </a:ln>
        </p:spPr>
      </p:pic>
      <p:cxnSp>
        <p:nvCxnSpPr>
          <p:cNvPr id="856" name="Google Shape;856;p48"/>
          <p:cNvCxnSpPr>
            <a:stCxn id="850" idx="2"/>
            <a:endCxn id="855" idx="1"/>
          </p:cNvCxnSpPr>
          <p:nvPr/>
        </p:nvCxnSpPr>
        <p:spPr>
          <a:xfrm>
            <a:off x="2808660" y="3107110"/>
            <a:ext cx="1338600" cy="695700"/>
          </a:xfrm>
          <a:prstGeom prst="straightConnector1">
            <a:avLst/>
          </a:prstGeom>
          <a:noFill/>
          <a:ln cap="flat" cmpd="sng" w="9525">
            <a:solidFill>
              <a:srgbClr val="193364"/>
            </a:solidFill>
            <a:prstDash val="solid"/>
            <a:round/>
            <a:headEnd len="med" w="med" type="none"/>
            <a:tailEnd len="med" w="med" type="none"/>
          </a:ln>
        </p:spPr>
      </p:cxnSp>
      <p:sp>
        <p:nvSpPr>
          <p:cNvPr id="857" name="Google Shape;857;p48"/>
          <p:cNvSpPr/>
          <p:nvPr/>
        </p:nvSpPr>
        <p:spPr>
          <a:xfrm>
            <a:off x="1872139" y="24422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8" name="Google Shape;858;p48"/>
          <p:cNvSpPr/>
          <p:nvPr/>
        </p:nvSpPr>
        <p:spPr>
          <a:xfrm>
            <a:off x="1120364" y="3385361"/>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9" name="Google Shape;859;p48"/>
          <p:cNvSpPr/>
          <p:nvPr/>
        </p:nvSpPr>
        <p:spPr>
          <a:xfrm>
            <a:off x="2611564" y="3385361"/>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0" name="Google Shape;860;p48"/>
          <p:cNvSpPr/>
          <p:nvPr/>
        </p:nvSpPr>
        <p:spPr>
          <a:xfrm>
            <a:off x="3485564" y="34358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61" name="Google Shape;861;p48" title="{&quot;red&quot;:89,&quot;green&quot;:89,&quot;blue&quot;:89,&quot;origURL&quot;:&quot;https://www.codecogs.com/eqnedit.php?latex=u_1#0&quot;,&quot;size&quot;:18,&quot;width&quot;:154.86614173228347,&quot;height&quot;:152.2204724409449}"/>
          <p:cNvPicPr preferRelativeResize="0"/>
          <p:nvPr/>
        </p:nvPicPr>
        <p:blipFill>
          <a:blip r:embed="rId7">
            <a:alphaModFix/>
          </a:blip>
          <a:stretch>
            <a:fillRect/>
          </a:stretch>
        </p:blipFill>
        <p:spPr>
          <a:xfrm>
            <a:off x="1795447" y="2251586"/>
            <a:ext cx="212598" cy="152590"/>
          </a:xfrm>
          <a:prstGeom prst="rect">
            <a:avLst/>
          </a:prstGeom>
          <a:noFill/>
          <a:ln>
            <a:noFill/>
          </a:ln>
        </p:spPr>
      </p:pic>
      <p:pic>
        <p:nvPicPr>
          <p:cNvPr id="862" name="Google Shape;862;p48" title="{&quot;red&quot;:89,&quot;green&quot;:89,&quot;blue&quot;:89,&quot;origURL&quot;:&quot;https://www.codecogs.com/eqnedit.php?latex=m_1#0&quot;,&quot;size&quot;:18,&quot;width&quot;:154.86614173228347,&quot;height&quot;:152.2204724409449}"/>
          <p:cNvPicPr preferRelativeResize="0"/>
          <p:nvPr/>
        </p:nvPicPr>
        <p:blipFill>
          <a:blip r:embed="rId8">
            <a:alphaModFix/>
          </a:blip>
          <a:stretch>
            <a:fillRect/>
          </a:stretch>
        </p:blipFill>
        <p:spPr>
          <a:xfrm>
            <a:off x="1251847" y="3267336"/>
            <a:ext cx="289751" cy="152590"/>
          </a:xfrm>
          <a:prstGeom prst="rect">
            <a:avLst/>
          </a:prstGeom>
          <a:noFill/>
          <a:ln>
            <a:noFill/>
          </a:ln>
        </p:spPr>
      </p:pic>
      <p:pic>
        <p:nvPicPr>
          <p:cNvPr id="863" name="Google Shape;863;p48" title="{&quot;red&quot;:89,&quot;green&quot;:89,&quot;blue&quot;:89,&quot;origURL&quot;:&quot;https://www.codecogs.com/eqnedit.php?latex=m_2#0&quot;,&quot;size&quot;:18,&quot;width&quot;:154.86614173228347,&quot;height&quot;:152.2204724409449}"/>
          <p:cNvPicPr preferRelativeResize="0"/>
          <p:nvPr/>
        </p:nvPicPr>
        <p:blipFill>
          <a:blip r:embed="rId9">
            <a:alphaModFix/>
          </a:blip>
          <a:stretch>
            <a:fillRect/>
          </a:stretch>
        </p:blipFill>
        <p:spPr>
          <a:xfrm>
            <a:off x="2228647" y="3267336"/>
            <a:ext cx="294894" cy="152590"/>
          </a:xfrm>
          <a:prstGeom prst="rect">
            <a:avLst/>
          </a:prstGeom>
          <a:noFill/>
          <a:ln>
            <a:noFill/>
          </a:ln>
        </p:spPr>
      </p:pic>
      <p:pic>
        <p:nvPicPr>
          <p:cNvPr id="864" name="Google Shape;864;p48" title="{&quot;red&quot;:89,&quot;green&quot;:89,&quot;blue&quot;:89,&quot;origURL&quot;:&quot;https://www.codecogs.com/eqnedit.php?latex=m_3#0&quot;,&quot;size&quot;:18,&quot;width&quot;:154.86614173228347,&quot;height&quot;:152.2204724409449}"/>
          <p:cNvPicPr preferRelativeResize="0"/>
          <p:nvPr/>
        </p:nvPicPr>
        <p:blipFill>
          <a:blip r:embed="rId10">
            <a:alphaModFix/>
          </a:blip>
          <a:stretch>
            <a:fillRect/>
          </a:stretch>
        </p:blipFill>
        <p:spPr>
          <a:xfrm>
            <a:off x="3559822" y="3265623"/>
            <a:ext cx="296608" cy="156019"/>
          </a:xfrm>
          <a:prstGeom prst="rect">
            <a:avLst/>
          </a:prstGeom>
          <a:noFill/>
          <a:ln>
            <a:noFill/>
          </a:ln>
        </p:spPr>
      </p:pic>
      <p:sp>
        <p:nvSpPr>
          <p:cNvPr id="865" name="Google Shape;865;p48"/>
          <p:cNvSpPr txBox="1"/>
          <p:nvPr/>
        </p:nvSpPr>
        <p:spPr>
          <a:xfrm>
            <a:off x="252508" y="3421319"/>
            <a:ext cx="12624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Landmark factor</a:t>
            </a:r>
            <a:endParaRPr b="1" sz="1200">
              <a:solidFill>
                <a:srgbClr val="193364"/>
              </a:solidFill>
            </a:endParaRPr>
          </a:p>
        </p:txBody>
      </p:sp>
      <p:sp>
        <p:nvSpPr>
          <p:cNvPr id="866" name="Google Shape;866;p48"/>
          <p:cNvSpPr txBox="1"/>
          <p:nvPr/>
        </p:nvSpPr>
        <p:spPr>
          <a:xfrm>
            <a:off x="1270947" y="1741419"/>
            <a:ext cx="12624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Odometry factor</a:t>
            </a:r>
            <a:endParaRPr b="1" sz="1200">
              <a:solidFill>
                <a:srgbClr val="193364"/>
              </a:solidFill>
            </a:endParaRPr>
          </a:p>
        </p:txBody>
      </p:sp>
      <p:sp>
        <p:nvSpPr>
          <p:cNvPr id="867" name="Google Shape;867;p48"/>
          <p:cNvSpPr txBox="1"/>
          <p:nvPr/>
        </p:nvSpPr>
        <p:spPr>
          <a:xfrm>
            <a:off x="2228649" y="3935200"/>
            <a:ext cx="13902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Landmark 1</a:t>
            </a:r>
            <a:endParaRPr b="1" sz="1200">
              <a:solidFill>
                <a:srgbClr val="193364"/>
              </a:solidFill>
            </a:endParaRPr>
          </a:p>
        </p:txBody>
      </p:sp>
      <p:sp>
        <p:nvSpPr>
          <p:cNvPr id="868" name="Google Shape;868;p48"/>
          <p:cNvSpPr txBox="1"/>
          <p:nvPr/>
        </p:nvSpPr>
        <p:spPr>
          <a:xfrm>
            <a:off x="4834249" y="3935200"/>
            <a:ext cx="13902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Landmark 2</a:t>
            </a:r>
            <a:endParaRPr b="1" sz="1200">
              <a:solidFill>
                <a:srgbClr val="193364"/>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p49"/>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874" name="Google Shape;874;p49"/>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The SLAM problem (t = …)</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grpSp>
        <p:nvGrpSpPr>
          <p:cNvPr id="875" name="Google Shape;875;p49"/>
          <p:cNvGrpSpPr/>
          <p:nvPr/>
        </p:nvGrpSpPr>
        <p:grpSpPr>
          <a:xfrm>
            <a:off x="1095318" y="4449088"/>
            <a:ext cx="712880" cy="694332"/>
            <a:chOff x="1095318" y="4449088"/>
            <a:chExt cx="712880" cy="694332"/>
          </a:xfrm>
        </p:grpSpPr>
        <p:sp>
          <p:nvSpPr>
            <p:cNvPr id="876" name="Google Shape;876;p49"/>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877" name="Google Shape;877;p49"/>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878" name="Google Shape;878;p49"/>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879" name="Google Shape;879;p49"/>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pic>
        <p:nvPicPr>
          <p:cNvPr id="880" name="Google Shape;880;p49" title="ChatGPT Image Apr 19, 2026, 12_37_01 PM.png"/>
          <p:cNvPicPr preferRelativeResize="0"/>
          <p:nvPr/>
        </p:nvPicPr>
        <p:blipFill rotWithShape="1">
          <a:blip r:embed="rId4">
            <a:alphaModFix/>
          </a:blip>
          <a:srcRect b="39849" l="14168" r="52065" t="5750"/>
          <a:stretch/>
        </p:blipFill>
        <p:spPr>
          <a:xfrm>
            <a:off x="410497" y="1851886"/>
            <a:ext cx="1168650" cy="1255224"/>
          </a:xfrm>
          <a:prstGeom prst="rect">
            <a:avLst/>
          </a:prstGeom>
          <a:noFill/>
          <a:ln>
            <a:noFill/>
          </a:ln>
        </p:spPr>
      </p:pic>
      <p:pic>
        <p:nvPicPr>
          <p:cNvPr id="881" name="Google Shape;881;p49" title="ChatGPT Image Apr 19, 2026, 12_37_01 PM.png"/>
          <p:cNvPicPr preferRelativeResize="0"/>
          <p:nvPr/>
        </p:nvPicPr>
        <p:blipFill rotWithShape="1">
          <a:blip r:embed="rId4">
            <a:alphaModFix/>
          </a:blip>
          <a:srcRect b="39849" l="14168" r="52065" t="5750"/>
          <a:stretch/>
        </p:blipFill>
        <p:spPr>
          <a:xfrm>
            <a:off x="2224335" y="1851886"/>
            <a:ext cx="1168650" cy="1255224"/>
          </a:xfrm>
          <a:prstGeom prst="rect">
            <a:avLst/>
          </a:prstGeom>
          <a:noFill/>
          <a:ln>
            <a:noFill/>
          </a:ln>
        </p:spPr>
      </p:pic>
      <p:cxnSp>
        <p:nvCxnSpPr>
          <p:cNvPr id="882" name="Google Shape;882;p49"/>
          <p:cNvCxnSpPr>
            <a:endCxn id="881" idx="1"/>
          </p:cNvCxnSpPr>
          <p:nvPr/>
        </p:nvCxnSpPr>
        <p:spPr>
          <a:xfrm flipH="1" rot="10800000">
            <a:off x="1579935" y="2479498"/>
            <a:ext cx="644400" cy="9300"/>
          </a:xfrm>
          <a:prstGeom prst="straightConnector1">
            <a:avLst/>
          </a:prstGeom>
          <a:noFill/>
          <a:ln cap="flat" cmpd="sng" w="9525">
            <a:solidFill>
              <a:srgbClr val="193364"/>
            </a:solidFill>
            <a:prstDash val="solid"/>
            <a:round/>
            <a:headEnd len="med" w="med" type="none"/>
            <a:tailEnd len="med" w="med" type="none"/>
          </a:ln>
        </p:spPr>
      </p:cxnSp>
      <p:cxnSp>
        <p:nvCxnSpPr>
          <p:cNvPr id="883" name="Google Shape;883;p49"/>
          <p:cNvCxnSpPr>
            <a:stCxn id="881" idx="3"/>
            <a:endCxn id="884" idx="1"/>
          </p:cNvCxnSpPr>
          <p:nvPr/>
        </p:nvCxnSpPr>
        <p:spPr>
          <a:xfrm>
            <a:off x="3392985" y="2479498"/>
            <a:ext cx="645300" cy="4500"/>
          </a:xfrm>
          <a:prstGeom prst="straightConnector1">
            <a:avLst/>
          </a:prstGeom>
          <a:noFill/>
          <a:ln cap="flat" cmpd="sng" w="9525">
            <a:solidFill>
              <a:srgbClr val="193364"/>
            </a:solidFill>
            <a:prstDash val="solid"/>
            <a:round/>
            <a:headEnd len="med" w="med" type="none"/>
            <a:tailEnd len="med" w="med" type="none"/>
          </a:ln>
        </p:spPr>
      </p:cxnSp>
      <p:pic>
        <p:nvPicPr>
          <p:cNvPr id="885" name="Google Shape;885;p49" title="ChatGPT Image Apr 19, 2026, 12_37_01 PM.png"/>
          <p:cNvPicPr preferRelativeResize="0"/>
          <p:nvPr/>
        </p:nvPicPr>
        <p:blipFill rotWithShape="1">
          <a:blip r:embed="rId5">
            <a:alphaModFix/>
          </a:blip>
          <a:srcRect b="4835" l="13703" r="52529" t="61190"/>
          <a:stretch/>
        </p:blipFill>
        <p:spPr>
          <a:xfrm>
            <a:off x="1317822" y="3343636"/>
            <a:ext cx="1168650" cy="783900"/>
          </a:xfrm>
          <a:prstGeom prst="rect">
            <a:avLst/>
          </a:prstGeom>
          <a:noFill/>
          <a:ln>
            <a:noFill/>
          </a:ln>
        </p:spPr>
      </p:pic>
      <p:cxnSp>
        <p:nvCxnSpPr>
          <p:cNvPr id="886" name="Google Shape;886;p49"/>
          <p:cNvCxnSpPr>
            <a:stCxn id="880" idx="2"/>
            <a:endCxn id="885" idx="1"/>
          </p:cNvCxnSpPr>
          <p:nvPr/>
        </p:nvCxnSpPr>
        <p:spPr>
          <a:xfrm>
            <a:off x="994823" y="3107110"/>
            <a:ext cx="323100" cy="628500"/>
          </a:xfrm>
          <a:prstGeom prst="straightConnector1">
            <a:avLst/>
          </a:prstGeom>
          <a:noFill/>
          <a:ln cap="flat" cmpd="sng" w="9525">
            <a:solidFill>
              <a:srgbClr val="193364"/>
            </a:solidFill>
            <a:prstDash val="solid"/>
            <a:round/>
            <a:headEnd len="med" w="med" type="none"/>
            <a:tailEnd len="med" w="med" type="none"/>
          </a:ln>
        </p:spPr>
      </p:cxnSp>
      <p:cxnSp>
        <p:nvCxnSpPr>
          <p:cNvPr id="887" name="Google Shape;887;p49"/>
          <p:cNvCxnSpPr>
            <a:stCxn id="881" idx="2"/>
            <a:endCxn id="885" idx="3"/>
          </p:cNvCxnSpPr>
          <p:nvPr/>
        </p:nvCxnSpPr>
        <p:spPr>
          <a:xfrm flipH="1">
            <a:off x="2486460" y="3107110"/>
            <a:ext cx="322200" cy="628500"/>
          </a:xfrm>
          <a:prstGeom prst="straightConnector1">
            <a:avLst/>
          </a:prstGeom>
          <a:noFill/>
          <a:ln cap="flat" cmpd="sng" w="9525">
            <a:solidFill>
              <a:srgbClr val="193364"/>
            </a:solidFill>
            <a:prstDash val="solid"/>
            <a:round/>
            <a:headEnd len="med" w="med" type="none"/>
            <a:tailEnd len="med" w="med" type="none"/>
          </a:ln>
        </p:spPr>
      </p:cxnSp>
      <p:pic>
        <p:nvPicPr>
          <p:cNvPr id="888" name="Google Shape;888;p49" title="ChatGPT Image Apr 19, 2026, 12_43_28 PM.png"/>
          <p:cNvPicPr preferRelativeResize="0"/>
          <p:nvPr/>
        </p:nvPicPr>
        <p:blipFill rotWithShape="1">
          <a:blip r:embed="rId6">
            <a:alphaModFix/>
          </a:blip>
          <a:srcRect b="49904" l="69632" r="4094" t="5239"/>
          <a:stretch/>
        </p:blipFill>
        <p:spPr>
          <a:xfrm>
            <a:off x="4147172" y="3311186"/>
            <a:ext cx="864100" cy="983501"/>
          </a:xfrm>
          <a:prstGeom prst="rect">
            <a:avLst/>
          </a:prstGeom>
          <a:noFill/>
          <a:ln>
            <a:noFill/>
          </a:ln>
        </p:spPr>
      </p:pic>
      <p:cxnSp>
        <p:nvCxnSpPr>
          <p:cNvPr id="889" name="Google Shape;889;p49"/>
          <p:cNvCxnSpPr>
            <a:stCxn id="881" idx="2"/>
            <a:endCxn id="888" idx="1"/>
          </p:cNvCxnSpPr>
          <p:nvPr/>
        </p:nvCxnSpPr>
        <p:spPr>
          <a:xfrm>
            <a:off x="2808660" y="3107110"/>
            <a:ext cx="1338600" cy="695700"/>
          </a:xfrm>
          <a:prstGeom prst="straightConnector1">
            <a:avLst/>
          </a:prstGeom>
          <a:noFill/>
          <a:ln cap="flat" cmpd="sng" w="9525">
            <a:solidFill>
              <a:srgbClr val="193364"/>
            </a:solidFill>
            <a:prstDash val="solid"/>
            <a:round/>
            <a:headEnd len="med" w="med" type="none"/>
            <a:tailEnd len="med" w="med" type="none"/>
          </a:ln>
        </p:spPr>
      </p:cxnSp>
      <p:sp>
        <p:nvSpPr>
          <p:cNvPr id="890" name="Google Shape;890;p49"/>
          <p:cNvSpPr/>
          <p:nvPr/>
        </p:nvSpPr>
        <p:spPr>
          <a:xfrm>
            <a:off x="1872139" y="24422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1" name="Google Shape;891;p49"/>
          <p:cNvSpPr/>
          <p:nvPr/>
        </p:nvSpPr>
        <p:spPr>
          <a:xfrm>
            <a:off x="3672111" y="24422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2" name="Google Shape;892;p49"/>
          <p:cNvSpPr/>
          <p:nvPr/>
        </p:nvSpPr>
        <p:spPr>
          <a:xfrm>
            <a:off x="1120364" y="3385361"/>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3" name="Google Shape;893;p49"/>
          <p:cNvSpPr/>
          <p:nvPr/>
        </p:nvSpPr>
        <p:spPr>
          <a:xfrm>
            <a:off x="2611564" y="3385361"/>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4" name="Google Shape;894;p49"/>
          <p:cNvSpPr/>
          <p:nvPr/>
        </p:nvSpPr>
        <p:spPr>
          <a:xfrm>
            <a:off x="3485564" y="34358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5" name="Google Shape;895;p49"/>
          <p:cNvSpPr/>
          <p:nvPr/>
        </p:nvSpPr>
        <p:spPr>
          <a:xfrm>
            <a:off x="4463861" y="2442286"/>
            <a:ext cx="36000" cy="36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6" name="Google Shape;896;p49"/>
          <p:cNvSpPr/>
          <p:nvPr/>
        </p:nvSpPr>
        <p:spPr>
          <a:xfrm>
            <a:off x="4616261" y="2442286"/>
            <a:ext cx="36000" cy="36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7" name="Google Shape;897;p49"/>
          <p:cNvSpPr/>
          <p:nvPr/>
        </p:nvSpPr>
        <p:spPr>
          <a:xfrm>
            <a:off x="4768661" y="2442286"/>
            <a:ext cx="36000" cy="36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98" name="Google Shape;898;p49" title="{&quot;red&quot;:89,&quot;green&quot;:89,&quot;blue&quot;:89,&quot;origURL&quot;:&quot;https://www.codecogs.com/eqnedit.php?latex=u_1#0&quot;,&quot;size&quot;:18,&quot;width&quot;:154.86614173228347,&quot;height&quot;:152.2204724409449}"/>
          <p:cNvPicPr preferRelativeResize="0"/>
          <p:nvPr/>
        </p:nvPicPr>
        <p:blipFill>
          <a:blip r:embed="rId7">
            <a:alphaModFix/>
          </a:blip>
          <a:stretch>
            <a:fillRect/>
          </a:stretch>
        </p:blipFill>
        <p:spPr>
          <a:xfrm>
            <a:off x="1795447" y="2251586"/>
            <a:ext cx="212598" cy="152590"/>
          </a:xfrm>
          <a:prstGeom prst="rect">
            <a:avLst/>
          </a:prstGeom>
          <a:noFill/>
          <a:ln>
            <a:noFill/>
          </a:ln>
        </p:spPr>
      </p:pic>
      <p:pic>
        <p:nvPicPr>
          <p:cNvPr id="899" name="Google Shape;899;p49" title="{&quot;red&quot;:89,&quot;green&quot;:89,&quot;blue&quot;:89,&quot;origURL&quot;:&quot;https://www.codecogs.com/eqnedit.php?latex=m_1#0&quot;,&quot;size&quot;:18,&quot;width&quot;:154.86614173228347,&quot;height&quot;:152.2204724409449}"/>
          <p:cNvPicPr preferRelativeResize="0"/>
          <p:nvPr/>
        </p:nvPicPr>
        <p:blipFill>
          <a:blip r:embed="rId8">
            <a:alphaModFix/>
          </a:blip>
          <a:stretch>
            <a:fillRect/>
          </a:stretch>
        </p:blipFill>
        <p:spPr>
          <a:xfrm>
            <a:off x="1251847" y="3267336"/>
            <a:ext cx="289751" cy="152590"/>
          </a:xfrm>
          <a:prstGeom prst="rect">
            <a:avLst/>
          </a:prstGeom>
          <a:noFill/>
          <a:ln>
            <a:noFill/>
          </a:ln>
        </p:spPr>
      </p:pic>
      <p:pic>
        <p:nvPicPr>
          <p:cNvPr id="900" name="Google Shape;900;p49" title="{&quot;red&quot;:89,&quot;green&quot;:89,&quot;blue&quot;:89,&quot;origURL&quot;:&quot;https://www.codecogs.com/eqnedit.php?latex=m_2#0&quot;,&quot;size&quot;:18,&quot;width&quot;:154.86614173228347,&quot;height&quot;:152.2204724409449}"/>
          <p:cNvPicPr preferRelativeResize="0"/>
          <p:nvPr/>
        </p:nvPicPr>
        <p:blipFill>
          <a:blip r:embed="rId9">
            <a:alphaModFix/>
          </a:blip>
          <a:stretch>
            <a:fillRect/>
          </a:stretch>
        </p:blipFill>
        <p:spPr>
          <a:xfrm>
            <a:off x="2228647" y="3267336"/>
            <a:ext cx="294894" cy="152590"/>
          </a:xfrm>
          <a:prstGeom prst="rect">
            <a:avLst/>
          </a:prstGeom>
          <a:noFill/>
          <a:ln>
            <a:noFill/>
          </a:ln>
        </p:spPr>
      </p:pic>
      <p:pic>
        <p:nvPicPr>
          <p:cNvPr id="901" name="Google Shape;901;p49" title="{&quot;red&quot;:89,&quot;green&quot;:89,&quot;blue&quot;:89,&quot;origURL&quot;:&quot;https://www.codecogs.com/eqnedit.php?latex=m_3#0&quot;,&quot;size&quot;:18,&quot;width&quot;:154.86614173228347,&quot;height&quot;:152.2204724409449}"/>
          <p:cNvPicPr preferRelativeResize="0"/>
          <p:nvPr/>
        </p:nvPicPr>
        <p:blipFill>
          <a:blip r:embed="rId10">
            <a:alphaModFix/>
          </a:blip>
          <a:stretch>
            <a:fillRect/>
          </a:stretch>
        </p:blipFill>
        <p:spPr>
          <a:xfrm>
            <a:off x="3559822" y="3265623"/>
            <a:ext cx="296608" cy="156019"/>
          </a:xfrm>
          <a:prstGeom prst="rect">
            <a:avLst/>
          </a:prstGeom>
          <a:noFill/>
          <a:ln>
            <a:noFill/>
          </a:ln>
        </p:spPr>
      </p:pic>
      <p:sp>
        <p:nvSpPr>
          <p:cNvPr id="902" name="Google Shape;902;p49"/>
          <p:cNvSpPr txBox="1"/>
          <p:nvPr/>
        </p:nvSpPr>
        <p:spPr>
          <a:xfrm>
            <a:off x="252508" y="3421319"/>
            <a:ext cx="12624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Landmark factor</a:t>
            </a:r>
            <a:endParaRPr b="1" sz="1200">
              <a:solidFill>
                <a:srgbClr val="193364"/>
              </a:solidFill>
            </a:endParaRPr>
          </a:p>
        </p:txBody>
      </p:sp>
      <p:sp>
        <p:nvSpPr>
          <p:cNvPr id="903" name="Google Shape;903;p49"/>
          <p:cNvSpPr txBox="1"/>
          <p:nvPr/>
        </p:nvSpPr>
        <p:spPr>
          <a:xfrm>
            <a:off x="1270947" y="1741419"/>
            <a:ext cx="12624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Odometry factor</a:t>
            </a:r>
            <a:endParaRPr b="1" sz="1200">
              <a:solidFill>
                <a:srgbClr val="193364"/>
              </a:solidFill>
            </a:endParaRPr>
          </a:p>
        </p:txBody>
      </p:sp>
      <p:sp>
        <p:nvSpPr>
          <p:cNvPr id="904" name="Google Shape;904;p49"/>
          <p:cNvSpPr txBox="1"/>
          <p:nvPr/>
        </p:nvSpPr>
        <p:spPr>
          <a:xfrm>
            <a:off x="2228649" y="3935200"/>
            <a:ext cx="13902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Landmark 1</a:t>
            </a:r>
            <a:endParaRPr b="1" sz="1200">
              <a:solidFill>
                <a:srgbClr val="193364"/>
              </a:solidFill>
            </a:endParaRPr>
          </a:p>
        </p:txBody>
      </p:sp>
      <p:sp>
        <p:nvSpPr>
          <p:cNvPr id="905" name="Google Shape;905;p49"/>
          <p:cNvSpPr txBox="1"/>
          <p:nvPr/>
        </p:nvSpPr>
        <p:spPr>
          <a:xfrm>
            <a:off x="4834249" y="3935200"/>
            <a:ext cx="13902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Landmark 2</a:t>
            </a:r>
            <a:endParaRPr b="1" sz="1200">
              <a:solidFill>
                <a:srgbClr val="193364"/>
              </a:solidFill>
            </a:endParaRPr>
          </a:p>
        </p:txBody>
      </p:sp>
      <p:pic>
        <p:nvPicPr>
          <p:cNvPr id="906" name="Google Shape;906;p49" title="{&quot;red&quot;:89,&quot;green&quot;:89,&quot;blue&quot;:89,&quot;origURL&quot;:&quot;https://www.codecogs.com/eqnedit.php?latex=u2#0&quot;,&quot;size&quot;:18,&quot;width&quot;:179.64566929133858,&quot;height&quot;:126.89763779527559}"/>
          <p:cNvPicPr preferRelativeResize="0"/>
          <p:nvPr/>
        </p:nvPicPr>
        <p:blipFill>
          <a:blip r:embed="rId11">
            <a:alphaModFix/>
          </a:blip>
          <a:stretch>
            <a:fillRect/>
          </a:stretch>
        </p:blipFill>
        <p:spPr>
          <a:xfrm>
            <a:off x="3591275" y="2195300"/>
            <a:ext cx="248603" cy="1714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50"/>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912" name="Google Shape;912;p50"/>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The SLAM problem (t = n-1)</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grpSp>
        <p:nvGrpSpPr>
          <p:cNvPr id="913" name="Google Shape;913;p50"/>
          <p:cNvGrpSpPr/>
          <p:nvPr/>
        </p:nvGrpSpPr>
        <p:grpSpPr>
          <a:xfrm>
            <a:off x="1095318" y="4449088"/>
            <a:ext cx="712880" cy="694332"/>
            <a:chOff x="1095318" y="4449088"/>
            <a:chExt cx="712880" cy="694332"/>
          </a:xfrm>
        </p:grpSpPr>
        <p:sp>
          <p:nvSpPr>
            <p:cNvPr id="914" name="Google Shape;914;p50"/>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915" name="Google Shape;915;p50"/>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916" name="Google Shape;916;p50"/>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917" name="Google Shape;917;p50"/>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pic>
        <p:nvPicPr>
          <p:cNvPr id="918" name="Google Shape;918;p50" title="ChatGPT Image Apr 19, 2026, 12_37_01 PM.png"/>
          <p:cNvPicPr preferRelativeResize="0"/>
          <p:nvPr/>
        </p:nvPicPr>
        <p:blipFill rotWithShape="1">
          <a:blip r:embed="rId4">
            <a:alphaModFix/>
          </a:blip>
          <a:srcRect b="39849" l="14168" r="52065" t="5750"/>
          <a:stretch/>
        </p:blipFill>
        <p:spPr>
          <a:xfrm>
            <a:off x="410497" y="1851886"/>
            <a:ext cx="1168650" cy="1255224"/>
          </a:xfrm>
          <a:prstGeom prst="rect">
            <a:avLst/>
          </a:prstGeom>
          <a:noFill/>
          <a:ln>
            <a:noFill/>
          </a:ln>
        </p:spPr>
      </p:pic>
      <p:pic>
        <p:nvPicPr>
          <p:cNvPr id="919" name="Google Shape;919;p50" title="ChatGPT Image Apr 19, 2026, 12_37_01 PM.png"/>
          <p:cNvPicPr preferRelativeResize="0"/>
          <p:nvPr/>
        </p:nvPicPr>
        <p:blipFill rotWithShape="1">
          <a:blip r:embed="rId5">
            <a:alphaModFix/>
          </a:blip>
          <a:srcRect b="39849" l="14168" r="52065" t="5750"/>
          <a:stretch/>
        </p:blipFill>
        <p:spPr>
          <a:xfrm>
            <a:off x="5852010" y="1851886"/>
            <a:ext cx="1168650" cy="1255224"/>
          </a:xfrm>
          <a:prstGeom prst="rect">
            <a:avLst/>
          </a:prstGeom>
          <a:noFill/>
          <a:ln>
            <a:noFill/>
          </a:ln>
        </p:spPr>
      </p:pic>
      <p:pic>
        <p:nvPicPr>
          <p:cNvPr id="920" name="Google Shape;920;p50" title="ChatGPT Image Apr 19, 2026, 12_37_01 PM.png"/>
          <p:cNvPicPr preferRelativeResize="0"/>
          <p:nvPr/>
        </p:nvPicPr>
        <p:blipFill rotWithShape="1">
          <a:blip r:embed="rId4">
            <a:alphaModFix/>
          </a:blip>
          <a:srcRect b="39849" l="14168" r="52065" t="5750"/>
          <a:stretch/>
        </p:blipFill>
        <p:spPr>
          <a:xfrm>
            <a:off x="2224335" y="1851886"/>
            <a:ext cx="1168650" cy="1255224"/>
          </a:xfrm>
          <a:prstGeom prst="rect">
            <a:avLst/>
          </a:prstGeom>
          <a:noFill/>
          <a:ln>
            <a:noFill/>
          </a:ln>
        </p:spPr>
      </p:pic>
      <p:cxnSp>
        <p:nvCxnSpPr>
          <p:cNvPr id="921" name="Google Shape;921;p50"/>
          <p:cNvCxnSpPr>
            <a:endCxn id="920" idx="1"/>
          </p:cNvCxnSpPr>
          <p:nvPr/>
        </p:nvCxnSpPr>
        <p:spPr>
          <a:xfrm flipH="1" rot="10800000">
            <a:off x="1579935" y="2479498"/>
            <a:ext cx="644400" cy="9300"/>
          </a:xfrm>
          <a:prstGeom prst="straightConnector1">
            <a:avLst/>
          </a:prstGeom>
          <a:noFill/>
          <a:ln cap="flat" cmpd="sng" w="9525">
            <a:solidFill>
              <a:srgbClr val="193364"/>
            </a:solidFill>
            <a:prstDash val="solid"/>
            <a:round/>
            <a:headEnd len="med" w="med" type="none"/>
            <a:tailEnd len="med" w="med" type="none"/>
          </a:ln>
        </p:spPr>
      </p:cxnSp>
      <p:cxnSp>
        <p:nvCxnSpPr>
          <p:cNvPr id="922" name="Google Shape;922;p50"/>
          <p:cNvCxnSpPr>
            <a:stCxn id="920" idx="3"/>
            <a:endCxn id="923" idx="1"/>
          </p:cNvCxnSpPr>
          <p:nvPr/>
        </p:nvCxnSpPr>
        <p:spPr>
          <a:xfrm>
            <a:off x="3392985" y="2479498"/>
            <a:ext cx="645300" cy="4500"/>
          </a:xfrm>
          <a:prstGeom prst="straightConnector1">
            <a:avLst/>
          </a:prstGeom>
          <a:noFill/>
          <a:ln cap="flat" cmpd="sng" w="9525">
            <a:solidFill>
              <a:srgbClr val="193364"/>
            </a:solidFill>
            <a:prstDash val="solid"/>
            <a:round/>
            <a:headEnd len="med" w="med" type="none"/>
            <a:tailEnd len="med" w="med" type="none"/>
          </a:ln>
        </p:spPr>
      </p:cxnSp>
      <p:cxnSp>
        <p:nvCxnSpPr>
          <p:cNvPr id="924" name="Google Shape;924;p50"/>
          <p:cNvCxnSpPr>
            <a:stCxn id="923" idx="3"/>
            <a:endCxn id="919" idx="1"/>
          </p:cNvCxnSpPr>
          <p:nvPr/>
        </p:nvCxnSpPr>
        <p:spPr>
          <a:xfrm flipH="1" rot="10800000">
            <a:off x="5206710" y="2479498"/>
            <a:ext cx="645300" cy="4500"/>
          </a:xfrm>
          <a:prstGeom prst="straightConnector1">
            <a:avLst/>
          </a:prstGeom>
          <a:noFill/>
          <a:ln cap="flat" cmpd="sng" w="9525">
            <a:solidFill>
              <a:srgbClr val="193364"/>
            </a:solidFill>
            <a:prstDash val="solid"/>
            <a:round/>
            <a:headEnd len="med" w="med" type="none"/>
            <a:tailEnd len="med" w="med" type="none"/>
          </a:ln>
        </p:spPr>
      </p:cxnSp>
      <p:pic>
        <p:nvPicPr>
          <p:cNvPr id="925" name="Google Shape;925;p50" title="ChatGPT Image Apr 19, 2026, 12_37_01 PM.png"/>
          <p:cNvPicPr preferRelativeResize="0"/>
          <p:nvPr/>
        </p:nvPicPr>
        <p:blipFill rotWithShape="1">
          <a:blip r:embed="rId5">
            <a:alphaModFix/>
          </a:blip>
          <a:srcRect b="4835" l="13703" r="52529" t="61190"/>
          <a:stretch/>
        </p:blipFill>
        <p:spPr>
          <a:xfrm>
            <a:off x="1317822" y="3343636"/>
            <a:ext cx="1168650" cy="783900"/>
          </a:xfrm>
          <a:prstGeom prst="rect">
            <a:avLst/>
          </a:prstGeom>
          <a:noFill/>
          <a:ln>
            <a:noFill/>
          </a:ln>
        </p:spPr>
      </p:pic>
      <p:cxnSp>
        <p:nvCxnSpPr>
          <p:cNvPr id="926" name="Google Shape;926;p50"/>
          <p:cNvCxnSpPr>
            <a:stCxn id="918" idx="2"/>
            <a:endCxn id="925" idx="1"/>
          </p:cNvCxnSpPr>
          <p:nvPr/>
        </p:nvCxnSpPr>
        <p:spPr>
          <a:xfrm>
            <a:off x="994823" y="3107110"/>
            <a:ext cx="323100" cy="628500"/>
          </a:xfrm>
          <a:prstGeom prst="straightConnector1">
            <a:avLst/>
          </a:prstGeom>
          <a:noFill/>
          <a:ln cap="flat" cmpd="sng" w="9525">
            <a:solidFill>
              <a:srgbClr val="193364"/>
            </a:solidFill>
            <a:prstDash val="solid"/>
            <a:round/>
            <a:headEnd len="med" w="med" type="none"/>
            <a:tailEnd len="med" w="med" type="none"/>
          </a:ln>
        </p:spPr>
      </p:cxnSp>
      <p:cxnSp>
        <p:nvCxnSpPr>
          <p:cNvPr id="927" name="Google Shape;927;p50"/>
          <p:cNvCxnSpPr>
            <a:stCxn id="920" idx="2"/>
            <a:endCxn id="925" idx="3"/>
          </p:cNvCxnSpPr>
          <p:nvPr/>
        </p:nvCxnSpPr>
        <p:spPr>
          <a:xfrm flipH="1">
            <a:off x="2486460" y="3107110"/>
            <a:ext cx="322200" cy="628500"/>
          </a:xfrm>
          <a:prstGeom prst="straightConnector1">
            <a:avLst/>
          </a:prstGeom>
          <a:noFill/>
          <a:ln cap="flat" cmpd="sng" w="9525">
            <a:solidFill>
              <a:srgbClr val="193364"/>
            </a:solidFill>
            <a:prstDash val="solid"/>
            <a:round/>
            <a:headEnd len="med" w="med" type="none"/>
            <a:tailEnd len="med" w="med" type="none"/>
          </a:ln>
        </p:spPr>
      </p:cxnSp>
      <p:pic>
        <p:nvPicPr>
          <p:cNvPr id="928" name="Google Shape;928;p50" title="ChatGPT Image Apr 19, 2026, 12_43_28 PM.png"/>
          <p:cNvPicPr preferRelativeResize="0"/>
          <p:nvPr/>
        </p:nvPicPr>
        <p:blipFill rotWithShape="1">
          <a:blip r:embed="rId6">
            <a:alphaModFix/>
          </a:blip>
          <a:srcRect b="49904" l="69632" r="4094" t="5239"/>
          <a:stretch/>
        </p:blipFill>
        <p:spPr>
          <a:xfrm>
            <a:off x="4147172" y="3311186"/>
            <a:ext cx="864100" cy="983501"/>
          </a:xfrm>
          <a:prstGeom prst="rect">
            <a:avLst/>
          </a:prstGeom>
          <a:noFill/>
          <a:ln>
            <a:noFill/>
          </a:ln>
        </p:spPr>
      </p:pic>
      <p:cxnSp>
        <p:nvCxnSpPr>
          <p:cNvPr id="929" name="Google Shape;929;p50"/>
          <p:cNvCxnSpPr>
            <a:stCxn id="920" idx="2"/>
            <a:endCxn id="928" idx="1"/>
          </p:cNvCxnSpPr>
          <p:nvPr/>
        </p:nvCxnSpPr>
        <p:spPr>
          <a:xfrm>
            <a:off x="2808660" y="3107110"/>
            <a:ext cx="1338600" cy="695700"/>
          </a:xfrm>
          <a:prstGeom prst="straightConnector1">
            <a:avLst/>
          </a:prstGeom>
          <a:noFill/>
          <a:ln cap="flat" cmpd="sng" w="9525">
            <a:solidFill>
              <a:srgbClr val="193364"/>
            </a:solidFill>
            <a:prstDash val="solid"/>
            <a:round/>
            <a:headEnd len="med" w="med" type="none"/>
            <a:tailEnd len="med" w="med" type="none"/>
          </a:ln>
        </p:spPr>
      </p:cxnSp>
      <p:sp>
        <p:nvSpPr>
          <p:cNvPr id="930" name="Google Shape;930;p50"/>
          <p:cNvSpPr/>
          <p:nvPr/>
        </p:nvSpPr>
        <p:spPr>
          <a:xfrm>
            <a:off x="1872139" y="24422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1" name="Google Shape;931;p50"/>
          <p:cNvSpPr/>
          <p:nvPr/>
        </p:nvSpPr>
        <p:spPr>
          <a:xfrm>
            <a:off x="3672111" y="24422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2" name="Google Shape;932;p50"/>
          <p:cNvSpPr/>
          <p:nvPr/>
        </p:nvSpPr>
        <p:spPr>
          <a:xfrm>
            <a:off x="5493753" y="24422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3" name="Google Shape;933;p50"/>
          <p:cNvSpPr/>
          <p:nvPr/>
        </p:nvSpPr>
        <p:spPr>
          <a:xfrm>
            <a:off x="1120364" y="3385361"/>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4" name="Google Shape;934;p50"/>
          <p:cNvSpPr/>
          <p:nvPr/>
        </p:nvSpPr>
        <p:spPr>
          <a:xfrm>
            <a:off x="2611564" y="3385361"/>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5" name="Google Shape;935;p50"/>
          <p:cNvSpPr/>
          <p:nvPr/>
        </p:nvSpPr>
        <p:spPr>
          <a:xfrm>
            <a:off x="3485564" y="34358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6" name="Google Shape;936;p50"/>
          <p:cNvSpPr/>
          <p:nvPr/>
        </p:nvSpPr>
        <p:spPr>
          <a:xfrm>
            <a:off x="4463861" y="2442286"/>
            <a:ext cx="36000" cy="36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7" name="Google Shape;937;p50"/>
          <p:cNvSpPr/>
          <p:nvPr/>
        </p:nvSpPr>
        <p:spPr>
          <a:xfrm>
            <a:off x="4616261" y="2442286"/>
            <a:ext cx="36000" cy="36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8" name="Google Shape;938;p50"/>
          <p:cNvSpPr/>
          <p:nvPr/>
        </p:nvSpPr>
        <p:spPr>
          <a:xfrm>
            <a:off x="4768661" y="2442286"/>
            <a:ext cx="36000" cy="36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39" name="Google Shape;939;p50" title="{&quot;red&quot;:89,&quot;green&quot;:89,&quot;blue&quot;:89,&quot;origURL&quot;:&quot;https://www.codecogs.com/eqnedit.php?latex=u_1#0&quot;,&quot;size&quot;:18,&quot;width&quot;:154.86614173228347,&quot;height&quot;:152.2204724409449}"/>
          <p:cNvPicPr preferRelativeResize="0"/>
          <p:nvPr/>
        </p:nvPicPr>
        <p:blipFill>
          <a:blip r:embed="rId7">
            <a:alphaModFix/>
          </a:blip>
          <a:stretch>
            <a:fillRect/>
          </a:stretch>
        </p:blipFill>
        <p:spPr>
          <a:xfrm>
            <a:off x="1795447" y="2251586"/>
            <a:ext cx="212598" cy="152590"/>
          </a:xfrm>
          <a:prstGeom prst="rect">
            <a:avLst/>
          </a:prstGeom>
          <a:noFill/>
          <a:ln>
            <a:noFill/>
          </a:ln>
        </p:spPr>
      </p:pic>
      <p:pic>
        <p:nvPicPr>
          <p:cNvPr id="940" name="Google Shape;940;p50" title="{&quot;red&quot;:89,&quot;green&quot;:89,&quot;blue&quot;:89,&quot;origURL&quot;:&quot;https://www.codecogs.com/eqnedit.php?latex=m_1#0&quot;,&quot;size&quot;:18,&quot;width&quot;:154.86614173228347,&quot;height&quot;:152.2204724409449}"/>
          <p:cNvPicPr preferRelativeResize="0"/>
          <p:nvPr/>
        </p:nvPicPr>
        <p:blipFill>
          <a:blip r:embed="rId8">
            <a:alphaModFix/>
          </a:blip>
          <a:stretch>
            <a:fillRect/>
          </a:stretch>
        </p:blipFill>
        <p:spPr>
          <a:xfrm>
            <a:off x="1251847" y="3267336"/>
            <a:ext cx="289751" cy="152590"/>
          </a:xfrm>
          <a:prstGeom prst="rect">
            <a:avLst/>
          </a:prstGeom>
          <a:noFill/>
          <a:ln>
            <a:noFill/>
          </a:ln>
        </p:spPr>
      </p:pic>
      <p:pic>
        <p:nvPicPr>
          <p:cNvPr id="941" name="Google Shape;941;p50" title="{&quot;red&quot;:89,&quot;green&quot;:89,&quot;blue&quot;:89,&quot;origURL&quot;:&quot;https://www.codecogs.com/eqnedit.php?latex=m_2#0&quot;,&quot;size&quot;:18,&quot;width&quot;:154.86614173228347,&quot;height&quot;:152.2204724409449}"/>
          <p:cNvPicPr preferRelativeResize="0"/>
          <p:nvPr/>
        </p:nvPicPr>
        <p:blipFill>
          <a:blip r:embed="rId9">
            <a:alphaModFix/>
          </a:blip>
          <a:stretch>
            <a:fillRect/>
          </a:stretch>
        </p:blipFill>
        <p:spPr>
          <a:xfrm>
            <a:off x="2228647" y="3267336"/>
            <a:ext cx="294894" cy="152590"/>
          </a:xfrm>
          <a:prstGeom prst="rect">
            <a:avLst/>
          </a:prstGeom>
          <a:noFill/>
          <a:ln>
            <a:noFill/>
          </a:ln>
        </p:spPr>
      </p:pic>
      <p:pic>
        <p:nvPicPr>
          <p:cNvPr id="942" name="Google Shape;942;p50" title="{&quot;red&quot;:89,&quot;green&quot;:89,&quot;blue&quot;:89,&quot;origURL&quot;:&quot;https://www.codecogs.com/eqnedit.php?latex=m_3#0&quot;,&quot;size&quot;:18,&quot;width&quot;:154.86614173228347,&quot;height&quot;:152.2204724409449}"/>
          <p:cNvPicPr preferRelativeResize="0"/>
          <p:nvPr/>
        </p:nvPicPr>
        <p:blipFill>
          <a:blip r:embed="rId10">
            <a:alphaModFix/>
          </a:blip>
          <a:stretch>
            <a:fillRect/>
          </a:stretch>
        </p:blipFill>
        <p:spPr>
          <a:xfrm>
            <a:off x="3559822" y="3265623"/>
            <a:ext cx="296608" cy="156019"/>
          </a:xfrm>
          <a:prstGeom prst="rect">
            <a:avLst/>
          </a:prstGeom>
          <a:noFill/>
          <a:ln>
            <a:noFill/>
          </a:ln>
        </p:spPr>
      </p:pic>
      <p:sp>
        <p:nvSpPr>
          <p:cNvPr id="943" name="Google Shape;943;p50"/>
          <p:cNvSpPr txBox="1"/>
          <p:nvPr/>
        </p:nvSpPr>
        <p:spPr>
          <a:xfrm>
            <a:off x="252508" y="3421319"/>
            <a:ext cx="12624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Landmark factor</a:t>
            </a:r>
            <a:endParaRPr b="1" sz="1200">
              <a:solidFill>
                <a:srgbClr val="193364"/>
              </a:solidFill>
            </a:endParaRPr>
          </a:p>
        </p:txBody>
      </p:sp>
      <p:sp>
        <p:nvSpPr>
          <p:cNvPr id="944" name="Google Shape;944;p50"/>
          <p:cNvSpPr txBox="1"/>
          <p:nvPr/>
        </p:nvSpPr>
        <p:spPr>
          <a:xfrm>
            <a:off x="1270947" y="1741419"/>
            <a:ext cx="12624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Odometry factor</a:t>
            </a:r>
            <a:endParaRPr b="1" sz="1200">
              <a:solidFill>
                <a:srgbClr val="193364"/>
              </a:solidFill>
            </a:endParaRPr>
          </a:p>
        </p:txBody>
      </p:sp>
      <p:sp>
        <p:nvSpPr>
          <p:cNvPr id="945" name="Google Shape;945;p50"/>
          <p:cNvSpPr txBox="1"/>
          <p:nvPr/>
        </p:nvSpPr>
        <p:spPr>
          <a:xfrm>
            <a:off x="2228649" y="3935200"/>
            <a:ext cx="13902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Landmark 1</a:t>
            </a:r>
            <a:endParaRPr b="1" sz="1200">
              <a:solidFill>
                <a:srgbClr val="193364"/>
              </a:solidFill>
            </a:endParaRPr>
          </a:p>
        </p:txBody>
      </p:sp>
      <p:sp>
        <p:nvSpPr>
          <p:cNvPr id="946" name="Google Shape;946;p50"/>
          <p:cNvSpPr txBox="1"/>
          <p:nvPr/>
        </p:nvSpPr>
        <p:spPr>
          <a:xfrm>
            <a:off x="4834249" y="3935200"/>
            <a:ext cx="13902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Landmark 2</a:t>
            </a:r>
            <a:endParaRPr b="1" sz="1200">
              <a:solidFill>
                <a:srgbClr val="193364"/>
              </a:solidFill>
            </a:endParaRPr>
          </a:p>
        </p:txBody>
      </p:sp>
      <p:pic>
        <p:nvPicPr>
          <p:cNvPr id="947" name="Google Shape;947;p50" title="{&quot;red&quot;:89,&quot;green&quot;:89,&quot;blue&quot;:89,&quot;origURL&quot;:&quot;https://www.codecogs.com/eqnedit.php?latex=u2#0&quot;,&quot;size&quot;:18,&quot;width&quot;:179.64566929133858,&quot;height&quot;:126.89763779527559}"/>
          <p:cNvPicPr preferRelativeResize="0"/>
          <p:nvPr/>
        </p:nvPicPr>
        <p:blipFill>
          <a:blip r:embed="rId11">
            <a:alphaModFix/>
          </a:blip>
          <a:stretch>
            <a:fillRect/>
          </a:stretch>
        </p:blipFill>
        <p:spPr>
          <a:xfrm>
            <a:off x="3591275" y="2195300"/>
            <a:ext cx="248603" cy="171450"/>
          </a:xfrm>
          <a:prstGeom prst="rect">
            <a:avLst/>
          </a:prstGeom>
          <a:noFill/>
          <a:ln>
            <a:noFill/>
          </a:ln>
        </p:spPr>
      </p:pic>
      <p:pic>
        <p:nvPicPr>
          <p:cNvPr id="948" name="Google Shape;948;p50" title="{&quot;red&quot;:89,&quot;green&quot;:89,&quot;blue&quot;:89,&quot;origURL&quot;:&quot;https://www.codecogs.com/eqnedit.php?latex=u_%7Bn-1%7D#0&quot;,&quot;size&quot;:18,&quot;width&quot;:179.64566929133858,&quot;height&quot;:126.89763779527559}"/>
          <p:cNvPicPr preferRelativeResize="0"/>
          <p:nvPr/>
        </p:nvPicPr>
        <p:blipFill>
          <a:blip r:embed="rId12">
            <a:alphaModFix/>
          </a:blip>
          <a:stretch>
            <a:fillRect/>
          </a:stretch>
        </p:blipFill>
        <p:spPr>
          <a:xfrm>
            <a:off x="5300100" y="2229850"/>
            <a:ext cx="462915" cy="15430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51"/>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954" name="Google Shape;954;p51"/>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The SLAM problem (t = n-1)</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grpSp>
        <p:nvGrpSpPr>
          <p:cNvPr id="955" name="Google Shape;955;p51"/>
          <p:cNvGrpSpPr/>
          <p:nvPr/>
        </p:nvGrpSpPr>
        <p:grpSpPr>
          <a:xfrm>
            <a:off x="1095318" y="4449088"/>
            <a:ext cx="712880" cy="694332"/>
            <a:chOff x="1095318" y="4449088"/>
            <a:chExt cx="712880" cy="694332"/>
          </a:xfrm>
        </p:grpSpPr>
        <p:sp>
          <p:nvSpPr>
            <p:cNvPr id="956" name="Google Shape;956;p51"/>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957" name="Google Shape;957;p51"/>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958" name="Google Shape;958;p51"/>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959" name="Google Shape;959;p51"/>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pic>
        <p:nvPicPr>
          <p:cNvPr id="960" name="Google Shape;960;p51" title="ChatGPT Image Apr 19, 2026, 12_37_01 PM.png"/>
          <p:cNvPicPr preferRelativeResize="0"/>
          <p:nvPr/>
        </p:nvPicPr>
        <p:blipFill rotWithShape="1">
          <a:blip r:embed="rId4">
            <a:alphaModFix/>
          </a:blip>
          <a:srcRect b="39849" l="14168" r="52065" t="5750"/>
          <a:stretch/>
        </p:blipFill>
        <p:spPr>
          <a:xfrm>
            <a:off x="410497" y="1851886"/>
            <a:ext cx="1168650" cy="1255224"/>
          </a:xfrm>
          <a:prstGeom prst="rect">
            <a:avLst/>
          </a:prstGeom>
          <a:noFill/>
          <a:ln>
            <a:noFill/>
          </a:ln>
        </p:spPr>
      </p:pic>
      <p:pic>
        <p:nvPicPr>
          <p:cNvPr id="961" name="Google Shape;961;p51" title="ChatGPT Image Apr 19, 2026, 12_37_01 PM.png"/>
          <p:cNvPicPr preferRelativeResize="0"/>
          <p:nvPr/>
        </p:nvPicPr>
        <p:blipFill rotWithShape="1">
          <a:blip r:embed="rId5">
            <a:alphaModFix/>
          </a:blip>
          <a:srcRect b="39849" l="14168" r="52065" t="5750"/>
          <a:stretch/>
        </p:blipFill>
        <p:spPr>
          <a:xfrm>
            <a:off x="5852010" y="1851886"/>
            <a:ext cx="1168650" cy="1255224"/>
          </a:xfrm>
          <a:prstGeom prst="rect">
            <a:avLst/>
          </a:prstGeom>
          <a:noFill/>
          <a:ln>
            <a:noFill/>
          </a:ln>
        </p:spPr>
      </p:pic>
      <p:pic>
        <p:nvPicPr>
          <p:cNvPr id="962" name="Google Shape;962;p51" title="ChatGPT Image Apr 19, 2026, 12_37_01 PM.png"/>
          <p:cNvPicPr preferRelativeResize="0"/>
          <p:nvPr/>
        </p:nvPicPr>
        <p:blipFill rotWithShape="1">
          <a:blip r:embed="rId4">
            <a:alphaModFix/>
          </a:blip>
          <a:srcRect b="39849" l="14168" r="52065" t="5750"/>
          <a:stretch/>
        </p:blipFill>
        <p:spPr>
          <a:xfrm>
            <a:off x="2224335" y="1851886"/>
            <a:ext cx="1168650" cy="1255224"/>
          </a:xfrm>
          <a:prstGeom prst="rect">
            <a:avLst/>
          </a:prstGeom>
          <a:noFill/>
          <a:ln>
            <a:noFill/>
          </a:ln>
        </p:spPr>
      </p:pic>
      <p:cxnSp>
        <p:nvCxnSpPr>
          <p:cNvPr id="963" name="Google Shape;963;p51"/>
          <p:cNvCxnSpPr>
            <a:endCxn id="962" idx="1"/>
          </p:cNvCxnSpPr>
          <p:nvPr/>
        </p:nvCxnSpPr>
        <p:spPr>
          <a:xfrm flipH="1" rot="10800000">
            <a:off x="1579935" y="2479498"/>
            <a:ext cx="644400" cy="9300"/>
          </a:xfrm>
          <a:prstGeom prst="straightConnector1">
            <a:avLst/>
          </a:prstGeom>
          <a:noFill/>
          <a:ln cap="flat" cmpd="sng" w="9525">
            <a:solidFill>
              <a:srgbClr val="193364"/>
            </a:solidFill>
            <a:prstDash val="solid"/>
            <a:round/>
            <a:headEnd len="med" w="med" type="none"/>
            <a:tailEnd len="med" w="med" type="none"/>
          </a:ln>
        </p:spPr>
      </p:cxnSp>
      <p:cxnSp>
        <p:nvCxnSpPr>
          <p:cNvPr id="964" name="Google Shape;964;p51"/>
          <p:cNvCxnSpPr>
            <a:stCxn id="962" idx="3"/>
            <a:endCxn id="965" idx="1"/>
          </p:cNvCxnSpPr>
          <p:nvPr/>
        </p:nvCxnSpPr>
        <p:spPr>
          <a:xfrm>
            <a:off x="3392985" y="2479498"/>
            <a:ext cx="645300" cy="4500"/>
          </a:xfrm>
          <a:prstGeom prst="straightConnector1">
            <a:avLst/>
          </a:prstGeom>
          <a:noFill/>
          <a:ln cap="flat" cmpd="sng" w="9525">
            <a:solidFill>
              <a:srgbClr val="193364"/>
            </a:solidFill>
            <a:prstDash val="solid"/>
            <a:round/>
            <a:headEnd len="med" w="med" type="none"/>
            <a:tailEnd len="med" w="med" type="none"/>
          </a:ln>
        </p:spPr>
      </p:cxnSp>
      <p:cxnSp>
        <p:nvCxnSpPr>
          <p:cNvPr id="966" name="Google Shape;966;p51"/>
          <p:cNvCxnSpPr>
            <a:stCxn id="965" idx="3"/>
            <a:endCxn id="961" idx="1"/>
          </p:cNvCxnSpPr>
          <p:nvPr/>
        </p:nvCxnSpPr>
        <p:spPr>
          <a:xfrm flipH="1" rot="10800000">
            <a:off x="5206710" y="2479498"/>
            <a:ext cx="645300" cy="4500"/>
          </a:xfrm>
          <a:prstGeom prst="straightConnector1">
            <a:avLst/>
          </a:prstGeom>
          <a:noFill/>
          <a:ln cap="flat" cmpd="sng" w="9525">
            <a:solidFill>
              <a:srgbClr val="193364"/>
            </a:solidFill>
            <a:prstDash val="solid"/>
            <a:round/>
            <a:headEnd len="med" w="med" type="none"/>
            <a:tailEnd len="med" w="med" type="none"/>
          </a:ln>
        </p:spPr>
      </p:cxnSp>
      <p:pic>
        <p:nvPicPr>
          <p:cNvPr id="967" name="Google Shape;967;p51" title="ChatGPT Image Apr 19, 2026, 12_37_01 PM.png"/>
          <p:cNvPicPr preferRelativeResize="0"/>
          <p:nvPr/>
        </p:nvPicPr>
        <p:blipFill rotWithShape="1">
          <a:blip r:embed="rId5">
            <a:alphaModFix/>
          </a:blip>
          <a:srcRect b="4835" l="13703" r="52529" t="61190"/>
          <a:stretch/>
        </p:blipFill>
        <p:spPr>
          <a:xfrm>
            <a:off x="1317822" y="3343636"/>
            <a:ext cx="1168650" cy="783900"/>
          </a:xfrm>
          <a:prstGeom prst="rect">
            <a:avLst/>
          </a:prstGeom>
          <a:noFill/>
          <a:ln>
            <a:noFill/>
          </a:ln>
        </p:spPr>
      </p:pic>
      <p:cxnSp>
        <p:nvCxnSpPr>
          <p:cNvPr id="968" name="Google Shape;968;p51"/>
          <p:cNvCxnSpPr>
            <a:stCxn id="960" idx="2"/>
            <a:endCxn id="967" idx="1"/>
          </p:cNvCxnSpPr>
          <p:nvPr/>
        </p:nvCxnSpPr>
        <p:spPr>
          <a:xfrm>
            <a:off x="994823" y="3107110"/>
            <a:ext cx="323100" cy="628500"/>
          </a:xfrm>
          <a:prstGeom prst="straightConnector1">
            <a:avLst/>
          </a:prstGeom>
          <a:noFill/>
          <a:ln cap="flat" cmpd="sng" w="9525">
            <a:solidFill>
              <a:srgbClr val="193364"/>
            </a:solidFill>
            <a:prstDash val="solid"/>
            <a:round/>
            <a:headEnd len="med" w="med" type="none"/>
            <a:tailEnd len="med" w="med" type="none"/>
          </a:ln>
        </p:spPr>
      </p:cxnSp>
      <p:cxnSp>
        <p:nvCxnSpPr>
          <p:cNvPr id="969" name="Google Shape;969;p51"/>
          <p:cNvCxnSpPr>
            <a:stCxn id="962" idx="2"/>
            <a:endCxn id="967" idx="3"/>
          </p:cNvCxnSpPr>
          <p:nvPr/>
        </p:nvCxnSpPr>
        <p:spPr>
          <a:xfrm flipH="1">
            <a:off x="2486460" y="3107110"/>
            <a:ext cx="322200" cy="628500"/>
          </a:xfrm>
          <a:prstGeom prst="straightConnector1">
            <a:avLst/>
          </a:prstGeom>
          <a:noFill/>
          <a:ln cap="flat" cmpd="sng" w="9525">
            <a:solidFill>
              <a:srgbClr val="193364"/>
            </a:solidFill>
            <a:prstDash val="solid"/>
            <a:round/>
            <a:headEnd len="med" w="med" type="none"/>
            <a:tailEnd len="med" w="med" type="none"/>
          </a:ln>
        </p:spPr>
      </p:cxnSp>
      <p:pic>
        <p:nvPicPr>
          <p:cNvPr id="970" name="Google Shape;970;p51" title="ChatGPT Image Apr 19, 2026, 12_43_28 PM.png"/>
          <p:cNvPicPr preferRelativeResize="0"/>
          <p:nvPr/>
        </p:nvPicPr>
        <p:blipFill rotWithShape="1">
          <a:blip r:embed="rId6">
            <a:alphaModFix/>
          </a:blip>
          <a:srcRect b="49904" l="69632" r="4094" t="5239"/>
          <a:stretch/>
        </p:blipFill>
        <p:spPr>
          <a:xfrm>
            <a:off x="4147172" y="3311186"/>
            <a:ext cx="864100" cy="983501"/>
          </a:xfrm>
          <a:prstGeom prst="rect">
            <a:avLst/>
          </a:prstGeom>
          <a:noFill/>
          <a:ln>
            <a:noFill/>
          </a:ln>
        </p:spPr>
      </p:pic>
      <p:cxnSp>
        <p:nvCxnSpPr>
          <p:cNvPr id="971" name="Google Shape;971;p51"/>
          <p:cNvCxnSpPr>
            <a:stCxn id="962" idx="2"/>
            <a:endCxn id="970" idx="1"/>
          </p:cNvCxnSpPr>
          <p:nvPr/>
        </p:nvCxnSpPr>
        <p:spPr>
          <a:xfrm>
            <a:off x="2808660" y="3107110"/>
            <a:ext cx="1338600" cy="695700"/>
          </a:xfrm>
          <a:prstGeom prst="straightConnector1">
            <a:avLst/>
          </a:prstGeom>
          <a:noFill/>
          <a:ln cap="flat" cmpd="sng" w="9525">
            <a:solidFill>
              <a:srgbClr val="193364"/>
            </a:solidFill>
            <a:prstDash val="solid"/>
            <a:round/>
            <a:headEnd len="med" w="med" type="none"/>
            <a:tailEnd len="med" w="med" type="none"/>
          </a:ln>
        </p:spPr>
      </p:cxnSp>
      <p:cxnSp>
        <p:nvCxnSpPr>
          <p:cNvPr id="972" name="Google Shape;972;p51"/>
          <p:cNvCxnSpPr>
            <a:stCxn id="970" idx="3"/>
            <a:endCxn id="961" idx="2"/>
          </p:cNvCxnSpPr>
          <p:nvPr/>
        </p:nvCxnSpPr>
        <p:spPr>
          <a:xfrm flipH="1" rot="10800000">
            <a:off x="5011272" y="3107236"/>
            <a:ext cx="1425000" cy="695700"/>
          </a:xfrm>
          <a:prstGeom prst="straightConnector1">
            <a:avLst/>
          </a:prstGeom>
          <a:noFill/>
          <a:ln cap="flat" cmpd="sng" w="9525">
            <a:solidFill>
              <a:srgbClr val="193364"/>
            </a:solidFill>
            <a:prstDash val="solid"/>
            <a:round/>
            <a:headEnd len="med" w="med" type="none"/>
            <a:tailEnd len="med" w="med" type="none"/>
          </a:ln>
        </p:spPr>
      </p:cxnSp>
      <p:sp>
        <p:nvSpPr>
          <p:cNvPr id="973" name="Google Shape;973;p51"/>
          <p:cNvSpPr/>
          <p:nvPr/>
        </p:nvSpPr>
        <p:spPr>
          <a:xfrm>
            <a:off x="1872139" y="24422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4" name="Google Shape;974;p51"/>
          <p:cNvSpPr/>
          <p:nvPr/>
        </p:nvSpPr>
        <p:spPr>
          <a:xfrm>
            <a:off x="3672111" y="24422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5" name="Google Shape;975;p51"/>
          <p:cNvSpPr/>
          <p:nvPr/>
        </p:nvSpPr>
        <p:spPr>
          <a:xfrm>
            <a:off x="5493753" y="24422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6" name="Google Shape;976;p51"/>
          <p:cNvSpPr/>
          <p:nvPr/>
        </p:nvSpPr>
        <p:spPr>
          <a:xfrm>
            <a:off x="1120364" y="3385361"/>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7" name="Google Shape;977;p51"/>
          <p:cNvSpPr/>
          <p:nvPr/>
        </p:nvSpPr>
        <p:spPr>
          <a:xfrm>
            <a:off x="2611564" y="3385361"/>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8" name="Google Shape;978;p51"/>
          <p:cNvSpPr/>
          <p:nvPr/>
        </p:nvSpPr>
        <p:spPr>
          <a:xfrm>
            <a:off x="3485564" y="34358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9" name="Google Shape;979;p51"/>
          <p:cNvSpPr/>
          <p:nvPr/>
        </p:nvSpPr>
        <p:spPr>
          <a:xfrm>
            <a:off x="5687764" y="3418961"/>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0" name="Google Shape;980;p51"/>
          <p:cNvSpPr/>
          <p:nvPr/>
        </p:nvSpPr>
        <p:spPr>
          <a:xfrm>
            <a:off x="4463861" y="2442286"/>
            <a:ext cx="36000" cy="36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1" name="Google Shape;981;p51"/>
          <p:cNvSpPr/>
          <p:nvPr/>
        </p:nvSpPr>
        <p:spPr>
          <a:xfrm>
            <a:off x="4616261" y="2442286"/>
            <a:ext cx="36000" cy="36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2" name="Google Shape;982;p51"/>
          <p:cNvSpPr/>
          <p:nvPr/>
        </p:nvSpPr>
        <p:spPr>
          <a:xfrm>
            <a:off x="4768661" y="2442286"/>
            <a:ext cx="36000" cy="36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83" name="Google Shape;983;p51" title="{&quot;red&quot;:89,&quot;green&quot;:89,&quot;blue&quot;:89,&quot;origURL&quot;:&quot;https://www.codecogs.com/eqnedit.php?latex=u_1#0&quot;,&quot;size&quot;:18,&quot;width&quot;:154.86614173228347,&quot;height&quot;:152.2204724409449}"/>
          <p:cNvPicPr preferRelativeResize="0"/>
          <p:nvPr/>
        </p:nvPicPr>
        <p:blipFill>
          <a:blip r:embed="rId7">
            <a:alphaModFix/>
          </a:blip>
          <a:stretch>
            <a:fillRect/>
          </a:stretch>
        </p:blipFill>
        <p:spPr>
          <a:xfrm>
            <a:off x="1795447" y="2251586"/>
            <a:ext cx="212598" cy="152590"/>
          </a:xfrm>
          <a:prstGeom prst="rect">
            <a:avLst/>
          </a:prstGeom>
          <a:noFill/>
          <a:ln>
            <a:noFill/>
          </a:ln>
        </p:spPr>
      </p:pic>
      <p:pic>
        <p:nvPicPr>
          <p:cNvPr id="984" name="Google Shape;984;p51" title="{&quot;red&quot;:89,&quot;green&quot;:89,&quot;blue&quot;:89,&quot;origURL&quot;:&quot;https://www.codecogs.com/eqnedit.php?latex=m_1#0&quot;,&quot;size&quot;:18,&quot;width&quot;:154.86614173228347,&quot;height&quot;:152.2204724409449}"/>
          <p:cNvPicPr preferRelativeResize="0"/>
          <p:nvPr/>
        </p:nvPicPr>
        <p:blipFill>
          <a:blip r:embed="rId8">
            <a:alphaModFix/>
          </a:blip>
          <a:stretch>
            <a:fillRect/>
          </a:stretch>
        </p:blipFill>
        <p:spPr>
          <a:xfrm>
            <a:off x="1251847" y="3267336"/>
            <a:ext cx="289751" cy="152590"/>
          </a:xfrm>
          <a:prstGeom prst="rect">
            <a:avLst/>
          </a:prstGeom>
          <a:noFill/>
          <a:ln>
            <a:noFill/>
          </a:ln>
        </p:spPr>
      </p:pic>
      <p:pic>
        <p:nvPicPr>
          <p:cNvPr id="985" name="Google Shape;985;p51" title="{&quot;red&quot;:89,&quot;green&quot;:89,&quot;blue&quot;:89,&quot;origURL&quot;:&quot;https://www.codecogs.com/eqnedit.php?latex=m_2#0&quot;,&quot;size&quot;:18,&quot;width&quot;:154.86614173228347,&quot;height&quot;:152.2204724409449}"/>
          <p:cNvPicPr preferRelativeResize="0"/>
          <p:nvPr/>
        </p:nvPicPr>
        <p:blipFill>
          <a:blip r:embed="rId9">
            <a:alphaModFix/>
          </a:blip>
          <a:stretch>
            <a:fillRect/>
          </a:stretch>
        </p:blipFill>
        <p:spPr>
          <a:xfrm>
            <a:off x="2228647" y="3267336"/>
            <a:ext cx="294894" cy="152590"/>
          </a:xfrm>
          <a:prstGeom prst="rect">
            <a:avLst/>
          </a:prstGeom>
          <a:noFill/>
          <a:ln>
            <a:noFill/>
          </a:ln>
        </p:spPr>
      </p:pic>
      <p:pic>
        <p:nvPicPr>
          <p:cNvPr id="986" name="Google Shape;986;p51" title="{&quot;red&quot;:89,&quot;green&quot;:89,&quot;blue&quot;:89,&quot;origURL&quot;:&quot;https://www.codecogs.com/eqnedit.php?latex=m_3#0&quot;,&quot;size&quot;:18,&quot;width&quot;:154.86614173228347,&quot;height&quot;:152.2204724409449}"/>
          <p:cNvPicPr preferRelativeResize="0"/>
          <p:nvPr/>
        </p:nvPicPr>
        <p:blipFill>
          <a:blip r:embed="rId10">
            <a:alphaModFix/>
          </a:blip>
          <a:stretch>
            <a:fillRect/>
          </a:stretch>
        </p:blipFill>
        <p:spPr>
          <a:xfrm>
            <a:off x="3559822" y="3265623"/>
            <a:ext cx="296608" cy="156019"/>
          </a:xfrm>
          <a:prstGeom prst="rect">
            <a:avLst/>
          </a:prstGeom>
          <a:noFill/>
          <a:ln>
            <a:noFill/>
          </a:ln>
        </p:spPr>
      </p:pic>
      <p:sp>
        <p:nvSpPr>
          <p:cNvPr id="987" name="Google Shape;987;p51"/>
          <p:cNvSpPr txBox="1"/>
          <p:nvPr/>
        </p:nvSpPr>
        <p:spPr>
          <a:xfrm>
            <a:off x="252508" y="3421319"/>
            <a:ext cx="12624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Landmark factor</a:t>
            </a:r>
            <a:endParaRPr b="1" sz="1200">
              <a:solidFill>
                <a:srgbClr val="193364"/>
              </a:solidFill>
            </a:endParaRPr>
          </a:p>
        </p:txBody>
      </p:sp>
      <p:sp>
        <p:nvSpPr>
          <p:cNvPr id="988" name="Google Shape;988;p51"/>
          <p:cNvSpPr txBox="1"/>
          <p:nvPr/>
        </p:nvSpPr>
        <p:spPr>
          <a:xfrm>
            <a:off x="1270947" y="1741419"/>
            <a:ext cx="12624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Odometry factor</a:t>
            </a:r>
            <a:endParaRPr b="1" sz="1200">
              <a:solidFill>
                <a:srgbClr val="193364"/>
              </a:solidFill>
            </a:endParaRPr>
          </a:p>
        </p:txBody>
      </p:sp>
      <p:pic>
        <p:nvPicPr>
          <p:cNvPr id="989" name="Google Shape;989;p51" title="ChatGPT Image Apr 19, 2026, 12_37_01 PM.png"/>
          <p:cNvPicPr preferRelativeResize="0"/>
          <p:nvPr/>
        </p:nvPicPr>
        <p:blipFill rotWithShape="1">
          <a:blip r:embed="rId5">
            <a:alphaModFix/>
          </a:blip>
          <a:srcRect b="4835" l="13703" r="52529" t="61190"/>
          <a:stretch/>
        </p:blipFill>
        <p:spPr>
          <a:xfrm>
            <a:off x="6634897" y="3343636"/>
            <a:ext cx="1168650" cy="783900"/>
          </a:xfrm>
          <a:prstGeom prst="rect">
            <a:avLst/>
          </a:prstGeom>
          <a:noFill/>
          <a:ln>
            <a:noFill/>
          </a:ln>
        </p:spPr>
      </p:pic>
      <p:cxnSp>
        <p:nvCxnSpPr>
          <p:cNvPr id="990" name="Google Shape;990;p51"/>
          <p:cNvCxnSpPr>
            <a:stCxn id="989" idx="1"/>
            <a:endCxn id="961" idx="2"/>
          </p:cNvCxnSpPr>
          <p:nvPr/>
        </p:nvCxnSpPr>
        <p:spPr>
          <a:xfrm rot="10800000">
            <a:off x="6436297" y="3107086"/>
            <a:ext cx="198600" cy="628500"/>
          </a:xfrm>
          <a:prstGeom prst="straightConnector1">
            <a:avLst/>
          </a:prstGeom>
          <a:noFill/>
          <a:ln cap="flat" cmpd="sng" w="9525">
            <a:solidFill>
              <a:srgbClr val="193364"/>
            </a:solidFill>
            <a:prstDash val="solid"/>
            <a:round/>
            <a:headEnd len="med" w="med" type="none"/>
            <a:tailEnd len="med" w="med" type="none"/>
          </a:ln>
        </p:spPr>
      </p:cxnSp>
      <p:sp>
        <p:nvSpPr>
          <p:cNvPr id="991" name="Google Shape;991;p51"/>
          <p:cNvSpPr/>
          <p:nvPr/>
        </p:nvSpPr>
        <p:spPr>
          <a:xfrm>
            <a:off x="6499576" y="338533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92" name="Google Shape;992;p51"/>
          <p:cNvSpPr txBox="1"/>
          <p:nvPr/>
        </p:nvSpPr>
        <p:spPr>
          <a:xfrm>
            <a:off x="2228649" y="3935200"/>
            <a:ext cx="13902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Landmark 1</a:t>
            </a:r>
            <a:endParaRPr b="1" sz="1200">
              <a:solidFill>
                <a:srgbClr val="193364"/>
              </a:solidFill>
            </a:endParaRPr>
          </a:p>
        </p:txBody>
      </p:sp>
      <p:sp>
        <p:nvSpPr>
          <p:cNvPr id="993" name="Google Shape;993;p51"/>
          <p:cNvSpPr txBox="1"/>
          <p:nvPr/>
        </p:nvSpPr>
        <p:spPr>
          <a:xfrm>
            <a:off x="4834249" y="3935200"/>
            <a:ext cx="13902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Landmark 2</a:t>
            </a:r>
            <a:endParaRPr b="1" sz="1200">
              <a:solidFill>
                <a:srgbClr val="193364"/>
              </a:solidFill>
            </a:endParaRPr>
          </a:p>
        </p:txBody>
      </p:sp>
      <p:pic>
        <p:nvPicPr>
          <p:cNvPr id="994" name="Google Shape;994;p51" title="{&quot;red&quot;:89,&quot;green&quot;:89,&quot;blue&quot;:89,&quot;origURL&quot;:&quot;https://www.codecogs.com/eqnedit.php?latex=u2#0&quot;,&quot;size&quot;:18,&quot;width&quot;:179.64566929133858,&quot;height&quot;:126.89763779527559}"/>
          <p:cNvPicPr preferRelativeResize="0"/>
          <p:nvPr/>
        </p:nvPicPr>
        <p:blipFill>
          <a:blip r:embed="rId11">
            <a:alphaModFix/>
          </a:blip>
          <a:stretch>
            <a:fillRect/>
          </a:stretch>
        </p:blipFill>
        <p:spPr>
          <a:xfrm>
            <a:off x="3591275" y="2195300"/>
            <a:ext cx="248603" cy="171450"/>
          </a:xfrm>
          <a:prstGeom prst="rect">
            <a:avLst/>
          </a:prstGeom>
          <a:noFill/>
          <a:ln>
            <a:noFill/>
          </a:ln>
        </p:spPr>
      </p:pic>
      <p:pic>
        <p:nvPicPr>
          <p:cNvPr id="995" name="Google Shape;995;p51" title="{&quot;red&quot;:89,&quot;green&quot;:89,&quot;blue&quot;:89,&quot;origURL&quot;:&quot;https://www.codecogs.com/eqnedit.php?latex=u_%7Bn-1%7D#0&quot;,&quot;size&quot;:18,&quot;width&quot;:179.64566929133858,&quot;height&quot;:126.89763779527559}"/>
          <p:cNvPicPr preferRelativeResize="0"/>
          <p:nvPr/>
        </p:nvPicPr>
        <p:blipFill>
          <a:blip r:embed="rId12">
            <a:alphaModFix/>
          </a:blip>
          <a:stretch>
            <a:fillRect/>
          </a:stretch>
        </p:blipFill>
        <p:spPr>
          <a:xfrm>
            <a:off x="5300100" y="2229850"/>
            <a:ext cx="462915" cy="154305"/>
          </a:xfrm>
          <a:prstGeom prst="rect">
            <a:avLst/>
          </a:prstGeom>
          <a:noFill/>
          <a:ln>
            <a:noFill/>
          </a:ln>
        </p:spPr>
      </p:pic>
      <p:pic>
        <p:nvPicPr>
          <p:cNvPr id="996" name="Google Shape;996;p51" title="{&quot;red&quot;:89,&quot;green&quot;:89,&quot;blue&quot;:89,&quot;origURL&quot;:&quot;https://www.codecogs.com/eqnedit.php?latex=m_k#0&quot;,&quot;size&quot;:18,&quot;width&quot;:179.64566929133858,&quot;height&quot;:126.89763779527559}"/>
          <p:cNvPicPr preferRelativeResize="0"/>
          <p:nvPr/>
        </p:nvPicPr>
        <p:blipFill>
          <a:blip r:embed="rId13">
            <a:alphaModFix/>
          </a:blip>
          <a:stretch>
            <a:fillRect/>
          </a:stretch>
        </p:blipFill>
        <p:spPr>
          <a:xfrm>
            <a:off x="6634888" y="3185863"/>
            <a:ext cx="305181" cy="154305"/>
          </a:xfrm>
          <a:prstGeom prst="rect">
            <a:avLst/>
          </a:prstGeom>
          <a:noFill/>
          <a:ln>
            <a:noFill/>
          </a:ln>
        </p:spPr>
      </p:pic>
      <p:pic>
        <p:nvPicPr>
          <p:cNvPr id="997" name="Google Shape;997;p51" title="{&quot;red&quot;:89,&quot;green&quot;:89,&quot;blue&quot;:89,&quot;origURL&quot;:&quot;https://www.codecogs.com/eqnedit.php?latex=m_%7Bk-1%7D#0&quot;,&quot;size&quot;:18,&quot;width&quot;:179.64566929133858,&quot;height&quot;:126.89763779527559}"/>
          <p:cNvPicPr preferRelativeResize="0"/>
          <p:nvPr/>
        </p:nvPicPr>
        <p:blipFill>
          <a:blip r:embed="rId14">
            <a:alphaModFix/>
          </a:blip>
          <a:stretch>
            <a:fillRect/>
          </a:stretch>
        </p:blipFill>
        <p:spPr>
          <a:xfrm>
            <a:off x="5375342" y="3185875"/>
            <a:ext cx="528066" cy="15430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52"/>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003" name="Google Shape;1003;p52"/>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The SLAM problem (t = n-1)</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grpSp>
        <p:nvGrpSpPr>
          <p:cNvPr id="1004" name="Google Shape;1004;p52"/>
          <p:cNvGrpSpPr/>
          <p:nvPr/>
        </p:nvGrpSpPr>
        <p:grpSpPr>
          <a:xfrm>
            <a:off x="1095318" y="4449088"/>
            <a:ext cx="712880" cy="694332"/>
            <a:chOff x="1095318" y="4449088"/>
            <a:chExt cx="712880" cy="694332"/>
          </a:xfrm>
        </p:grpSpPr>
        <p:sp>
          <p:nvSpPr>
            <p:cNvPr id="1005" name="Google Shape;1005;p52"/>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1006" name="Google Shape;1006;p52"/>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1007" name="Google Shape;1007;p52"/>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1008" name="Google Shape;1008;p52"/>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pic>
        <p:nvPicPr>
          <p:cNvPr id="1009" name="Google Shape;1009;p52" title="ChatGPT Image Apr 19, 2026, 12_37_01 PM.png"/>
          <p:cNvPicPr preferRelativeResize="0"/>
          <p:nvPr/>
        </p:nvPicPr>
        <p:blipFill rotWithShape="1">
          <a:blip r:embed="rId4">
            <a:alphaModFix/>
          </a:blip>
          <a:srcRect b="39849" l="14168" r="52065" t="5750"/>
          <a:stretch/>
        </p:blipFill>
        <p:spPr>
          <a:xfrm>
            <a:off x="410497" y="1851886"/>
            <a:ext cx="1168650" cy="1255224"/>
          </a:xfrm>
          <a:prstGeom prst="rect">
            <a:avLst/>
          </a:prstGeom>
          <a:noFill/>
          <a:ln>
            <a:noFill/>
          </a:ln>
        </p:spPr>
      </p:pic>
      <p:pic>
        <p:nvPicPr>
          <p:cNvPr id="1010" name="Google Shape;1010;p52" title="ChatGPT Image Apr 19, 2026, 12_37_01 PM.png"/>
          <p:cNvPicPr preferRelativeResize="0"/>
          <p:nvPr/>
        </p:nvPicPr>
        <p:blipFill rotWithShape="1">
          <a:blip r:embed="rId5">
            <a:alphaModFix/>
          </a:blip>
          <a:srcRect b="39849" l="14168" r="52065" t="5750"/>
          <a:stretch/>
        </p:blipFill>
        <p:spPr>
          <a:xfrm>
            <a:off x="5852010" y="1851886"/>
            <a:ext cx="1168650" cy="1255224"/>
          </a:xfrm>
          <a:prstGeom prst="rect">
            <a:avLst/>
          </a:prstGeom>
          <a:noFill/>
          <a:ln>
            <a:noFill/>
          </a:ln>
        </p:spPr>
      </p:pic>
      <p:pic>
        <p:nvPicPr>
          <p:cNvPr id="1011" name="Google Shape;1011;p52" title="ChatGPT Image Apr 19, 2026, 12_37_01 PM.png"/>
          <p:cNvPicPr preferRelativeResize="0"/>
          <p:nvPr/>
        </p:nvPicPr>
        <p:blipFill rotWithShape="1">
          <a:blip r:embed="rId4">
            <a:alphaModFix/>
          </a:blip>
          <a:srcRect b="39849" l="14168" r="52065" t="5750"/>
          <a:stretch/>
        </p:blipFill>
        <p:spPr>
          <a:xfrm>
            <a:off x="2224335" y="1851886"/>
            <a:ext cx="1168650" cy="1255224"/>
          </a:xfrm>
          <a:prstGeom prst="rect">
            <a:avLst/>
          </a:prstGeom>
          <a:noFill/>
          <a:ln>
            <a:noFill/>
          </a:ln>
        </p:spPr>
      </p:pic>
      <p:cxnSp>
        <p:nvCxnSpPr>
          <p:cNvPr id="1012" name="Google Shape;1012;p52"/>
          <p:cNvCxnSpPr>
            <a:endCxn id="1011" idx="1"/>
          </p:cNvCxnSpPr>
          <p:nvPr/>
        </p:nvCxnSpPr>
        <p:spPr>
          <a:xfrm flipH="1" rot="10800000">
            <a:off x="1579935" y="2479498"/>
            <a:ext cx="644400" cy="9300"/>
          </a:xfrm>
          <a:prstGeom prst="straightConnector1">
            <a:avLst/>
          </a:prstGeom>
          <a:noFill/>
          <a:ln cap="flat" cmpd="sng" w="9525">
            <a:solidFill>
              <a:srgbClr val="193364"/>
            </a:solidFill>
            <a:prstDash val="solid"/>
            <a:round/>
            <a:headEnd len="med" w="med" type="none"/>
            <a:tailEnd len="med" w="med" type="none"/>
          </a:ln>
        </p:spPr>
      </p:cxnSp>
      <p:cxnSp>
        <p:nvCxnSpPr>
          <p:cNvPr id="1013" name="Google Shape;1013;p52"/>
          <p:cNvCxnSpPr>
            <a:stCxn id="1011" idx="3"/>
            <a:endCxn id="1014" idx="1"/>
          </p:cNvCxnSpPr>
          <p:nvPr/>
        </p:nvCxnSpPr>
        <p:spPr>
          <a:xfrm>
            <a:off x="3392985" y="2479498"/>
            <a:ext cx="645300" cy="4500"/>
          </a:xfrm>
          <a:prstGeom prst="straightConnector1">
            <a:avLst/>
          </a:prstGeom>
          <a:noFill/>
          <a:ln cap="flat" cmpd="sng" w="9525">
            <a:solidFill>
              <a:srgbClr val="193364"/>
            </a:solidFill>
            <a:prstDash val="solid"/>
            <a:round/>
            <a:headEnd len="med" w="med" type="none"/>
            <a:tailEnd len="med" w="med" type="none"/>
          </a:ln>
        </p:spPr>
      </p:cxnSp>
      <p:cxnSp>
        <p:nvCxnSpPr>
          <p:cNvPr id="1015" name="Google Shape;1015;p52"/>
          <p:cNvCxnSpPr>
            <a:stCxn id="1014" idx="3"/>
            <a:endCxn id="1010" idx="1"/>
          </p:cNvCxnSpPr>
          <p:nvPr/>
        </p:nvCxnSpPr>
        <p:spPr>
          <a:xfrm flipH="1" rot="10800000">
            <a:off x="5206710" y="2479498"/>
            <a:ext cx="645300" cy="4500"/>
          </a:xfrm>
          <a:prstGeom prst="straightConnector1">
            <a:avLst/>
          </a:prstGeom>
          <a:noFill/>
          <a:ln cap="flat" cmpd="sng" w="9525">
            <a:solidFill>
              <a:srgbClr val="193364"/>
            </a:solidFill>
            <a:prstDash val="solid"/>
            <a:round/>
            <a:headEnd len="med" w="med" type="none"/>
            <a:tailEnd len="med" w="med" type="none"/>
          </a:ln>
        </p:spPr>
      </p:cxnSp>
      <p:pic>
        <p:nvPicPr>
          <p:cNvPr id="1016" name="Google Shape;1016;p52" title="ChatGPT Image Apr 19, 2026, 12_37_01 PM.png"/>
          <p:cNvPicPr preferRelativeResize="0"/>
          <p:nvPr/>
        </p:nvPicPr>
        <p:blipFill rotWithShape="1">
          <a:blip r:embed="rId5">
            <a:alphaModFix/>
          </a:blip>
          <a:srcRect b="4835" l="13703" r="52529" t="61190"/>
          <a:stretch/>
        </p:blipFill>
        <p:spPr>
          <a:xfrm>
            <a:off x="1317822" y="3343636"/>
            <a:ext cx="1168650" cy="783900"/>
          </a:xfrm>
          <a:prstGeom prst="rect">
            <a:avLst/>
          </a:prstGeom>
          <a:noFill/>
          <a:ln>
            <a:noFill/>
          </a:ln>
        </p:spPr>
      </p:pic>
      <p:cxnSp>
        <p:nvCxnSpPr>
          <p:cNvPr id="1017" name="Google Shape;1017;p52"/>
          <p:cNvCxnSpPr>
            <a:stCxn id="1009" idx="2"/>
            <a:endCxn id="1016" idx="1"/>
          </p:cNvCxnSpPr>
          <p:nvPr/>
        </p:nvCxnSpPr>
        <p:spPr>
          <a:xfrm>
            <a:off x="994823" y="3107110"/>
            <a:ext cx="323100" cy="628500"/>
          </a:xfrm>
          <a:prstGeom prst="straightConnector1">
            <a:avLst/>
          </a:prstGeom>
          <a:noFill/>
          <a:ln cap="flat" cmpd="sng" w="9525">
            <a:solidFill>
              <a:srgbClr val="193364"/>
            </a:solidFill>
            <a:prstDash val="solid"/>
            <a:round/>
            <a:headEnd len="med" w="med" type="none"/>
            <a:tailEnd len="med" w="med" type="none"/>
          </a:ln>
        </p:spPr>
      </p:cxnSp>
      <p:cxnSp>
        <p:nvCxnSpPr>
          <p:cNvPr id="1018" name="Google Shape;1018;p52"/>
          <p:cNvCxnSpPr>
            <a:stCxn id="1011" idx="2"/>
            <a:endCxn id="1016" idx="3"/>
          </p:cNvCxnSpPr>
          <p:nvPr/>
        </p:nvCxnSpPr>
        <p:spPr>
          <a:xfrm flipH="1">
            <a:off x="2486460" y="3107110"/>
            <a:ext cx="322200" cy="628500"/>
          </a:xfrm>
          <a:prstGeom prst="straightConnector1">
            <a:avLst/>
          </a:prstGeom>
          <a:noFill/>
          <a:ln cap="flat" cmpd="sng" w="9525">
            <a:solidFill>
              <a:srgbClr val="193364"/>
            </a:solidFill>
            <a:prstDash val="solid"/>
            <a:round/>
            <a:headEnd len="med" w="med" type="none"/>
            <a:tailEnd len="med" w="med" type="none"/>
          </a:ln>
        </p:spPr>
      </p:cxnSp>
      <p:pic>
        <p:nvPicPr>
          <p:cNvPr id="1019" name="Google Shape;1019;p52" title="ChatGPT Image Apr 19, 2026, 12_43_28 PM.png"/>
          <p:cNvPicPr preferRelativeResize="0"/>
          <p:nvPr/>
        </p:nvPicPr>
        <p:blipFill rotWithShape="1">
          <a:blip r:embed="rId6">
            <a:alphaModFix/>
          </a:blip>
          <a:srcRect b="49904" l="69632" r="4094" t="5239"/>
          <a:stretch/>
        </p:blipFill>
        <p:spPr>
          <a:xfrm>
            <a:off x="4147172" y="3311186"/>
            <a:ext cx="864100" cy="983501"/>
          </a:xfrm>
          <a:prstGeom prst="rect">
            <a:avLst/>
          </a:prstGeom>
          <a:noFill/>
          <a:ln>
            <a:noFill/>
          </a:ln>
        </p:spPr>
      </p:pic>
      <p:cxnSp>
        <p:nvCxnSpPr>
          <p:cNvPr id="1020" name="Google Shape;1020;p52"/>
          <p:cNvCxnSpPr>
            <a:stCxn id="1011" idx="2"/>
            <a:endCxn id="1019" idx="1"/>
          </p:cNvCxnSpPr>
          <p:nvPr/>
        </p:nvCxnSpPr>
        <p:spPr>
          <a:xfrm>
            <a:off x="2808660" y="3107110"/>
            <a:ext cx="1338600" cy="695700"/>
          </a:xfrm>
          <a:prstGeom prst="straightConnector1">
            <a:avLst/>
          </a:prstGeom>
          <a:noFill/>
          <a:ln cap="flat" cmpd="sng" w="9525">
            <a:solidFill>
              <a:srgbClr val="193364"/>
            </a:solidFill>
            <a:prstDash val="solid"/>
            <a:round/>
            <a:headEnd len="med" w="med" type="none"/>
            <a:tailEnd len="med" w="med" type="none"/>
          </a:ln>
        </p:spPr>
      </p:cxnSp>
      <p:cxnSp>
        <p:nvCxnSpPr>
          <p:cNvPr id="1021" name="Google Shape;1021;p52"/>
          <p:cNvCxnSpPr>
            <a:stCxn id="1019" idx="3"/>
            <a:endCxn id="1010" idx="2"/>
          </p:cNvCxnSpPr>
          <p:nvPr/>
        </p:nvCxnSpPr>
        <p:spPr>
          <a:xfrm flipH="1" rot="10800000">
            <a:off x="5011272" y="3107236"/>
            <a:ext cx="1425000" cy="695700"/>
          </a:xfrm>
          <a:prstGeom prst="straightConnector1">
            <a:avLst/>
          </a:prstGeom>
          <a:noFill/>
          <a:ln cap="flat" cmpd="sng" w="9525">
            <a:solidFill>
              <a:srgbClr val="193364"/>
            </a:solidFill>
            <a:prstDash val="solid"/>
            <a:round/>
            <a:headEnd len="med" w="med" type="none"/>
            <a:tailEnd len="med" w="med" type="none"/>
          </a:ln>
        </p:spPr>
      </p:cxnSp>
      <p:sp>
        <p:nvSpPr>
          <p:cNvPr id="1022" name="Google Shape;1022;p52"/>
          <p:cNvSpPr/>
          <p:nvPr/>
        </p:nvSpPr>
        <p:spPr>
          <a:xfrm>
            <a:off x="1872139" y="24422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3" name="Google Shape;1023;p52"/>
          <p:cNvSpPr/>
          <p:nvPr/>
        </p:nvSpPr>
        <p:spPr>
          <a:xfrm>
            <a:off x="3672111" y="24422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4" name="Google Shape;1024;p52"/>
          <p:cNvSpPr/>
          <p:nvPr/>
        </p:nvSpPr>
        <p:spPr>
          <a:xfrm>
            <a:off x="5493753" y="24422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5" name="Google Shape;1025;p52"/>
          <p:cNvSpPr/>
          <p:nvPr/>
        </p:nvSpPr>
        <p:spPr>
          <a:xfrm>
            <a:off x="1120364" y="3385361"/>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6" name="Google Shape;1026;p52"/>
          <p:cNvSpPr/>
          <p:nvPr/>
        </p:nvSpPr>
        <p:spPr>
          <a:xfrm>
            <a:off x="2611564" y="3385361"/>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7" name="Google Shape;1027;p52"/>
          <p:cNvSpPr/>
          <p:nvPr/>
        </p:nvSpPr>
        <p:spPr>
          <a:xfrm>
            <a:off x="3485564" y="34358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8" name="Google Shape;1028;p52"/>
          <p:cNvSpPr/>
          <p:nvPr/>
        </p:nvSpPr>
        <p:spPr>
          <a:xfrm>
            <a:off x="5687764" y="3418961"/>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9" name="Google Shape;1029;p52"/>
          <p:cNvSpPr/>
          <p:nvPr/>
        </p:nvSpPr>
        <p:spPr>
          <a:xfrm>
            <a:off x="4463861" y="2442286"/>
            <a:ext cx="36000" cy="36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0" name="Google Shape;1030;p52"/>
          <p:cNvSpPr/>
          <p:nvPr/>
        </p:nvSpPr>
        <p:spPr>
          <a:xfrm>
            <a:off x="4616261" y="2442286"/>
            <a:ext cx="36000" cy="36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1" name="Google Shape;1031;p52"/>
          <p:cNvSpPr/>
          <p:nvPr/>
        </p:nvSpPr>
        <p:spPr>
          <a:xfrm>
            <a:off x="4768661" y="2442286"/>
            <a:ext cx="36000" cy="36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32" name="Google Shape;1032;p52" title="{&quot;red&quot;:89,&quot;green&quot;:89,&quot;blue&quot;:89,&quot;origURL&quot;:&quot;https://www.codecogs.com/eqnedit.php?latex=u_1#0&quot;,&quot;size&quot;:18,&quot;width&quot;:154.86614173228347,&quot;height&quot;:152.2204724409449}"/>
          <p:cNvPicPr preferRelativeResize="0"/>
          <p:nvPr/>
        </p:nvPicPr>
        <p:blipFill>
          <a:blip r:embed="rId7">
            <a:alphaModFix/>
          </a:blip>
          <a:stretch>
            <a:fillRect/>
          </a:stretch>
        </p:blipFill>
        <p:spPr>
          <a:xfrm>
            <a:off x="1795447" y="2251586"/>
            <a:ext cx="212598" cy="152590"/>
          </a:xfrm>
          <a:prstGeom prst="rect">
            <a:avLst/>
          </a:prstGeom>
          <a:noFill/>
          <a:ln>
            <a:noFill/>
          </a:ln>
        </p:spPr>
      </p:pic>
      <p:pic>
        <p:nvPicPr>
          <p:cNvPr id="1033" name="Google Shape;1033;p52" title="{&quot;red&quot;:89,&quot;green&quot;:89,&quot;blue&quot;:89,&quot;origURL&quot;:&quot;https://www.codecogs.com/eqnedit.php?latex=m_1#0&quot;,&quot;size&quot;:18,&quot;width&quot;:154.86614173228347,&quot;height&quot;:152.2204724409449}"/>
          <p:cNvPicPr preferRelativeResize="0"/>
          <p:nvPr/>
        </p:nvPicPr>
        <p:blipFill>
          <a:blip r:embed="rId8">
            <a:alphaModFix/>
          </a:blip>
          <a:stretch>
            <a:fillRect/>
          </a:stretch>
        </p:blipFill>
        <p:spPr>
          <a:xfrm>
            <a:off x="1251847" y="3267336"/>
            <a:ext cx="289751" cy="152590"/>
          </a:xfrm>
          <a:prstGeom prst="rect">
            <a:avLst/>
          </a:prstGeom>
          <a:noFill/>
          <a:ln>
            <a:noFill/>
          </a:ln>
        </p:spPr>
      </p:pic>
      <p:pic>
        <p:nvPicPr>
          <p:cNvPr id="1034" name="Google Shape;1034;p52" title="{&quot;red&quot;:89,&quot;green&quot;:89,&quot;blue&quot;:89,&quot;origURL&quot;:&quot;https://www.codecogs.com/eqnedit.php?latex=m_2#0&quot;,&quot;size&quot;:18,&quot;width&quot;:154.86614173228347,&quot;height&quot;:152.2204724409449}"/>
          <p:cNvPicPr preferRelativeResize="0"/>
          <p:nvPr/>
        </p:nvPicPr>
        <p:blipFill>
          <a:blip r:embed="rId9">
            <a:alphaModFix/>
          </a:blip>
          <a:stretch>
            <a:fillRect/>
          </a:stretch>
        </p:blipFill>
        <p:spPr>
          <a:xfrm>
            <a:off x="2228647" y="3267336"/>
            <a:ext cx="294894" cy="152590"/>
          </a:xfrm>
          <a:prstGeom prst="rect">
            <a:avLst/>
          </a:prstGeom>
          <a:noFill/>
          <a:ln>
            <a:noFill/>
          </a:ln>
        </p:spPr>
      </p:pic>
      <p:pic>
        <p:nvPicPr>
          <p:cNvPr id="1035" name="Google Shape;1035;p52" title="{&quot;red&quot;:89,&quot;green&quot;:89,&quot;blue&quot;:89,&quot;origURL&quot;:&quot;https://www.codecogs.com/eqnedit.php?latex=m_3#0&quot;,&quot;size&quot;:18,&quot;width&quot;:154.86614173228347,&quot;height&quot;:152.2204724409449}"/>
          <p:cNvPicPr preferRelativeResize="0"/>
          <p:nvPr/>
        </p:nvPicPr>
        <p:blipFill>
          <a:blip r:embed="rId10">
            <a:alphaModFix/>
          </a:blip>
          <a:stretch>
            <a:fillRect/>
          </a:stretch>
        </p:blipFill>
        <p:spPr>
          <a:xfrm>
            <a:off x="3559822" y="3265623"/>
            <a:ext cx="296608" cy="156019"/>
          </a:xfrm>
          <a:prstGeom prst="rect">
            <a:avLst/>
          </a:prstGeom>
          <a:noFill/>
          <a:ln>
            <a:noFill/>
          </a:ln>
        </p:spPr>
      </p:pic>
      <p:sp>
        <p:nvSpPr>
          <p:cNvPr id="1036" name="Google Shape;1036;p52"/>
          <p:cNvSpPr txBox="1"/>
          <p:nvPr/>
        </p:nvSpPr>
        <p:spPr>
          <a:xfrm>
            <a:off x="252508" y="3421319"/>
            <a:ext cx="12624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Landmark factor</a:t>
            </a:r>
            <a:endParaRPr b="1" sz="1200">
              <a:solidFill>
                <a:srgbClr val="193364"/>
              </a:solidFill>
            </a:endParaRPr>
          </a:p>
        </p:txBody>
      </p:sp>
      <p:sp>
        <p:nvSpPr>
          <p:cNvPr id="1037" name="Google Shape;1037;p52"/>
          <p:cNvSpPr txBox="1"/>
          <p:nvPr/>
        </p:nvSpPr>
        <p:spPr>
          <a:xfrm>
            <a:off x="1270947" y="1741419"/>
            <a:ext cx="12624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Odometry factor</a:t>
            </a:r>
            <a:endParaRPr b="1" sz="1200">
              <a:solidFill>
                <a:srgbClr val="193364"/>
              </a:solidFill>
            </a:endParaRPr>
          </a:p>
        </p:txBody>
      </p:sp>
      <p:sp>
        <p:nvSpPr>
          <p:cNvPr id="1038" name="Google Shape;1038;p52"/>
          <p:cNvSpPr/>
          <p:nvPr/>
        </p:nvSpPr>
        <p:spPr>
          <a:xfrm>
            <a:off x="858450" y="1333660"/>
            <a:ext cx="5280575" cy="462600"/>
          </a:xfrm>
          <a:custGeom>
            <a:rect b="b" l="l" r="r" t="t"/>
            <a:pathLst>
              <a:path extrusionOk="0" h="18504" w="211223">
                <a:moveTo>
                  <a:pt x="0" y="16773"/>
                </a:moveTo>
                <a:cubicBezTo>
                  <a:pt x="19766" y="13984"/>
                  <a:pt x="83392" y="-252"/>
                  <a:pt x="118596" y="36"/>
                </a:cubicBezTo>
                <a:cubicBezTo>
                  <a:pt x="153800" y="325"/>
                  <a:pt x="195785" y="15426"/>
                  <a:pt x="211223" y="18504"/>
                </a:cubicBezTo>
              </a:path>
            </a:pathLst>
          </a:custGeom>
          <a:noFill/>
          <a:ln cap="flat" cmpd="sng" w="9525">
            <a:solidFill>
              <a:srgbClr val="193364"/>
            </a:solidFill>
            <a:prstDash val="solid"/>
            <a:round/>
            <a:headEnd len="med" w="med" type="none"/>
            <a:tailEnd len="med" w="med" type="none"/>
          </a:ln>
        </p:spPr>
      </p:sp>
      <p:sp>
        <p:nvSpPr>
          <p:cNvPr id="1039" name="Google Shape;1039;p52"/>
          <p:cNvSpPr/>
          <p:nvPr/>
        </p:nvSpPr>
        <p:spPr>
          <a:xfrm>
            <a:off x="3240186" y="1326445"/>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0" name="Google Shape;1040;p52"/>
          <p:cNvSpPr txBox="1"/>
          <p:nvPr/>
        </p:nvSpPr>
        <p:spPr>
          <a:xfrm>
            <a:off x="1744897" y="931819"/>
            <a:ext cx="12624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Loop closing factor</a:t>
            </a:r>
            <a:endParaRPr b="1" sz="1200">
              <a:solidFill>
                <a:srgbClr val="193364"/>
              </a:solidFill>
            </a:endParaRPr>
          </a:p>
        </p:txBody>
      </p:sp>
      <p:pic>
        <p:nvPicPr>
          <p:cNvPr id="1041" name="Google Shape;1041;p52" title="{&quot;red&quot;:89,&quot;green&quot;:89,&quot;blue&quot;:89,&quot;origURL&quot;:&quot;https://www.codecogs.com/eqnedit.php?latex=c_1#0&quot;,&quot;size&quot;:18,&quot;width&quot;:129.51968503937007,&quot;height&quot;:61.724409448818896}"/>
          <p:cNvPicPr preferRelativeResize="0"/>
          <p:nvPr/>
        </p:nvPicPr>
        <p:blipFill>
          <a:blip r:embed="rId11">
            <a:alphaModFix/>
          </a:blip>
          <a:stretch>
            <a:fillRect/>
          </a:stretch>
        </p:blipFill>
        <p:spPr>
          <a:xfrm>
            <a:off x="3308975" y="1129750"/>
            <a:ext cx="176593" cy="152591"/>
          </a:xfrm>
          <a:prstGeom prst="rect">
            <a:avLst/>
          </a:prstGeom>
          <a:noFill/>
          <a:ln>
            <a:noFill/>
          </a:ln>
        </p:spPr>
      </p:pic>
      <p:pic>
        <p:nvPicPr>
          <p:cNvPr id="1042" name="Google Shape;1042;p52" title="ChatGPT Image Apr 19, 2026, 12_37_01 PM.png"/>
          <p:cNvPicPr preferRelativeResize="0"/>
          <p:nvPr/>
        </p:nvPicPr>
        <p:blipFill rotWithShape="1">
          <a:blip r:embed="rId5">
            <a:alphaModFix/>
          </a:blip>
          <a:srcRect b="4835" l="13703" r="52529" t="61190"/>
          <a:stretch/>
        </p:blipFill>
        <p:spPr>
          <a:xfrm>
            <a:off x="6634897" y="3343636"/>
            <a:ext cx="1168650" cy="783900"/>
          </a:xfrm>
          <a:prstGeom prst="rect">
            <a:avLst/>
          </a:prstGeom>
          <a:noFill/>
          <a:ln>
            <a:noFill/>
          </a:ln>
        </p:spPr>
      </p:pic>
      <p:cxnSp>
        <p:nvCxnSpPr>
          <p:cNvPr id="1043" name="Google Shape;1043;p52"/>
          <p:cNvCxnSpPr>
            <a:stCxn id="1042" idx="1"/>
            <a:endCxn id="1010" idx="2"/>
          </p:cNvCxnSpPr>
          <p:nvPr/>
        </p:nvCxnSpPr>
        <p:spPr>
          <a:xfrm rot="10800000">
            <a:off x="6436297" y="3107086"/>
            <a:ext cx="198600" cy="628500"/>
          </a:xfrm>
          <a:prstGeom prst="straightConnector1">
            <a:avLst/>
          </a:prstGeom>
          <a:noFill/>
          <a:ln cap="flat" cmpd="sng" w="9525">
            <a:solidFill>
              <a:srgbClr val="193364"/>
            </a:solidFill>
            <a:prstDash val="solid"/>
            <a:round/>
            <a:headEnd len="med" w="med" type="none"/>
            <a:tailEnd len="med" w="med" type="none"/>
          </a:ln>
        </p:spPr>
      </p:cxnSp>
      <p:sp>
        <p:nvSpPr>
          <p:cNvPr id="1044" name="Google Shape;1044;p52"/>
          <p:cNvSpPr/>
          <p:nvPr/>
        </p:nvSpPr>
        <p:spPr>
          <a:xfrm>
            <a:off x="6499576" y="338533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5" name="Google Shape;1045;p52"/>
          <p:cNvSpPr txBox="1"/>
          <p:nvPr/>
        </p:nvSpPr>
        <p:spPr>
          <a:xfrm>
            <a:off x="2228649" y="3935200"/>
            <a:ext cx="13902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Landmark 1</a:t>
            </a:r>
            <a:endParaRPr b="1" sz="1200">
              <a:solidFill>
                <a:srgbClr val="193364"/>
              </a:solidFill>
            </a:endParaRPr>
          </a:p>
        </p:txBody>
      </p:sp>
      <p:sp>
        <p:nvSpPr>
          <p:cNvPr id="1046" name="Google Shape;1046;p52"/>
          <p:cNvSpPr txBox="1"/>
          <p:nvPr/>
        </p:nvSpPr>
        <p:spPr>
          <a:xfrm>
            <a:off x="4834249" y="3935200"/>
            <a:ext cx="13902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Landmark 2</a:t>
            </a:r>
            <a:endParaRPr b="1" sz="1200">
              <a:solidFill>
                <a:srgbClr val="193364"/>
              </a:solidFill>
            </a:endParaRPr>
          </a:p>
        </p:txBody>
      </p:sp>
      <p:pic>
        <p:nvPicPr>
          <p:cNvPr id="1047" name="Google Shape;1047;p52" title="{&quot;red&quot;:89,&quot;green&quot;:89,&quot;blue&quot;:89,&quot;origURL&quot;:&quot;https://www.codecogs.com/eqnedit.php?latex=u2#0&quot;,&quot;size&quot;:18,&quot;width&quot;:179.64566929133858,&quot;height&quot;:126.89763779527559}"/>
          <p:cNvPicPr preferRelativeResize="0"/>
          <p:nvPr/>
        </p:nvPicPr>
        <p:blipFill>
          <a:blip r:embed="rId12">
            <a:alphaModFix/>
          </a:blip>
          <a:stretch>
            <a:fillRect/>
          </a:stretch>
        </p:blipFill>
        <p:spPr>
          <a:xfrm>
            <a:off x="3591275" y="2195300"/>
            <a:ext cx="248603" cy="171450"/>
          </a:xfrm>
          <a:prstGeom prst="rect">
            <a:avLst/>
          </a:prstGeom>
          <a:noFill/>
          <a:ln>
            <a:noFill/>
          </a:ln>
        </p:spPr>
      </p:pic>
      <p:pic>
        <p:nvPicPr>
          <p:cNvPr id="1048" name="Google Shape;1048;p52" title="{&quot;red&quot;:89,&quot;green&quot;:89,&quot;blue&quot;:89,&quot;origURL&quot;:&quot;https://www.codecogs.com/eqnedit.php?latex=u_%7Bn-1%7D#0&quot;,&quot;size&quot;:18,&quot;width&quot;:179.64566929133858,&quot;height&quot;:126.89763779527559}"/>
          <p:cNvPicPr preferRelativeResize="0"/>
          <p:nvPr/>
        </p:nvPicPr>
        <p:blipFill>
          <a:blip r:embed="rId13">
            <a:alphaModFix/>
          </a:blip>
          <a:stretch>
            <a:fillRect/>
          </a:stretch>
        </p:blipFill>
        <p:spPr>
          <a:xfrm>
            <a:off x="5300100" y="2229850"/>
            <a:ext cx="462915" cy="154305"/>
          </a:xfrm>
          <a:prstGeom prst="rect">
            <a:avLst/>
          </a:prstGeom>
          <a:noFill/>
          <a:ln>
            <a:noFill/>
          </a:ln>
        </p:spPr>
      </p:pic>
      <p:pic>
        <p:nvPicPr>
          <p:cNvPr id="1049" name="Google Shape;1049;p52" title="{&quot;red&quot;:89,&quot;green&quot;:89,&quot;blue&quot;:89,&quot;origURL&quot;:&quot;https://www.codecogs.com/eqnedit.php?latex=m_k#0&quot;,&quot;size&quot;:18,&quot;width&quot;:179.64566929133858,&quot;height&quot;:126.89763779527559}"/>
          <p:cNvPicPr preferRelativeResize="0"/>
          <p:nvPr/>
        </p:nvPicPr>
        <p:blipFill>
          <a:blip r:embed="rId14">
            <a:alphaModFix/>
          </a:blip>
          <a:stretch>
            <a:fillRect/>
          </a:stretch>
        </p:blipFill>
        <p:spPr>
          <a:xfrm>
            <a:off x="6634888" y="3185863"/>
            <a:ext cx="305181" cy="154305"/>
          </a:xfrm>
          <a:prstGeom prst="rect">
            <a:avLst/>
          </a:prstGeom>
          <a:noFill/>
          <a:ln>
            <a:noFill/>
          </a:ln>
        </p:spPr>
      </p:pic>
      <p:pic>
        <p:nvPicPr>
          <p:cNvPr id="1050" name="Google Shape;1050;p52" title="{&quot;red&quot;:89,&quot;green&quot;:89,&quot;blue&quot;:89,&quot;origURL&quot;:&quot;https://www.codecogs.com/eqnedit.php?latex=m_%7Bk-1%7D#0&quot;,&quot;size&quot;:18,&quot;width&quot;:179.64566929133858,&quot;height&quot;:126.89763779527559}"/>
          <p:cNvPicPr preferRelativeResize="0"/>
          <p:nvPr/>
        </p:nvPicPr>
        <p:blipFill>
          <a:blip r:embed="rId15">
            <a:alphaModFix/>
          </a:blip>
          <a:stretch>
            <a:fillRect/>
          </a:stretch>
        </p:blipFill>
        <p:spPr>
          <a:xfrm>
            <a:off x="5375342" y="3185875"/>
            <a:ext cx="528066" cy="15430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4" name="Shape 1054"/>
        <p:cNvGrpSpPr/>
        <p:nvPr/>
      </p:nvGrpSpPr>
      <p:grpSpPr>
        <a:xfrm>
          <a:off x="0" y="0"/>
          <a:ext cx="0" cy="0"/>
          <a:chOff x="0" y="0"/>
          <a:chExt cx="0" cy="0"/>
        </a:xfrm>
      </p:grpSpPr>
      <p:sp>
        <p:nvSpPr>
          <p:cNvPr id="1055" name="Google Shape;1055;p53"/>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056" name="Google Shape;1056;p53"/>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The SLAM problem (t = n)</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grpSp>
        <p:nvGrpSpPr>
          <p:cNvPr id="1057" name="Google Shape;1057;p53"/>
          <p:cNvGrpSpPr/>
          <p:nvPr/>
        </p:nvGrpSpPr>
        <p:grpSpPr>
          <a:xfrm>
            <a:off x="1095318" y="4449088"/>
            <a:ext cx="712880" cy="694332"/>
            <a:chOff x="1095318" y="4449088"/>
            <a:chExt cx="712880" cy="694332"/>
          </a:xfrm>
        </p:grpSpPr>
        <p:sp>
          <p:nvSpPr>
            <p:cNvPr id="1058" name="Google Shape;1058;p53"/>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1059" name="Google Shape;1059;p53"/>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1060" name="Google Shape;1060;p53"/>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1061" name="Google Shape;1061;p53"/>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pic>
        <p:nvPicPr>
          <p:cNvPr id="1062" name="Google Shape;1062;p53" title="ChatGPT Image Apr 19, 2026, 12_37_01 PM.png"/>
          <p:cNvPicPr preferRelativeResize="0"/>
          <p:nvPr/>
        </p:nvPicPr>
        <p:blipFill rotWithShape="1">
          <a:blip r:embed="rId4">
            <a:alphaModFix/>
          </a:blip>
          <a:srcRect b="39849" l="14168" r="52065" t="5750"/>
          <a:stretch/>
        </p:blipFill>
        <p:spPr>
          <a:xfrm>
            <a:off x="410497" y="1851886"/>
            <a:ext cx="1168650" cy="1255224"/>
          </a:xfrm>
          <a:prstGeom prst="rect">
            <a:avLst/>
          </a:prstGeom>
          <a:noFill/>
          <a:ln>
            <a:noFill/>
          </a:ln>
        </p:spPr>
      </p:pic>
      <p:pic>
        <p:nvPicPr>
          <p:cNvPr id="1063" name="Google Shape;1063;p53" title="ChatGPT Image Apr 19, 2026, 12_37_01 PM.png"/>
          <p:cNvPicPr preferRelativeResize="0"/>
          <p:nvPr/>
        </p:nvPicPr>
        <p:blipFill rotWithShape="1">
          <a:blip r:embed="rId5">
            <a:alphaModFix/>
          </a:blip>
          <a:srcRect b="39849" l="14168" r="52065" t="5750"/>
          <a:stretch/>
        </p:blipFill>
        <p:spPr>
          <a:xfrm>
            <a:off x="7665847" y="1851886"/>
            <a:ext cx="1168650" cy="1255224"/>
          </a:xfrm>
          <a:prstGeom prst="rect">
            <a:avLst/>
          </a:prstGeom>
          <a:noFill/>
          <a:ln>
            <a:noFill/>
          </a:ln>
        </p:spPr>
      </p:pic>
      <p:pic>
        <p:nvPicPr>
          <p:cNvPr id="1064" name="Google Shape;1064;p53" title="ChatGPT Image Apr 19, 2026, 12_37_01 PM.png"/>
          <p:cNvPicPr preferRelativeResize="0"/>
          <p:nvPr/>
        </p:nvPicPr>
        <p:blipFill rotWithShape="1">
          <a:blip r:embed="rId4">
            <a:alphaModFix/>
          </a:blip>
          <a:srcRect b="39849" l="14168" r="52065" t="5750"/>
          <a:stretch/>
        </p:blipFill>
        <p:spPr>
          <a:xfrm>
            <a:off x="5852010" y="1851886"/>
            <a:ext cx="1168650" cy="1255224"/>
          </a:xfrm>
          <a:prstGeom prst="rect">
            <a:avLst/>
          </a:prstGeom>
          <a:noFill/>
          <a:ln>
            <a:noFill/>
          </a:ln>
        </p:spPr>
      </p:pic>
      <p:pic>
        <p:nvPicPr>
          <p:cNvPr id="1065" name="Google Shape;1065;p53" title="ChatGPT Image Apr 19, 2026, 12_37_01 PM.png"/>
          <p:cNvPicPr preferRelativeResize="0"/>
          <p:nvPr/>
        </p:nvPicPr>
        <p:blipFill rotWithShape="1">
          <a:blip r:embed="rId4">
            <a:alphaModFix/>
          </a:blip>
          <a:srcRect b="39849" l="14168" r="52065" t="5750"/>
          <a:stretch/>
        </p:blipFill>
        <p:spPr>
          <a:xfrm>
            <a:off x="2224335" y="1851886"/>
            <a:ext cx="1168650" cy="1255224"/>
          </a:xfrm>
          <a:prstGeom prst="rect">
            <a:avLst/>
          </a:prstGeom>
          <a:noFill/>
          <a:ln>
            <a:noFill/>
          </a:ln>
        </p:spPr>
      </p:pic>
      <p:cxnSp>
        <p:nvCxnSpPr>
          <p:cNvPr id="1066" name="Google Shape;1066;p53"/>
          <p:cNvCxnSpPr>
            <a:endCxn id="1065" idx="1"/>
          </p:cNvCxnSpPr>
          <p:nvPr/>
        </p:nvCxnSpPr>
        <p:spPr>
          <a:xfrm flipH="1" rot="10800000">
            <a:off x="1579935" y="2479498"/>
            <a:ext cx="644400" cy="9300"/>
          </a:xfrm>
          <a:prstGeom prst="straightConnector1">
            <a:avLst/>
          </a:prstGeom>
          <a:noFill/>
          <a:ln cap="flat" cmpd="sng" w="9525">
            <a:solidFill>
              <a:srgbClr val="193364"/>
            </a:solidFill>
            <a:prstDash val="solid"/>
            <a:round/>
            <a:headEnd len="med" w="med" type="none"/>
            <a:tailEnd len="med" w="med" type="none"/>
          </a:ln>
        </p:spPr>
      </p:cxnSp>
      <p:cxnSp>
        <p:nvCxnSpPr>
          <p:cNvPr id="1067" name="Google Shape;1067;p53"/>
          <p:cNvCxnSpPr>
            <a:stCxn id="1064" idx="3"/>
            <a:endCxn id="1063" idx="1"/>
          </p:cNvCxnSpPr>
          <p:nvPr/>
        </p:nvCxnSpPr>
        <p:spPr>
          <a:xfrm>
            <a:off x="7020660" y="2479498"/>
            <a:ext cx="645300" cy="0"/>
          </a:xfrm>
          <a:prstGeom prst="straightConnector1">
            <a:avLst/>
          </a:prstGeom>
          <a:noFill/>
          <a:ln cap="flat" cmpd="sng" w="9525">
            <a:solidFill>
              <a:srgbClr val="193364"/>
            </a:solidFill>
            <a:prstDash val="solid"/>
            <a:round/>
            <a:headEnd len="med" w="med" type="none"/>
            <a:tailEnd len="med" w="med" type="none"/>
          </a:ln>
        </p:spPr>
      </p:cxnSp>
      <p:cxnSp>
        <p:nvCxnSpPr>
          <p:cNvPr id="1068" name="Google Shape;1068;p53"/>
          <p:cNvCxnSpPr>
            <a:stCxn id="1065" idx="3"/>
            <a:endCxn id="1069" idx="1"/>
          </p:cNvCxnSpPr>
          <p:nvPr/>
        </p:nvCxnSpPr>
        <p:spPr>
          <a:xfrm>
            <a:off x="3392985" y="2479498"/>
            <a:ext cx="645300" cy="4500"/>
          </a:xfrm>
          <a:prstGeom prst="straightConnector1">
            <a:avLst/>
          </a:prstGeom>
          <a:noFill/>
          <a:ln cap="flat" cmpd="sng" w="9525">
            <a:solidFill>
              <a:srgbClr val="193364"/>
            </a:solidFill>
            <a:prstDash val="solid"/>
            <a:round/>
            <a:headEnd len="med" w="med" type="none"/>
            <a:tailEnd len="med" w="med" type="none"/>
          </a:ln>
        </p:spPr>
      </p:cxnSp>
      <p:cxnSp>
        <p:nvCxnSpPr>
          <p:cNvPr id="1070" name="Google Shape;1070;p53"/>
          <p:cNvCxnSpPr>
            <a:stCxn id="1069" idx="3"/>
            <a:endCxn id="1064" idx="1"/>
          </p:cNvCxnSpPr>
          <p:nvPr/>
        </p:nvCxnSpPr>
        <p:spPr>
          <a:xfrm flipH="1" rot="10800000">
            <a:off x="5206710" y="2479498"/>
            <a:ext cx="645300" cy="4500"/>
          </a:xfrm>
          <a:prstGeom prst="straightConnector1">
            <a:avLst/>
          </a:prstGeom>
          <a:noFill/>
          <a:ln cap="flat" cmpd="sng" w="9525">
            <a:solidFill>
              <a:srgbClr val="193364"/>
            </a:solidFill>
            <a:prstDash val="solid"/>
            <a:round/>
            <a:headEnd len="med" w="med" type="none"/>
            <a:tailEnd len="med" w="med" type="none"/>
          </a:ln>
        </p:spPr>
      </p:cxnSp>
      <p:pic>
        <p:nvPicPr>
          <p:cNvPr id="1071" name="Google Shape;1071;p53" title="ChatGPT Image Apr 19, 2026, 12_37_01 PM.png"/>
          <p:cNvPicPr preferRelativeResize="0"/>
          <p:nvPr/>
        </p:nvPicPr>
        <p:blipFill rotWithShape="1">
          <a:blip r:embed="rId5">
            <a:alphaModFix/>
          </a:blip>
          <a:srcRect b="4835" l="13703" r="52529" t="61190"/>
          <a:stretch/>
        </p:blipFill>
        <p:spPr>
          <a:xfrm>
            <a:off x="1317822" y="3343636"/>
            <a:ext cx="1168650" cy="783900"/>
          </a:xfrm>
          <a:prstGeom prst="rect">
            <a:avLst/>
          </a:prstGeom>
          <a:noFill/>
          <a:ln>
            <a:noFill/>
          </a:ln>
        </p:spPr>
      </p:pic>
      <p:cxnSp>
        <p:nvCxnSpPr>
          <p:cNvPr id="1072" name="Google Shape;1072;p53"/>
          <p:cNvCxnSpPr>
            <a:stCxn id="1062" idx="2"/>
            <a:endCxn id="1071" idx="1"/>
          </p:cNvCxnSpPr>
          <p:nvPr/>
        </p:nvCxnSpPr>
        <p:spPr>
          <a:xfrm>
            <a:off x="994823" y="3107110"/>
            <a:ext cx="323100" cy="628500"/>
          </a:xfrm>
          <a:prstGeom prst="straightConnector1">
            <a:avLst/>
          </a:prstGeom>
          <a:noFill/>
          <a:ln cap="flat" cmpd="sng" w="9525">
            <a:solidFill>
              <a:srgbClr val="193364"/>
            </a:solidFill>
            <a:prstDash val="solid"/>
            <a:round/>
            <a:headEnd len="med" w="med" type="none"/>
            <a:tailEnd len="med" w="med" type="none"/>
          </a:ln>
        </p:spPr>
      </p:cxnSp>
      <p:cxnSp>
        <p:nvCxnSpPr>
          <p:cNvPr id="1073" name="Google Shape;1073;p53"/>
          <p:cNvCxnSpPr>
            <a:stCxn id="1065" idx="2"/>
            <a:endCxn id="1071" idx="3"/>
          </p:cNvCxnSpPr>
          <p:nvPr/>
        </p:nvCxnSpPr>
        <p:spPr>
          <a:xfrm flipH="1">
            <a:off x="2486460" y="3107110"/>
            <a:ext cx="322200" cy="628500"/>
          </a:xfrm>
          <a:prstGeom prst="straightConnector1">
            <a:avLst/>
          </a:prstGeom>
          <a:noFill/>
          <a:ln cap="flat" cmpd="sng" w="9525">
            <a:solidFill>
              <a:srgbClr val="193364"/>
            </a:solidFill>
            <a:prstDash val="solid"/>
            <a:round/>
            <a:headEnd len="med" w="med" type="none"/>
            <a:tailEnd len="med" w="med" type="none"/>
          </a:ln>
        </p:spPr>
      </p:cxnSp>
      <p:pic>
        <p:nvPicPr>
          <p:cNvPr id="1074" name="Google Shape;1074;p53" title="ChatGPT Image Apr 19, 2026, 12_43_28 PM.png"/>
          <p:cNvPicPr preferRelativeResize="0"/>
          <p:nvPr/>
        </p:nvPicPr>
        <p:blipFill rotWithShape="1">
          <a:blip r:embed="rId6">
            <a:alphaModFix/>
          </a:blip>
          <a:srcRect b="49904" l="69632" r="4094" t="5239"/>
          <a:stretch/>
        </p:blipFill>
        <p:spPr>
          <a:xfrm>
            <a:off x="4147172" y="3311186"/>
            <a:ext cx="864100" cy="983501"/>
          </a:xfrm>
          <a:prstGeom prst="rect">
            <a:avLst/>
          </a:prstGeom>
          <a:noFill/>
          <a:ln>
            <a:noFill/>
          </a:ln>
        </p:spPr>
      </p:pic>
      <p:cxnSp>
        <p:nvCxnSpPr>
          <p:cNvPr id="1075" name="Google Shape;1075;p53"/>
          <p:cNvCxnSpPr>
            <a:stCxn id="1065" idx="2"/>
            <a:endCxn id="1074" idx="1"/>
          </p:cNvCxnSpPr>
          <p:nvPr/>
        </p:nvCxnSpPr>
        <p:spPr>
          <a:xfrm>
            <a:off x="2808660" y="3107110"/>
            <a:ext cx="1338600" cy="695700"/>
          </a:xfrm>
          <a:prstGeom prst="straightConnector1">
            <a:avLst/>
          </a:prstGeom>
          <a:noFill/>
          <a:ln cap="flat" cmpd="sng" w="9525">
            <a:solidFill>
              <a:srgbClr val="193364"/>
            </a:solidFill>
            <a:prstDash val="solid"/>
            <a:round/>
            <a:headEnd len="med" w="med" type="none"/>
            <a:tailEnd len="med" w="med" type="none"/>
          </a:ln>
        </p:spPr>
      </p:cxnSp>
      <p:cxnSp>
        <p:nvCxnSpPr>
          <p:cNvPr id="1076" name="Google Shape;1076;p53"/>
          <p:cNvCxnSpPr>
            <a:stCxn id="1074" idx="3"/>
            <a:endCxn id="1064" idx="2"/>
          </p:cNvCxnSpPr>
          <p:nvPr/>
        </p:nvCxnSpPr>
        <p:spPr>
          <a:xfrm flipH="1" rot="10800000">
            <a:off x="5011272" y="3107236"/>
            <a:ext cx="1425000" cy="695700"/>
          </a:xfrm>
          <a:prstGeom prst="straightConnector1">
            <a:avLst/>
          </a:prstGeom>
          <a:noFill/>
          <a:ln cap="flat" cmpd="sng" w="9525">
            <a:solidFill>
              <a:srgbClr val="193364"/>
            </a:solidFill>
            <a:prstDash val="solid"/>
            <a:round/>
            <a:headEnd len="med" w="med" type="none"/>
            <a:tailEnd len="med" w="med" type="none"/>
          </a:ln>
        </p:spPr>
      </p:cxnSp>
      <p:sp>
        <p:nvSpPr>
          <p:cNvPr id="1077" name="Google Shape;1077;p53"/>
          <p:cNvSpPr/>
          <p:nvPr/>
        </p:nvSpPr>
        <p:spPr>
          <a:xfrm>
            <a:off x="1872139" y="24422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8" name="Google Shape;1078;p53"/>
          <p:cNvSpPr/>
          <p:nvPr/>
        </p:nvSpPr>
        <p:spPr>
          <a:xfrm>
            <a:off x="3672111" y="24422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9" name="Google Shape;1079;p53"/>
          <p:cNvSpPr/>
          <p:nvPr/>
        </p:nvSpPr>
        <p:spPr>
          <a:xfrm>
            <a:off x="5493753" y="24422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0" name="Google Shape;1080;p53"/>
          <p:cNvSpPr/>
          <p:nvPr/>
        </p:nvSpPr>
        <p:spPr>
          <a:xfrm>
            <a:off x="7308181" y="24422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1" name="Google Shape;1081;p53"/>
          <p:cNvSpPr/>
          <p:nvPr/>
        </p:nvSpPr>
        <p:spPr>
          <a:xfrm>
            <a:off x="1120364" y="3385361"/>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2" name="Google Shape;1082;p53"/>
          <p:cNvSpPr/>
          <p:nvPr/>
        </p:nvSpPr>
        <p:spPr>
          <a:xfrm>
            <a:off x="2611564" y="3385361"/>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3" name="Google Shape;1083;p53"/>
          <p:cNvSpPr/>
          <p:nvPr/>
        </p:nvSpPr>
        <p:spPr>
          <a:xfrm>
            <a:off x="3485564" y="34358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4" name="Google Shape;1084;p53"/>
          <p:cNvSpPr/>
          <p:nvPr/>
        </p:nvSpPr>
        <p:spPr>
          <a:xfrm>
            <a:off x="5687764" y="3418961"/>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5" name="Google Shape;1085;p53"/>
          <p:cNvSpPr/>
          <p:nvPr/>
        </p:nvSpPr>
        <p:spPr>
          <a:xfrm>
            <a:off x="4463861" y="2442286"/>
            <a:ext cx="36000" cy="36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6" name="Google Shape;1086;p53"/>
          <p:cNvSpPr/>
          <p:nvPr/>
        </p:nvSpPr>
        <p:spPr>
          <a:xfrm>
            <a:off x="4616261" y="2442286"/>
            <a:ext cx="36000" cy="36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7" name="Google Shape;1087;p53"/>
          <p:cNvSpPr/>
          <p:nvPr/>
        </p:nvSpPr>
        <p:spPr>
          <a:xfrm>
            <a:off x="4768661" y="2442286"/>
            <a:ext cx="36000" cy="36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88" name="Google Shape;1088;p53" title="{&quot;red&quot;:89,&quot;green&quot;:89,&quot;blue&quot;:89,&quot;origURL&quot;:&quot;https://www.codecogs.com/eqnedit.php?latex=u_1#0&quot;,&quot;size&quot;:18,&quot;width&quot;:154.86614173228347,&quot;height&quot;:152.2204724409449}"/>
          <p:cNvPicPr preferRelativeResize="0"/>
          <p:nvPr/>
        </p:nvPicPr>
        <p:blipFill>
          <a:blip r:embed="rId7">
            <a:alphaModFix/>
          </a:blip>
          <a:stretch>
            <a:fillRect/>
          </a:stretch>
        </p:blipFill>
        <p:spPr>
          <a:xfrm>
            <a:off x="1795447" y="2251586"/>
            <a:ext cx="212598" cy="152590"/>
          </a:xfrm>
          <a:prstGeom prst="rect">
            <a:avLst/>
          </a:prstGeom>
          <a:noFill/>
          <a:ln>
            <a:noFill/>
          </a:ln>
        </p:spPr>
      </p:pic>
      <p:pic>
        <p:nvPicPr>
          <p:cNvPr id="1089" name="Google Shape;1089;p53" title="{&quot;red&quot;:89,&quot;green&quot;:89,&quot;blue&quot;:89,&quot;origURL&quot;:&quot;https://www.codecogs.com/eqnedit.php?latex=u_n#0&quot;,&quot;size&quot;:18,&quot;width&quot;:154.86614173228347,&quot;height&quot;:152.2204724409449}"/>
          <p:cNvPicPr preferRelativeResize="0"/>
          <p:nvPr/>
        </p:nvPicPr>
        <p:blipFill>
          <a:blip r:embed="rId8">
            <a:alphaModFix/>
          </a:blip>
          <a:stretch>
            <a:fillRect/>
          </a:stretch>
        </p:blipFill>
        <p:spPr>
          <a:xfrm>
            <a:off x="7223247" y="2250736"/>
            <a:ext cx="240030" cy="154305"/>
          </a:xfrm>
          <a:prstGeom prst="rect">
            <a:avLst/>
          </a:prstGeom>
          <a:noFill/>
          <a:ln>
            <a:noFill/>
          </a:ln>
        </p:spPr>
      </p:pic>
      <p:pic>
        <p:nvPicPr>
          <p:cNvPr id="1090" name="Google Shape;1090;p53" title="{&quot;red&quot;:89,&quot;green&quot;:89,&quot;blue&quot;:89,&quot;origURL&quot;:&quot;https://www.codecogs.com/eqnedit.php?latex=m_1#0&quot;,&quot;size&quot;:18,&quot;width&quot;:154.86614173228347,&quot;height&quot;:152.2204724409449}"/>
          <p:cNvPicPr preferRelativeResize="0"/>
          <p:nvPr/>
        </p:nvPicPr>
        <p:blipFill>
          <a:blip r:embed="rId9">
            <a:alphaModFix/>
          </a:blip>
          <a:stretch>
            <a:fillRect/>
          </a:stretch>
        </p:blipFill>
        <p:spPr>
          <a:xfrm>
            <a:off x="1251847" y="3267336"/>
            <a:ext cx="289751" cy="152590"/>
          </a:xfrm>
          <a:prstGeom prst="rect">
            <a:avLst/>
          </a:prstGeom>
          <a:noFill/>
          <a:ln>
            <a:noFill/>
          </a:ln>
        </p:spPr>
      </p:pic>
      <p:pic>
        <p:nvPicPr>
          <p:cNvPr id="1091" name="Google Shape;1091;p53" title="{&quot;red&quot;:89,&quot;green&quot;:89,&quot;blue&quot;:89,&quot;origURL&quot;:&quot;https://www.codecogs.com/eqnedit.php?latex=m_2#0&quot;,&quot;size&quot;:18,&quot;width&quot;:154.86614173228347,&quot;height&quot;:152.2204724409449}"/>
          <p:cNvPicPr preferRelativeResize="0"/>
          <p:nvPr/>
        </p:nvPicPr>
        <p:blipFill>
          <a:blip r:embed="rId10">
            <a:alphaModFix/>
          </a:blip>
          <a:stretch>
            <a:fillRect/>
          </a:stretch>
        </p:blipFill>
        <p:spPr>
          <a:xfrm>
            <a:off x="2228647" y="3267336"/>
            <a:ext cx="294894" cy="152590"/>
          </a:xfrm>
          <a:prstGeom prst="rect">
            <a:avLst/>
          </a:prstGeom>
          <a:noFill/>
          <a:ln>
            <a:noFill/>
          </a:ln>
        </p:spPr>
      </p:pic>
      <p:pic>
        <p:nvPicPr>
          <p:cNvPr id="1092" name="Google Shape;1092;p53" title="{&quot;red&quot;:89,&quot;green&quot;:89,&quot;blue&quot;:89,&quot;origURL&quot;:&quot;https://www.codecogs.com/eqnedit.php?latex=m_3#0&quot;,&quot;size&quot;:18,&quot;width&quot;:154.86614173228347,&quot;height&quot;:152.2204724409449}"/>
          <p:cNvPicPr preferRelativeResize="0"/>
          <p:nvPr/>
        </p:nvPicPr>
        <p:blipFill>
          <a:blip r:embed="rId11">
            <a:alphaModFix/>
          </a:blip>
          <a:stretch>
            <a:fillRect/>
          </a:stretch>
        </p:blipFill>
        <p:spPr>
          <a:xfrm>
            <a:off x="3559822" y="3265623"/>
            <a:ext cx="296608" cy="156019"/>
          </a:xfrm>
          <a:prstGeom prst="rect">
            <a:avLst/>
          </a:prstGeom>
          <a:noFill/>
          <a:ln>
            <a:noFill/>
          </a:ln>
        </p:spPr>
      </p:pic>
      <p:sp>
        <p:nvSpPr>
          <p:cNvPr id="1093" name="Google Shape;1093;p53"/>
          <p:cNvSpPr txBox="1"/>
          <p:nvPr/>
        </p:nvSpPr>
        <p:spPr>
          <a:xfrm>
            <a:off x="252508" y="3421319"/>
            <a:ext cx="12624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Landmark factor</a:t>
            </a:r>
            <a:endParaRPr b="1" sz="1200">
              <a:solidFill>
                <a:srgbClr val="193364"/>
              </a:solidFill>
            </a:endParaRPr>
          </a:p>
        </p:txBody>
      </p:sp>
      <p:sp>
        <p:nvSpPr>
          <p:cNvPr id="1094" name="Google Shape;1094;p53"/>
          <p:cNvSpPr txBox="1"/>
          <p:nvPr/>
        </p:nvSpPr>
        <p:spPr>
          <a:xfrm>
            <a:off x="1270947" y="1741419"/>
            <a:ext cx="12624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Odometry factor</a:t>
            </a:r>
            <a:endParaRPr b="1" sz="1200">
              <a:solidFill>
                <a:srgbClr val="193364"/>
              </a:solidFill>
            </a:endParaRPr>
          </a:p>
        </p:txBody>
      </p:sp>
      <p:sp>
        <p:nvSpPr>
          <p:cNvPr id="1095" name="Google Shape;1095;p53"/>
          <p:cNvSpPr/>
          <p:nvPr/>
        </p:nvSpPr>
        <p:spPr>
          <a:xfrm>
            <a:off x="858450" y="1333660"/>
            <a:ext cx="5280575" cy="462600"/>
          </a:xfrm>
          <a:custGeom>
            <a:rect b="b" l="l" r="r" t="t"/>
            <a:pathLst>
              <a:path extrusionOk="0" h="18504" w="211223">
                <a:moveTo>
                  <a:pt x="0" y="16773"/>
                </a:moveTo>
                <a:cubicBezTo>
                  <a:pt x="19766" y="13984"/>
                  <a:pt x="83392" y="-252"/>
                  <a:pt x="118596" y="36"/>
                </a:cubicBezTo>
                <a:cubicBezTo>
                  <a:pt x="153800" y="325"/>
                  <a:pt x="195785" y="15426"/>
                  <a:pt x="211223" y="18504"/>
                </a:cubicBezTo>
              </a:path>
            </a:pathLst>
          </a:custGeom>
          <a:noFill/>
          <a:ln cap="flat" cmpd="sng" w="9525">
            <a:solidFill>
              <a:srgbClr val="193364"/>
            </a:solidFill>
            <a:prstDash val="solid"/>
            <a:round/>
            <a:headEnd len="med" w="med" type="none"/>
            <a:tailEnd len="med" w="med" type="none"/>
          </a:ln>
        </p:spPr>
      </p:sp>
      <p:sp>
        <p:nvSpPr>
          <p:cNvPr id="1096" name="Google Shape;1096;p53"/>
          <p:cNvSpPr/>
          <p:nvPr/>
        </p:nvSpPr>
        <p:spPr>
          <a:xfrm>
            <a:off x="2734950" y="1386861"/>
            <a:ext cx="5113709" cy="462600"/>
          </a:xfrm>
          <a:custGeom>
            <a:rect b="b" l="l" r="r" t="t"/>
            <a:pathLst>
              <a:path extrusionOk="0" h="18504" w="211223">
                <a:moveTo>
                  <a:pt x="0" y="16773"/>
                </a:moveTo>
                <a:cubicBezTo>
                  <a:pt x="19766" y="13984"/>
                  <a:pt x="83392" y="-252"/>
                  <a:pt x="118596" y="36"/>
                </a:cubicBezTo>
                <a:cubicBezTo>
                  <a:pt x="153800" y="325"/>
                  <a:pt x="195785" y="15426"/>
                  <a:pt x="211223" y="18504"/>
                </a:cubicBezTo>
              </a:path>
            </a:pathLst>
          </a:custGeom>
          <a:noFill/>
          <a:ln cap="flat" cmpd="sng" w="9525">
            <a:solidFill>
              <a:srgbClr val="193364"/>
            </a:solidFill>
            <a:prstDash val="solid"/>
            <a:round/>
            <a:headEnd len="med" w="med" type="none"/>
            <a:tailEnd len="med" w="med" type="none"/>
          </a:ln>
        </p:spPr>
      </p:sp>
      <p:sp>
        <p:nvSpPr>
          <p:cNvPr id="1097" name="Google Shape;1097;p53"/>
          <p:cNvSpPr/>
          <p:nvPr/>
        </p:nvSpPr>
        <p:spPr>
          <a:xfrm>
            <a:off x="3240186" y="1326445"/>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8" name="Google Shape;1098;p53"/>
          <p:cNvSpPr/>
          <p:nvPr/>
        </p:nvSpPr>
        <p:spPr>
          <a:xfrm>
            <a:off x="5687786" y="135528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9" name="Google Shape;1099;p53"/>
          <p:cNvSpPr txBox="1"/>
          <p:nvPr/>
        </p:nvSpPr>
        <p:spPr>
          <a:xfrm>
            <a:off x="1744897" y="931819"/>
            <a:ext cx="12624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Loop closing factor</a:t>
            </a:r>
            <a:endParaRPr b="1" sz="1200">
              <a:solidFill>
                <a:srgbClr val="193364"/>
              </a:solidFill>
            </a:endParaRPr>
          </a:p>
        </p:txBody>
      </p:sp>
      <p:pic>
        <p:nvPicPr>
          <p:cNvPr id="1100" name="Google Shape;1100;p53" title="{&quot;red&quot;:89,&quot;green&quot;:89,&quot;blue&quot;:89,&quot;origURL&quot;:&quot;https://www.codecogs.com/eqnedit.php?latex=c_1#0&quot;,&quot;size&quot;:18,&quot;width&quot;:129.51968503937007,&quot;height&quot;:61.724409448818896}"/>
          <p:cNvPicPr preferRelativeResize="0"/>
          <p:nvPr/>
        </p:nvPicPr>
        <p:blipFill>
          <a:blip r:embed="rId12">
            <a:alphaModFix/>
          </a:blip>
          <a:stretch>
            <a:fillRect/>
          </a:stretch>
        </p:blipFill>
        <p:spPr>
          <a:xfrm>
            <a:off x="3308975" y="1129750"/>
            <a:ext cx="176593" cy="152591"/>
          </a:xfrm>
          <a:prstGeom prst="rect">
            <a:avLst/>
          </a:prstGeom>
          <a:noFill/>
          <a:ln>
            <a:noFill/>
          </a:ln>
        </p:spPr>
      </p:pic>
      <p:pic>
        <p:nvPicPr>
          <p:cNvPr id="1101" name="Google Shape;1101;p53" title="{&quot;red&quot;:89,&quot;green&quot;:89,&quot;blue&quot;:89,&quot;origURL&quot;:&quot;https://www.codecogs.com/eqnedit.php?latex=c_2#0&quot;,&quot;size&quot;:18,&quot;width&quot;:129.51968503937007,&quot;height&quot;:61.724409448818896}"/>
          <p:cNvPicPr preferRelativeResize="0"/>
          <p:nvPr/>
        </p:nvPicPr>
        <p:blipFill>
          <a:blip r:embed="rId13">
            <a:alphaModFix/>
          </a:blip>
          <a:stretch>
            <a:fillRect/>
          </a:stretch>
        </p:blipFill>
        <p:spPr>
          <a:xfrm>
            <a:off x="5759775" y="1159950"/>
            <a:ext cx="181737" cy="152591"/>
          </a:xfrm>
          <a:prstGeom prst="rect">
            <a:avLst/>
          </a:prstGeom>
          <a:noFill/>
          <a:ln>
            <a:noFill/>
          </a:ln>
        </p:spPr>
      </p:pic>
      <p:pic>
        <p:nvPicPr>
          <p:cNvPr id="1102" name="Google Shape;1102;p53" title="ChatGPT Image Apr 19, 2026, 12_37_01 PM.png"/>
          <p:cNvPicPr preferRelativeResize="0"/>
          <p:nvPr/>
        </p:nvPicPr>
        <p:blipFill rotWithShape="1">
          <a:blip r:embed="rId5">
            <a:alphaModFix/>
          </a:blip>
          <a:srcRect b="4835" l="13703" r="52529" t="61190"/>
          <a:stretch/>
        </p:blipFill>
        <p:spPr>
          <a:xfrm>
            <a:off x="6634897" y="3343636"/>
            <a:ext cx="1168650" cy="783900"/>
          </a:xfrm>
          <a:prstGeom prst="rect">
            <a:avLst/>
          </a:prstGeom>
          <a:noFill/>
          <a:ln>
            <a:noFill/>
          </a:ln>
        </p:spPr>
      </p:pic>
      <p:cxnSp>
        <p:nvCxnSpPr>
          <p:cNvPr id="1103" name="Google Shape;1103;p53"/>
          <p:cNvCxnSpPr>
            <a:stCxn id="1102" idx="1"/>
            <a:endCxn id="1064" idx="2"/>
          </p:cNvCxnSpPr>
          <p:nvPr/>
        </p:nvCxnSpPr>
        <p:spPr>
          <a:xfrm rot="10800000">
            <a:off x="6436297" y="3107086"/>
            <a:ext cx="198600" cy="628500"/>
          </a:xfrm>
          <a:prstGeom prst="straightConnector1">
            <a:avLst/>
          </a:prstGeom>
          <a:noFill/>
          <a:ln cap="flat" cmpd="sng" w="9525">
            <a:solidFill>
              <a:srgbClr val="193364"/>
            </a:solidFill>
            <a:prstDash val="solid"/>
            <a:round/>
            <a:headEnd len="med" w="med" type="none"/>
            <a:tailEnd len="med" w="med" type="none"/>
          </a:ln>
        </p:spPr>
      </p:cxnSp>
      <p:sp>
        <p:nvSpPr>
          <p:cNvPr id="1104" name="Google Shape;1104;p53"/>
          <p:cNvSpPr/>
          <p:nvPr/>
        </p:nvSpPr>
        <p:spPr>
          <a:xfrm>
            <a:off x="6499576" y="3385336"/>
            <a:ext cx="72000" cy="72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5" name="Google Shape;1105;p53"/>
          <p:cNvSpPr txBox="1"/>
          <p:nvPr/>
        </p:nvSpPr>
        <p:spPr>
          <a:xfrm>
            <a:off x="2228649" y="3935200"/>
            <a:ext cx="13902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Landmark 1</a:t>
            </a:r>
            <a:endParaRPr b="1" sz="1200">
              <a:solidFill>
                <a:srgbClr val="193364"/>
              </a:solidFill>
            </a:endParaRPr>
          </a:p>
        </p:txBody>
      </p:sp>
      <p:sp>
        <p:nvSpPr>
          <p:cNvPr id="1106" name="Google Shape;1106;p53"/>
          <p:cNvSpPr txBox="1"/>
          <p:nvPr/>
        </p:nvSpPr>
        <p:spPr>
          <a:xfrm>
            <a:off x="4834249" y="3935200"/>
            <a:ext cx="1390200" cy="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193364"/>
                </a:solidFill>
              </a:rPr>
              <a:t>Landmark 2</a:t>
            </a:r>
            <a:endParaRPr b="1" sz="1200">
              <a:solidFill>
                <a:srgbClr val="193364"/>
              </a:solidFill>
            </a:endParaRPr>
          </a:p>
        </p:txBody>
      </p:sp>
      <p:pic>
        <p:nvPicPr>
          <p:cNvPr id="1107" name="Google Shape;1107;p53" title="{&quot;red&quot;:89,&quot;green&quot;:89,&quot;blue&quot;:89,&quot;origURL&quot;:&quot;https://www.codecogs.com/eqnedit.php?latex=u2#0&quot;,&quot;size&quot;:18,&quot;width&quot;:179.64566929133858,&quot;height&quot;:126.89763779527559}"/>
          <p:cNvPicPr preferRelativeResize="0"/>
          <p:nvPr/>
        </p:nvPicPr>
        <p:blipFill>
          <a:blip r:embed="rId14">
            <a:alphaModFix/>
          </a:blip>
          <a:stretch>
            <a:fillRect/>
          </a:stretch>
        </p:blipFill>
        <p:spPr>
          <a:xfrm>
            <a:off x="3591275" y="2195300"/>
            <a:ext cx="248603" cy="171450"/>
          </a:xfrm>
          <a:prstGeom prst="rect">
            <a:avLst/>
          </a:prstGeom>
          <a:noFill/>
          <a:ln>
            <a:noFill/>
          </a:ln>
        </p:spPr>
      </p:pic>
      <p:pic>
        <p:nvPicPr>
          <p:cNvPr id="1108" name="Google Shape;1108;p53" title="{&quot;red&quot;:89,&quot;green&quot;:89,&quot;blue&quot;:89,&quot;origURL&quot;:&quot;https://www.codecogs.com/eqnedit.php?latex=u_%7Bn-1%7D#0&quot;,&quot;size&quot;:18,&quot;width&quot;:179.64566929133858,&quot;height&quot;:126.89763779527559}"/>
          <p:cNvPicPr preferRelativeResize="0"/>
          <p:nvPr/>
        </p:nvPicPr>
        <p:blipFill>
          <a:blip r:embed="rId15">
            <a:alphaModFix/>
          </a:blip>
          <a:stretch>
            <a:fillRect/>
          </a:stretch>
        </p:blipFill>
        <p:spPr>
          <a:xfrm>
            <a:off x="5300100" y="2229850"/>
            <a:ext cx="462915" cy="154305"/>
          </a:xfrm>
          <a:prstGeom prst="rect">
            <a:avLst/>
          </a:prstGeom>
          <a:noFill/>
          <a:ln>
            <a:noFill/>
          </a:ln>
        </p:spPr>
      </p:pic>
      <p:pic>
        <p:nvPicPr>
          <p:cNvPr id="1109" name="Google Shape;1109;p53" title="{&quot;red&quot;:89,&quot;green&quot;:89,&quot;blue&quot;:89,&quot;origURL&quot;:&quot;https://www.codecogs.com/eqnedit.php?latex=m_k#0&quot;,&quot;size&quot;:18,&quot;width&quot;:179.64566929133858,&quot;height&quot;:126.89763779527559}"/>
          <p:cNvPicPr preferRelativeResize="0"/>
          <p:nvPr/>
        </p:nvPicPr>
        <p:blipFill>
          <a:blip r:embed="rId16">
            <a:alphaModFix/>
          </a:blip>
          <a:stretch>
            <a:fillRect/>
          </a:stretch>
        </p:blipFill>
        <p:spPr>
          <a:xfrm>
            <a:off x="6634888" y="3185863"/>
            <a:ext cx="305181" cy="154305"/>
          </a:xfrm>
          <a:prstGeom prst="rect">
            <a:avLst/>
          </a:prstGeom>
          <a:noFill/>
          <a:ln>
            <a:noFill/>
          </a:ln>
        </p:spPr>
      </p:pic>
      <p:pic>
        <p:nvPicPr>
          <p:cNvPr id="1110" name="Google Shape;1110;p53" title="{&quot;red&quot;:89,&quot;green&quot;:89,&quot;blue&quot;:89,&quot;origURL&quot;:&quot;https://www.codecogs.com/eqnedit.php?latex=m_%7Bk-1%7D#0&quot;,&quot;size&quot;:18,&quot;width&quot;:179.64566929133858,&quot;height&quot;:126.89763779527559}"/>
          <p:cNvPicPr preferRelativeResize="0"/>
          <p:nvPr/>
        </p:nvPicPr>
        <p:blipFill>
          <a:blip r:embed="rId17">
            <a:alphaModFix/>
          </a:blip>
          <a:stretch>
            <a:fillRect/>
          </a:stretch>
        </p:blipFill>
        <p:spPr>
          <a:xfrm>
            <a:off x="5375342" y="3185875"/>
            <a:ext cx="528066" cy="15430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54"/>
          <p:cNvSpPr txBox="1"/>
          <p:nvPr/>
        </p:nvSpPr>
        <p:spPr>
          <a:xfrm>
            <a:off x="360000" y="1085650"/>
            <a:ext cx="8424000" cy="324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116" name="Google Shape;1116;p54"/>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The SLAM problem (t = n)</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grpSp>
        <p:nvGrpSpPr>
          <p:cNvPr id="1117" name="Google Shape;1117;p54"/>
          <p:cNvGrpSpPr/>
          <p:nvPr/>
        </p:nvGrpSpPr>
        <p:grpSpPr>
          <a:xfrm>
            <a:off x="1095318" y="4449088"/>
            <a:ext cx="712880" cy="694332"/>
            <a:chOff x="1095318" y="4449088"/>
            <a:chExt cx="712880" cy="694332"/>
          </a:xfrm>
        </p:grpSpPr>
        <p:sp>
          <p:nvSpPr>
            <p:cNvPr id="1118" name="Google Shape;1118;p54"/>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1119" name="Google Shape;1119;p54"/>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1120" name="Google Shape;1120;p54"/>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1121" name="Google Shape;1121;p54"/>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sp>
        <p:nvSpPr>
          <p:cNvPr id="1122" name="Google Shape;1122;p54"/>
          <p:cNvSpPr/>
          <p:nvPr/>
        </p:nvSpPr>
        <p:spPr>
          <a:xfrm>
            <a:off x="985376" y="1494071"/>
            <a:ext cx="360000" cy="360000"/>
          </a:xfrm>
          <a:prstGeom prst="ellipse">
            <a:avLst/>
          </a:prstGeom>
          <a:noFill/>
          <a:ln cap="flat" cmpd="sng" w="19050">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3" name="Google Shape;1123;p54"/>
          <p:cNvSpPr/>
          <p:nvPr/>
        </p:nvSpPr>
        <p:spPr>
          <a:xfrm>
            <a:off x="2425376" y="1494071"/>
            <a:ext cx="360000" cy="360000"/>
          </a:xfrm>
          <a:prstGeom prst="ellipse">
            <a:avLst/>
          </a:prstGeom>
          <a:noFill/>
          <a:ln cap="flat" cmpd="sng" w="19050">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4" name="Google Shape;1124;p54"/>
          <p:cNvSpPr/>
          <p:nvPr/>
        </p:nvSpPr>
        <p:spPr>
          <a:xfrm>
            <a:off x="5305376" y="1494071"/>
            <a:ext cx="360000" cy="360000"/>
          </a:xfrm>
          <a:prstGeom prst="ellipse">
            <a:avLst/>
          </a:prstGeom>
          <a:noFill/>
          <a:ln cap="flat" cmpd="sng" w="19050">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5" name="Google Shape;1125;p54"/>
          <p:cNvSpPr/>
          <p:nvPr/>
        </p:nvSpPr>
        <p:spPr>
          <a:xfrm>
            <a:off x="6745376" y="1494071"/>
            <a:ext cx="360000" cy="360000"/>
          </a:xfrm>
          <a:prstGeom prst="ellipse">
            <a:avLst/>
          </a:prstGeom>
          <a:noFill/>
          <a:ln cap="flat" cmpd="sng" w="19050">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26" name="Google Shape;1126;p54"/>
          <p:cNvCxnSpPr>
            <a:stCxn id="1122" idx="6"/>
            <a:endCxn id="1123" idx="2"/>
          </p:cNvCxnSpPr>
          <p:nvPr/>
        </p:nvCxnSpPr>
        <p:spPr>
          <a:xfrm>
            <a:off x="1345376" y="1674071"/>
            <a:ext cx="1080000" cy="0"/>
          </a:xfrm>
          <a:prstGeom prst="straightConnector1">
            <a:avLst/>
          </a:prstGeom>
          <a:noFill/>
          <a:ln cap="flat" cmpd="sng" w="19050">
            <a:solidFill>
              <a:srgbClr val="193364"/>
            </a:solidFill>
            <a:prstDash val="solid"/>
            <a:round/>
            <a:headEnd len="med" w="med" type="none"/>
            <a:tailEnd len="med" w="med" type="none"/>
          </a:ln>
        </p:spPr>
      </p:cxnSp>
      <p:cxnSp>
        <p:nvCxnSpPr>
          <p:cNvPr id="1127" name="Google Shape;1127;p54"/>
          <p:cNvCxnSpPr>
            <a:endCxn id="1123" idx="6"/>
          </p:cNvCxnSpPr>
          <p:nvPr/>
        </p:nvCxnSpPr>
        <p:spPr>
          <a:xfrm rot="10800000">
            <a:off x="2785376" y="1674071"/>
            <a:ext cx="925200" cy="2100"/>
          </a:xfrm>
          <a:prstGeom prst="straightConnector1">
            <a:avLst/>
          </a:prstGeom>
          <a:noFill/>
          <a:ln cap="flat" cmpd="sng" w="19050">
            <a:solidFill>
              <a:srgbClr val="193364"/>
            </a:solidFill>
            <a:prstDash val="solid"/>
            <a:round/>
            <a:headEnd len="med" w="med" type="none"/>
            <a:tailEnd len="med" w="med" type="none"/>
          </a:ln>
        </p:spPr>
      </p:cxnSp>
      <p:cxnSp>
        <p:nvCxnSpPr>
          <p:cNvPr id="1128" name="Google Shape;1128;p54"/>
          <p:cNvCxnSpPr>
            <a:stCxn id="1125" idx="2"/>
            <a:endCxn id="1124" idx="6"/>
          </p:cNvCxnSpPr>
          <p:nvPr/>
        </p:nvCxnSpPr>
        <p:spPr>
          <a:xfrm rot="10800000">
            <a:off x="5665376" y="1674071"/>
            <a:ext cx="1080000" cy="0"/>
          </a:xfrm>
          <a:prstGeom prst="straightConnector1">
            <a:avLst/>
          </a:prstGeom>
          <a:noFill/>
          <a:ln cap="flat" cmpd="sng" w="19050">
            <a:solidFill>
              <a:srgbClr val="193364"/>
            </a:solidFill>
            <a:prstDash val="solid"/>
            <a:round/>
            <a:headEnd len="med" w="med" type="none"/>
            <a:tailEnd len="med" w="med" type="none"/>
          </a:ln>
        </p:spPr>
      </p:cxnSp>
      <p:cxnSp>
        <p:nvCxnSpPr>
          <p:cNvPr id="1129" name="Google Shape;1129;p54"/>
          <p:cNvCxnSpPr/>
          <p:nvPr/>
        </p:nvCxnSpPr>
        <p:spPr>
          <a:xfrm flipH="1">
            <a:off x="4453976" y="1674071"/>
            <a:ext cx="851400" cy="2100"/>
          </a:xfrm>
          <a:prstGeom prst="straightConnector1">
            <a:avLst/>
          </a:prstGeom>
          <a:noFill/>
          <a:ln cap="flat" cmpd="sng" w="19050">
            <a:solidFill>
              <a:srgbClr val="193364"/>
            </a:solidFill>
            <a:prstDash val="solid"/>
            <a:round/>
            <a:headEnd len="med" w="med" type="none"/>
            <a:tailEnd len="med" w="med" type="none"/>
          </a:ln>
        </p:spPr>
      </p:cxnSp>
      <p:sp>
        <p:nvSpPr>
          <p:cNvPr id="1130" name="Google Shape;1130;p54"/>
          <p:cNvSpPr/>
          <p:nvPr/>
        </p:nvSpPr>
        <p:spPr>
          <a:xfrm>
            <a:off x="1849376" y="1638071"/>
            <a:ext cx="72000" cy="72000"/>
          </a:xfrm>
          <a:prstGeom prst="ellipse">
            <a:avLst/>
          </a:prstGeom>
          <a:solidFill>
            <a:srgbClr val="193364"/>
          </a:solidFill>
          <a:ln cap="flat" cmpd="sng" w="9525">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1" name="Google Shape;1131;p54"/>
          <p:cNvSpPr/>
          <p:nvPr/>
        </p:nvSpPr>
        <p:spPr>
          <a:xfrm>
            <a:off x="3289376" y="1638071"/>
            <a:ext cx="72000" cy="72000"/>
          </a:xfrm>
          <a:prstGeom prst="ellipse">
            <a:avLst/>
          </a:prstGeom>
          <a:solidFill>
            <a:srgbClr val="193364"/>
          </a:solidFill>
          <a:ln cap="flat" cmpd="sng" w="9525">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2" name="Google Shape;1132;p54"/>
          <p:cNvSpPr/>
          <p:nvPr/>
        </p:nvSpPr>
        <p:spPr>
          <a:xfrm>
            <a:off x="4765376" y="1638071"/>
            <a:ext cx="72000" cy="72000"/>
          </a:xfrm>
          <a:prstGeom prst="ellipse">
            <a:avLst/>
          </a:prstGeom>
          <a:solidFill>
            <a:srgbClr val="193364"/>
          </a:solidFill>
          <a:ln cap="flat" cmpd="sng" w="9525">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3" name="Google Shape;1133;p54"/>
          <p:cNvSpPr/>
          <p:nvPr/>
        </p:nvSpPr>
        <p:spPr>
          <a:xfrm>
            <a:off x="6205376" y="1638071"/>
            <a:ext cx="72000" cy="72000"/>
          </a:xfrm>
          <a:prstGeom prst="ellipse">
            <a:avLst/>
          </a:prstGeom>
          <a:solidFill>
            <a:srgbClr val="193364"/>
          </a:solidFill>
          <a:ln cap="flat" cmpd="sng" w="9525">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4" name="Google Shape;1134;p54"/>
          <p:cNvSpPr/>
          <p:nvPr/>
        </p:nvSpPr>
        <p:spPr>
          <a:xfrm>
            <a:off x="1757951" y="3793321"/>
            <a:ext cx="360000" cy="360000"/>
          </a:xfrm>
          <a:prstGeom prst="ellipse">
            <a:avLst/>
          </a:prstGeom>
          <a:noFill/>
          <a:ln cap="flat" cmpd="sng" w="19050">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35" name="Google Shape;1135;p54"/>
          <p:cNvCxnSpPr>
            <a:stCxn id="1122" idx="4"/>
            <a:endCxn id="1134" idx="2"/>
          </p:cNvCxnSpPr>
          <p:nvPr/>
        </p:nvCxnSpPr>
        <p:spPr>
          <a:xfrm>
            <a:off x="1165376" y="1854071"/>
            <a:ext cx="592500" cy="2119200"/>
          </a:xfrm>
          <a:prstGeom prst="straightConnector1">
            <a:avLst/>
          </a:prstGeom>
          <a:noFill/>
          <a:ln cap="flat" cmpd="sng" w="19050">
            <a:solidFill>
              <a:srgbClr val="193364"/>
            </a:solidFill>
            <a:prstDash val="solid"/>
            <a:round/>
            <a:headEnd len="med" w="med" type="none"/>
            <a:tailEnd len="med" w="med" type="none"/>
          </a:ln>
        </p:spPr>
      </p:cxnSp>
      <p:cxnSp>
        <p:nvCxnSpPr>
          <p:cNvPr id="1136" name="Google Shape;1136;p54"/>
          <p:cNvCxnSpPr>
            <a:stCxn id="1123" idx="3"/>
            <a:endCxn id="1134" idx="0"/>
          </p:cNvCxnSpPr>
          <p:nvPr/>
        </p:nvCxnSpPr>
        <p:spPr>
          <a:xfrm flipH="1">
            <a:off x="1938097" y="1801350"/>
            <a:ext cx="540000" cy="1992000"/>
          </a:xfrm>
          <a:prstGeom prst="straightConnector1">
            <a:avLst/>
          </a:prstGeom>
          <a:noFill/>
          <a:ln cap="flat" cmpd="sng" w="19050">
            <a:solidFill>
              <a:srgbClr val="193364"/>
            </a:solidFill>
            <a:prstDash val="solid"/>
            <a:round/>
            <a:headEnd len="med" w="med" type="none"/>
            <a:tailEnd len="med" w="med" type="none"/>
          </a:ln>
        </p:spPr>
      </p:cxnSp>
      <p:sp>
        <p:nvSpPr>
          <p:cNvPr id="1137" name="Google Shape;1137;p54"/>
          <p:cNvSpPr/>
          <p:nvPr/>
        </p:nvSpPr>
        <p:spPr>
          <a:xfrm>
            <a:off x="3505376" y="2208421"/>
            <a:ext cx="360000" cy="360000"/>
          </a:xfrm>
          <a:prstGeom prst="ellipse">
            <a:avLst/>
          </a:prstGeom>
          <a:noFill/>
          <a:ln cap="flat" cmpd="sng" w="19050">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138" name="Google Shape;1138;p54"/>
          <p:cNvCxnSpPr>
            <a:stCxn id="1123" idx="5"/>
            <a:endCxn id="1137" idx="2"/>
          </p:cNvCxnSpPr>
          <p:nvPr/>
        </p:nvCxnSpPr>
        <p:spPr>
          <a:xfrm>
            <a:off x="2732655" y="1801350"/>
            <a:ext cx="772800" cy="587100"/>
          </a:xfrm>
          <a:prstGeom prst="straightConnector1">
            <a:avLst/>
          </a:prstGeom>
          <a:noFill/>
          <a:ln cap="flat" cmpd="sng" w="19050">
            <a:solidFill>
              <a:srgbClr val="193364"/>
            </a:solidFill>
            <a:prstDash val="solid"/>
            <a:round/>
            <a:headEnd len="med" w="med" type="none"/>
            <a:tailEnd len="med" w="med" type="none"/>
          </a:ln>
        </p:spPr>
      </p:cxnSp>
      <p:cxnSp>
        <p:nvCxnSpPr>
          <p:cNvPr id="1139" name="Google Shape;1139;p54"/>
          <p:cNvCxnSpPr>
            <a:stCxn id="1124" idx="3"/>
            <a:endCxn id="1137" idx="6"/>
          </p:cNvCxnSpPr>
          <p:nvPr/>
        </p:nvCxnSpPr>
        <p:spPr>
          <a:xfrm flipH="1">
            <a:off x="3865297" y="1801350"/>
            <a:ext cx="1492800" cy="587100"/>
          </a:xfrm>
          <a:prstGeom prst="straightConnector1">
            <a:avLst/>
          </a:prstGeom>
          <a:noFill/>
          <a:ln cap="flat" cmpd="sng" w="19050">
            <a:solidFill>
              <a:srgbClr val="193364"/>
            </a:solidFill>
            <a:prstDash val="solid"/>
            <a:round/>
            <a:headEnd len="med" w="med" type="none"/>
            <a:tailEnd len="med" w="med" type="none"/>
          </a:ln>
        </p:spPr>
      </p:cxnSp>
      <p:cxnSp>
        <p:nvCxnSpPr>
          <p:cNvPr id="1140" name="Google Shape;1140;p54"/>
          <p:cNvCxnSpPr>
            <a:stCxn id="1124" idx="4"/>
            <a:endCxn id="1134" idx="6"/>
          </p:cNvCxnSpPr>
          <p:nvPr/>
        </p:nvCxnSpPr>
        <p:spPr>
          <a:xfrm flipH="1">
            <a:off x="2117876" y="1854071"/>
            <a:ext cx="3367500" cy="2119200"/>
          </a:xfrm>
          <a:prstGeom prst="straightConnector1">
            <a:avLst/>
          </a:prstGeom>
          <a:noFill/>
          <a:ln cap="flat" cmpd="sng" w="19050">
            <a:solidFill>
              <a:srgbClr val="193364"/>
            </a:solidFill>
            <a:prstDash val="solid"/>
            <a:round/>
            <a:headEnd len="med" w="med" type="none"/>
            <a:tailEnd len="med" w="med" type="none"/>
          </a:ln>
        </p:spPr>
      </p:cxnSp>
      <p:sp>
        <p:nvSpPr>
          <p:cNvPr id="1141" name="Google Shape;1141;p54"/>
          <p:cNvSpPr/>
          <p:nvPr/>
        </p:nvSpPr>
        <p:spPr>
          <a:xfrm>
            <a:off x="1270676" y="1209283"/>
            <a:ext cx="4082350" cy="338475"/>
          </a:xfrm>
          <a:custGeom>
            <a:rect b="b" l="l" r="r" t="t"/>
            <a:pathLst>
              <a:path extrusionOk="0" h="13539" w="163294">
                <a:moveTo>
                  <a:pt x="0" y="12459"/>
                </a:moveTo>
                <a:cubicBezTo>
                  <a:pt x="13202" y="10386"/>
                  <a:pt x="51998" y="-157"/>
                  <a:pt x="79214" y="23"/>
                </a:cubicBezTo>
                <a:cubicBezTo>
                  <a:pt x="106430" y="203"/>
                  <a:pt x="149281" y="11287"/>
                  <a:pt x="163294" y="13540"/>
                </a:cubicBezTo>
              </a:path>
            </a:pathLst>
          </a:custGeom>
          <a:noFill/>
          <a:ln cap="flat" cmpd="sng" w="19050">
            <a:solidFill>
              <a:srgbClr val="193364"/>
            </a:solidFill>
            <a:prstDash val="solid"/>
            <a:round/>
            <a:headEnd len="med" w="med" type="none"/>
            <a:tailEnd len="med" w="med" type="none"/>
          </a:ln>
        </p:spPr>
      </p:sp>
      <p:sp>
        <p:nvSpPr>
          <p:cNvPr id="1142" name="Google Shape;1142;p54"/>
          <p:cNvSpPr/>
          <p:nvPr/>
        </p:nvSpPr>
        <p:spPr>
          <a:xfrm>
            <a:off x="2703579" y="1219670"/>
            <a:ext cx="4082350" cy="338475"/>
          </a:xfrm>
          <a:custGeom>
            <a:rect b="b" l="l" r="r" t="t"/>
            <a:pathLst>
              <a:path extrusionOk="0" h="13539" w="163294">
                <a:moveTo>
                  <a:pt x="0" y="12459"/>
                </a:moveTo>
                <a:cubicBezTo>
                  <a:pt x="13202" y="10386"/>
                  <a:pt x="51998" y="-157"/>
                  <a:pt x="79214" y="23"/>
                </a:cubicBezTo>
                <a:cubicBezTo>
                  <a:pt x="106430" y="203"/>
                  <a:pt x="149281" y="11287"/>
                  <a:pt x="163294" y="13540"/>
                </a:cubicBezTo>
              </a:path>
            </a:pathLst>
          </a:custGeom>
          <a:noFill/>
          <a:ln cap="flat" cmpd="sng" w="19050">
            <a:solidFill>
              <a:srgbClr val="193364"/>
            </a:solidFill>
            <a:prstDash val="solid"/>
            <a:round/>
            <a:headEnd len="med" w="med" type="none"/>
            <a:tailEnd len="med" w="med" type="none"/>
          </a:ln>
        </p:spPr>
      </p:sp>
      <p:cxnSp>
        <p:nvCxnSpPr>
          <p:cNvPr id="1143" name="Google Shape;1143;p54"/>
          <p:cNvCxnSpPr>
            <a:stCxn id="1122" idx="2"/>
            <a:endCxn id="1144" idx="6"/>
          </p:cNvCxnSpPr>
          <p:nvPr/>
        </p:nvCxnSpPr>
        <p:spPr>
          <a:xfrm rot="10800000">
            <a:off x="586976" y="1674071"/>
            <a:ext cx="398400" cy="0"/>
          </a:xfrm>
          <a:prstGeom prst="straightConnector1">
            <a:avLst/>
          </a:prstGeom>
          <a:noFill/>
          <a:ln cap="flat" cmpd="sng" w="19050">
            <a:solidFill>
              <a:srgbClr val="193364"/>
            </a:solidFill>
            <a:prstDash val="solid"/>
            <a:round/>
            <a:headEnd len="med" w="med" type="none"/>
            <a:tailEnd len="med" w="med" type="none"/>
          </a:ln>
        </p:spPr>
      </p:cxnSp>
      <p:sp>
        <p:nvSpPr>
          <p:cNvPr id="1144" name="Google Shape;1144;p54"/>
          <p:cNvSpPr/>
          <p:nvPr/>
        </p:nvSpPr>
        <p:spPr>
          <a:xfrm>
            <a:off x="514826" y="1638071"/>
            <a:ext cx="72000" cy="72000"/>
          </a:xfrm>
          <a:prstGeom prst="ellipse">
            <a:avLst/>
          </a:prstGeom>
          <a:solidFill>
            <a:srgbClr val="193364"/>
          </a:solidFill>
          <a:ln cap="flat" cmpd="sng" w="9525">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45" name="Google Shape;1145;p54" title="{&quot;red&quot;:89,&quot;green&quot;:89,&quot;blue&quot;:89,&quot;origURL&quot;:&quot;https://www.codecogs.com/eqnedit.php?latex=%5Cboldsymbol%7Bp%7D_1#0&quot;,&quot;size&quot;:12,&quot;width&quot;:663.3070866141733,&quot;height&quot;:255.11811023622047}"/>
          <p:cNvPicPr preferRelativeResize="0"/>
          <p:nvPr/>
        </p:nvPicPr>
        <p:blipFill>
          <a:blip r:embed="rId4">
            <a:alphaModFix/>
          </a:blip>
          <a:stretch>
            <a:fillRect/>
          </a:stretch>
        </p:blipFill>
        <p:spPr>
          <a:xfrm>
            <a:off x="1086513" y="1615772"/>
            <a:ext cx="157734" cy="116586"/>
          </a:xfrm>
          <a:prstGeom prst="rect">
            <a:avLst/>
          </a:prstGeom>
          <a:noFill/>
          <a:ln>
            <a:noFill/>
          </a:ln>
        </p:spPr>
      </p:pic>
      <p:pic>
        <p:nvPicPr>
          <p:cNvPr id="1146" name="Google Shape;1146;p54" title="{&quot;red&quot;:89,&quot;green&quot;:89,&quot;blue&quot;:89,&quot;origURL&quot;:&quot;https://www.codecogs.com/eqnedit.php?latex=%5Cboldsymbol%7Bp%7D_2#0&quot;,&quot;size&quot;:12,&quot;width&quot;:663.3070866141733,&quot;height&quot;:255.11811023622047}"/>
          <p:cNvPicPr preferRelativeResize="0"/>
          <p:nvPr/>
        </p:nvPicPr>
        <p:blipFill>
          <a:blip r:embed="rId5">
            <a:alphaModFix/>
          </a:blip>
          <a:stretch>
            <a:fillRect/>
          </a:stretch>
        </p:blipFill>
        <p:spPr>
          <a:xfrm>
            <a:off x="2524788" y="1615772"/>
            <a:ext cx="161163" cy="116586"/>
          </a:xfrm>
          <a:prstGeom prst="rect">
            <a:avLst/>
          </a:prstGeom>
          <a:noFill/>
          <a:ln>
            <a:noFill/>
          </a:ln>
        </p:spPr>
      </p:pic>
      <p:pic>
        <p:nvPicPr>
          <p:cNvPr id="1147" name="Google Shape;1147;p54" title="{&quot;red&quot;:89,&quot;green&quot;:89,&quot;blue&quot;:89,&quot;origURL&quot;:&quot;https://www.codecogs.com/eqnedit.php?latex=%5Cboldsymbol%7Bp%7D_%7Bn-1%7D#0&quot;,&quot;size&quot;:12,&quot;width&quot;:663.3070866141733,&quot;height&quot;:255.11811023622047}"/>
          <p:cNvPicPr preferRelativeResize="0"/>
          <p:nvPr/>
        </p:nvPicPr>
        <p:blipFill>
          <a:blip r:embed="rId6">
            <a:alphaModFix/>
          </a:blip>
          <a:stretch>
            <a:fillRect/>
          </a:stretch>
        </p:blipFill>
        <p:spPr>
          <a:xfrm>
            <a:off x="5316879" y="1615697"/>
            <a:ext cx="323469" cy="117729"/>
          </a:xfrm>
          <a:prstGeom prst="rect">
            <a:avLst/>
          </a:prstGeom>
          <a:noFill/>
          <a:ln>
            <a:noFill/>
          </a:ln>
        </p:spPr>
      </p:pic>
      <p:pic>
        <p:nvPicPr>
          <p:cNvPr id="1148" name="Google Shape;1148;p54" title="{&quot;red&quot;:89,&quot;green&quot;:89,&quot;blue&quot;:89,&quot;origURL&quot;:&quot;https://www.codecogs.com/eqnedit.php?latex=%5Cboldsymbol%7Bp%7D_%7Bn%7D#0&quot;,&quot;size&quot;:12,&quot;width&quot;:663.3070866141733,&quot;height&quot;:255.11811023622047}"/>
          <p:cNvPicPr preferRelativeResize="0"/>
          <p:nvPr/>
        </p:nvPicPr>
        <p:blipFill>
          <a:blip r:embed="rId7">
            <a:alphaModFix/>
          </a:blip>
          <a:stretch>
            <a:fillRect/>
          </a:stretch>
        </p:blipFill>
        <p:spPr>
          <a:xfrm>
            <a:off x="6842401" y="1615710"/>
            <a:ext cx="176022" cy="117729"/>
          </a:xfrm>
          <a:prstGeom prst="rect">
            <a:avLst/>
          </a:prstGeom>
          <a:noFill/>
          <a:ln>
            <a:noFill/>
          </a:ln>
        </p:spPr>
      </p:pic>
      <p:pic>
        <p:nvPicPr>
          <p:cNvPr id="1149" name="Google Shape;1149;p54" title="{&quot;red&quot;:89,&quot;green&quot;:89,&quot;blue&quot;:89,&quot;origURL&quot;:&quot;https://www.codecogs.com/eqnedit.php?latex=%5Cboldsymbol%7Bl%7D_1#0&quot;,&quot;size&quot;:12,&quot;width&quot;:663.3070866141733,&quot;height&quot;:255.11811023622047}"/>
          <p:cNvPicPr preferRelativeResize="0"/>
          <p:nvPr/>
        </p:nvPicPr>
        <p:blipFill>
          <a:blip r:embed="rId8">
            <a:alphaModFix/>
          </a:blip>
          <a:stretch>
            <a:fillRect/>
          </a:stretch>
        </p:blipFill>
        <p:spPr>
          <a:xfrm>
            <a:off x="1884226" y="3920660"/>
            <a:ext cx="107442" cy="145161"/>
          </a:xfrm>
          <a:prstGeom prst="rect">
            <a:avLst/>
          </a:prstGeom>
          <a:noFill/>
          <a:ln>
            <a:noFill/>
          </a:ln>
        </p:spPr>
      </p:pic>
      <p:pic>
        <p:nvPicPr>
          <p:cNvPr id="1150" name="Google Shape;1150;p54" title="{&quot;red&quot;:89,&quot;green&quot;:89,&quot;blue&quot;:89,&quot;origURL&quot;:&quot;https://www.codecogs.com/eqnedit.php?latex=%5Cboldsymbol%7Bl%7D_2#0&quot;,&quot;size&quot;:12,&quot;width&quot;:663.3070866141733,&quot;height&quot;:255.11811023622047}"/>
          <p:cNvPicPr preferRelativeResize="0"/>
          <p:nvPr/>
        </p:nvPicPr>
        <p:blipFill>
          <a:blip r:embed="rId9">
            <a:alphaModFix/>
          </a:blip>
          <a:stretch>
            <a:fillRect/>
          </a:stretch>
        </p:blipFill>
        <p:spPr>
          <a:xfrm>
            <a:off x="3629938" y="2315835"/>
            <a:ext cx="110871" cy="145161"/>
          </a:xfrm>
          <a:prstGeom prst="rect">
            <a:avLst/>
          </a:prstGeom>
          <a:noFill/>
          <a:ln>
            <a:noFill/>
          </a:ln>
        </p:spPr>
      </p:pic>
      <p:sp>
        <p:nvSpPr>
          <p:cNvPr id="1151" name="Google Shape;1151;p54"/>
          <p:cNvSpPr/>
          <p:nvPr/>
        </p:nvSpPr>
        <p:spPr>
          <a:xfrm>
            <a:off x="3929058" y="1656570"/>
            <a:ext cx="36000" cy="36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2" name="Google Shape;1152;p54"/>
          <p:cNvSpPr/>
          <p:nvPr/>
        </p:nvSpPr>
        <p:spPr>
          <a:xfrm>
            <a:off x="4081458" y="1656570"/>
            <a:ext cx="36000" cy="36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3" name="Google Shape;1153;p54"/>
          <p:cNvSpPr/>
          <p:nvPr/>
        </p:nvSpPr>
        <p:spPr>
          <a:xfrm>
            <a:off x="4233858" y="1656570"/>
            <a:ext cx="36000" cy="36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4" name="Google Shape;1154;p54"/>
          <p:cNvSpPr/>
          <p:nvPr/>
        </p:nvSpPr>
        <p:spPr>
          <a:xfrm>
            <a:off x="1418867" y="2844846"/>
            <a:ext cx="72000" cy="72000"/>
          </a:xfrm>
          <a:prstGeom prst="ellipse">
            <a:avLst/>
          </a:prstGeom>
          <a:solidFill>
            <a:srgbClr val="193364"/>
          </a:solidFill>
          <a:ln cap="flat" cmpd="sng" w="9525">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5" name="Google Shape;1155;p54"/>
          <p:cNvSpPr/>
          <p:nvPr/>
        </p:nvSpPr>
        <p:spPr>
          <a:xfrm>
            <a:off x="2158583" y="2814071"/>
            <a:ext cx="72000" cy="72000"/>
          </a:xfrm>
          <a:prstGeom prst="ellipse">
            <a:avLst/>
          </a:prstGeom>
          <a:solidFill>
            <a:srgbClr val="193364"/>
          </a:solidFill>
          <a:ln cap="flat" cmpd="sng" w="9525">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6" name="Google Shape;1156;p54"/>
          <p:cNvSpPr/>
          <p:nvPr/>
        </p:nvSpPr>
        <p:spPr>
          <a:xfrm>
            <a:off x="3725865" y="2901936"/>
            <a:ext cx="72000" cy="72000"/>
          </a:xfrm>
          <a:prstGeom prst="ellipse">
            <a:avLst/>
          </a:prstGeom>
          <a:solidFill>
            <a:srgbClr val="193364"/>
          </a:solidFill>
          <a:ln cap="flat" cmpd="sng" w="9525">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7" name="Google Shape;1157;p54"/>
          <p:cNvSpPr/>
          <p:nvPr/>
        </p:nvSpPr>
        <p:spPr>
          <a:xfrm>
            <a:off x="4875523" y="1195778"/>
            <a:ext cx="72000" cy="72000"/>
          </a:xfrm>
          <a:prstGeom prst="ellipse">
            <a:avLst/>
          </a:prstGeom>
          <a:solidFill>
            <a:srgbClr val="193364"/>
          </a:solidFill>
          <a:ln cap="flat" cmpd="sng" w="9525">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8" name="Google Shape;1158;p54"/>
          <p:cNvSpPr/>
          <p:nvPr/>
        </p:nvSpPr>
        <p:spPr>
          <a:xfrm>
            <a:off x="2677231" y="1209296"/>
            <a:ext cx="72000" cy="72000"/>
          </a:xfrm>
          <a:prstGeom prst="ellipse">
            <a:avLst/>
          </a:prstGeom>
          <a:solidFill>
            <a:srgbClr val="193364"/>
          </a:solidFill>
          <a:ln cap="flat" cmpd="sng" w="9525">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59" name="Google Shape;1159;p54" title="{&quot;red&quot;:89,&quot;green&quot;:89,&quot;blue&quot;:89,&quot;origURL&quot;:&quot;https://www.codecogs.com/eqnedit.php?latex=%5Cphi_%7Bu_1%7D(%5Cboldsymbol%7Bp_1%7D%2C%5Cboldsymbol%7Bp_2%7D)#0&quot;,&quot;size&quot;:12,&quot;width&quot;:663.3070866141733,&quot;height&quot;:255.11811023622047}"/>
          <p:cNvPicPr preferRelativeResize="0"/>
          <p:nvPr/>
        </p:nvPicPr>
        <p:blipFill>
          <a:blip r:embed="rId10">
            <a:alphaModFix/>
          </a:blip>
          <a:stretch>
            <a:fillRect/>
          </a:stretch>
        </p:blipFill>
        <p:spPr>
          <a:xfrm>
            <a:off x="1568372" y="1759255"/>
            <a:ext cx="634006" cy="140030"/>
          </a:xfrm>
          <a:prstGeom prst="rect">
            <a:avLst/>
          </a:prstGeom>
          <a:noFill/>
          <a:ln>
            <a:noFill/>
          </a:ln>
        </p:spPr>
      </p:pic>
      <p:pic>
        <p:nvPicPr>
          <p:cNvPr id="1160" name="Google Shape;1160;p54" title="{&quot;red&quot;:89,&quot;green&quot;:89,&quot;blue&quot;:89,&quot;origURL&quot;:&quot;https://www.codecogs.com/eqnedit.php?latex=%5Cphi(%5Cboldsymbol%7Bp_1%7D)#0&quot;,&quot;size&quot;:12,&quot;width&quot;:663.3070866141733,&quot;height&quot;:255.11811023622047}"/>
          <p:cNvPicPr preferRelativeResize="0"/>
          <p:nvPr/>
        </p:nvPicPr>
        <p:blipFill>
          <a:blip r:embed="rId11">
            <a:alphaModFix/>
          </a:blip>
          <a:stretch>
            <a:fillRect/>
          </a:stretch>
        </p:blipFill>
        <p:spPr>
          <a:xfrm>
            <a:off x="358801" y="1754330"/>
            <a:ext cx="314198" cy="140030"/>
          </a:xfrm>
          <a:prstGeom prst="rect">
            <a:avLst/>
          </a:prstGeom>
          <a:noFill/>
          <a:ln>
            <a:noFill/>
          </a:ln>
        </p:spPr>
      </p:pic>
      <p:pic>
        <p:nvPicPr>
          <p:cNvPr id="1161" name="Google Shape;1161;p54" title="{&quot;red&quot;:89,&quot;green&quot;:89,&quot;blue&quot;:89,&quot;origURL&quot;:&quot;https://www.codecogs.com/eqnedit.php?latex=%5Cphi_%7Bu_2%7D(%5Ccdots)#0&quot;,&quot;size&quot;:12,&quot;width&quot;:663.3070866141733,&quot;height&quot;:255.11811023622047}"/>
          <p:cNvPicPr preferRelativeResize="0"/>
          <p:nvPr/>
        </p:nvPicPr>
        <p:blipFill>
          <a:blip r:embed="rId12">
            <a:alphaModFix/>
          </a:blip>
          <a:stretch>
            <a:fillRect/>
          </a:stretch>
        </p:blipFill>
        <p:spPr>
          <a:xfrm>
            <a:off x="3092494" y="1738513"/>
            <a:ext cx="465686" cy="140030"/>
          </a:xfrm>
          <a:prstGeom prst="rect">
            <a:avLst/>
          </a:prstGeom>
          <a:noFill/>
          <a:ln>
            <a:noFill/>
          </a:ln>
        </p:spPr>
      </p:pic>
      <p:pic>
        <p:nvPicPr>
          <p:cNvPr id="1162" name="Google Shape;1162;p54" title="{&quot;red&quot;:89,&quot;green&quot;:89,&quot;blue&quot;:89,&quot;origURL&quot;:&quot;https://www.codecogs.com/eqnedit.php?latex=%5Cphi_%7Bu_%7Bn-1%7D%7D(%5Ccdots)#0&quot;,&quot;size&quot;:12,&quot;width&quot;:663.3070866141733,&quot;height&quot;:255.11811023622047}"/>
          <p:cNvPicPr preferRelativeResize="0"/>
          <p:nvPr/>
        </p:nvPicPr>
        <p:blipFill>
          <a:blip r:embed="rId13">
            <a:alphaModFix/>
          </a:blip>
          <a:stretch>
            <a:fillRect/>
          </a:stretch>
        </p:blipFill>
        <p:spPr>
          <a:xfrm>
            <a:off x="4520270" y="1742885"/>
            <a:ext cx="587251" cy="140030"/>
          </a:xfrm>
          <a:prstGeom prst="rect">
            <a:avLst/>
          </a:prstGeom>
          <a:noFill/>
          <a:ln>
            <a:noFill/>
          </a:ln>
        </p:spPr>
      </p:pic>
      <p:pic>
        <p:nvPicPr>
          <p:cNvPr id="1163" name="Google Shape;1163;p54" title="{&quot;red&quot;:89,&quot;green&quot;:89,&quot;blue&quot;:89,&quot;origURL&quot;:&quot;https://www.codecogs.com/eqnedit.php?latex=%5Cphi_%7Bu_n%7D(%5Cboldsymbol%7Bp_%7Bn-1%7D%7D%2C%5Cboldsymbol%7Bp_n%7D)#0&quot;,&quot;size&quot;:12,&quot;width&quot;:663.3070866141733,&quot;height&quot;:255.11811023622047}"/>
          <p:cNvPicPr preferRelativeResize="0"/>
          <p:nvPr/>
        </p:nvPicPr>
        <p:blipFill>
          <a:blip r:embed="rId14">
            <a:alphaModFix/>
          </a:blip>
          <a:stretch>
            <a:fillRect/>
          </a:stretch>
        </p:blipFill>
        <p:spPr>
          <a:xfrm>
            <a:off x="5831326" y="1738510"/>
            <a:ext cx="820094" cy="140030"/>
          </a:xfrm>
          <a:prstGeom prst="rect">
            <a:avLst/>
          </a:prstGeom>
          <a:noFill/>
          <a:ln>
            <a:noFill/>
          </a:ln>
        </p:spPr>
      </p:pic>
      <p:sp>
        <p:nvSpPr>
          <p:cNvPr id="1164" name="Google Shape;1164;p54"/>
          <p:cNvSpPr/>
          <p:nvPr/>
        </p:nvSpPr>
        <p:spPr>
          <a:xfrm>
            <a:off x="3083058" y="2058921"/>
            <a:ext cx="72000" cy="72000"/>
          </a:xfrm>
          <a:prstGeom prst="ellipse">
            <a:avLst/>
          </a:prstGeom>
          <a:solidFill>
            <a:srgbClr val="193364"/>
          </a:solidFill>
          <a:ln cap="flat" cmpd="sng" w="9525">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5" name="Google Shape;1165;p54"/>
          <p:cNvSpPr/>
          <p:nvPr/>
        </p:nvSpPr>
        <p:spPr>
          <a:xfrm>
            <a:off x="4526983" y="2078046"/>
            <a:ext cx="72000" cy="72000"/>
          </a:xfrm>
          <a:prstGeom prst="ellipse">
            <a:avLst/>
          </a:prstGeom>
          <a:solidFill>
            <a:srgbClr val="193364"/>
          </a:solidFill>
          <a:ln cap="flat" cmpd="sng" w="9525">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66" name="Google Shape;1166;p54" title="{&quot;red&quot;:89,&quot;green&quot;:89,&quot;blue&quot;:89,&quot;origURL&quot;:&quot;https://www.codecogs.com/eqnedit.php?latex=%5Cphi_%7Bm_1%7D(%5Cboldsymbol%7Bp_1%7D%2C%5Cboldsymbol%7Bl_1%7D)#0&quot;,&quot;size&quot;:12,&quot;width&quot;:663.3070866141733,&quot;height&quot;:255.11811023622047}"/>
          <p:cNvPicPr preferRelativeResize="0"/>
          <p:nvPr/>
        </p:nvPicPr>
        <p:blipFill>
          <a:blip r:embed="rId15">
            <a:alphaModFix/>
          </a:blip>
          <a:stretch>
            <a:fillRect/>
          </a:stretch>
        </p:blipFill>
        <p:spPr>
          <a:xfrm>
            <a:off x="735476" y="2812435"/>
            <a:ext cx="609900" cy="136800"/>
          </a:xfrm>
          <a:prstGeom prst="rect">
            <a:avLst/>
          </a:prstGeom>
          <a:noFill/>
          <a:ln>
            <a:noFill/>
          </a:ln>
        </p:spPr>
      </p:pic>
      <p:pic>
        <p:nvPicPr>
          <p:cNvPr id="1167" name="Google Shape;1167;p54" title="{&quot;red&quot;:89,&quot;green&quot;:89,&quot;blue&quot;:89,&quot;origURL&quot;:&quot;https://www.codecogs.com/eqnedit.php?latex=%5Cphi_%7Bm_2%7D(%5Cboldsymbol%7Bp_2%7D%2C%5Cboldsymbol%7Bl_1%7D)#0&quot;,&quot;size&quot;:12,&quot;width&quot;:663.3070866141733,&quot;height&quot;:255.11811023622047}"/>
          <p:cNvPicPr preferRelativeResize="0"/>
          <p:nvPr/>
        </p:nvPicPr>
        <p:blipFill>
          <a:blip r:embed="rId16">
            <a:alphaModFix/>
          </a:blip>
          <a:stretch>
            <a:fillRect/>
          </a:stretch>
        </p:blipFill>
        <p:spPr>
          <a:xfrm>
            <a:off x="1568376" y="2658526"/>
            <a:ext cx="609900" cy="136800"/>
          </a:xfrm>
          <a:prstGeom prst="rect">
            <a:avLst/>
          </a:prstGeom>
          <a:noFill/>
          <a:ln>
            <a:noFill/>
          </a:ln>
        </p:spPr>
      </p:pic>
      <p:pic>
        <p:nvPicPr>
          <p:cNvPr id="1168" name="Google Shape;1168;p54" title="{&quot;red&quot;:89,&quot;green&quot;:89,&quot;blue&quot;:89,&quot;origURL&quot;:&quot;https://www.codecogs.com/eqnedit.php?latex=%5Cphi_%7Bm_3%7D(%5Cboldsymbol%7Bp_2%7D%2C%5Cboldsymbol%7Bl_2%7D)#0&quot;,&quot;size&quot;:12,&quot;width&quot;:663.3070866141733,&quot;height&quot;:255.11811023622047}"/>
          <p:cNvPicPr preferRelativeResize="0"/>
          <p:nvPr/>
        </p:nvPicPr>
        <p:blipFill>
          <a:blip r:embed="rId17">
            <a:alphaModFix/>
          </a:blip>
          <a:stretch>
            <a:fillRect/>
          </a:stretch>
        </p:blipFill>
        <p:spPr>
          <a:xfrm>
            <a:off x="2545163" y="2208410"/>
            <a:ext cx="609900" cy="136800"/>
          </a:xfrm>
          <a:prstGeom prst="rect">
            <a:avLst/>
          </a:prstGeom>
          <a:noFill/>
          <a:ln>
            <a:noFill/>
          </a:ln>
        </p:spPr>
      </p:pic>
      <p:pic>
        <p:nvPicPr>
          <p:cNvPr id="1169" name="Google Shape;1169;p54" title="{&quot;red&quot;:89,&quot;green&quot;:89,&quot;blue&quot;:89,&quot;origURL&quot;:&quot;https://www.codecogs.com/eqnedit.php?latex=%5Cphi_%7Bm_%7Bk-1%7D%7D(%5Cboldsymbol%7Bp_%7Bn-1%7D%7D%2C%5Cboldsymbol%7Bl_2%7D)#0&quot;,&quot;size&quot;:12,&quot;width&quot;:663.3070866141733,&quot;height&quot;:255.11811023622047}"/>
          <p:cNvPicPr preferRelativeResize="0"/>
          <p:nvPr/>
        </p:nvPicPr>
        <p:blipFill>
          <a:blip r:embed="rId18">
            <a:alphaModFix/>
          </a:blip>
          <a:stretch>
            <a:fillRect/>
          </a:stretch>
        </p:blipFill>
        <p:spPr>
          <a:xfrm>
            <a:off x="3617514" y="1983660"/>
            <a:ext cx="869251" cy="136800"/>
          </a:xfrm>
          <a:prstGeom prst="rect">
            <a:avLst/>
          </a:prstGeom>
          <a:noFill/>
          <a:ln>
            <a:noFill/>
          </a:ln>
        </p:spPr>
      </p:pic>
      <p:pic>
        <p:nvPicPr>
          <p:cNvPr id="1170" name="Google Shape;1170;p54" title="{&quot;red&quot;:89,&quot;green&quot;:89,&quot;blue&quot;:89,&quot;origURL&quot;:&quot;https://www.codecogs.com/eqnedit.php?latex=%5Cphi_%7Bm_%7Bk%7D%7D(%5Cboldsymbol%7Bp_%7Bn-1%7D%7D%2C%5Cboldsymbol%7Bl_1%7D)#0&quot;,&quot;size&quot;:12,&quot;width&quot;:663.3070866141733,&quot;height&quot;:255.11811023622047}"/>
          <p:cNvPicPr preferRelativeResize="0"/>
          <p:nvPr/>
        </p:nvPicPr>
        <p:blipFill>
          <a:blip r:embed="rId19">
            <a:alphaModFix/>
          </a:blip>
          <a:stretch>
            <a:fillRect/>
          </a:stretch>
        </p:blipFill>
        <p:spPr>
          <a:xfrm>
            <a:off x="3797876" y="3019785"/>
            <a:ext cx="773632" cy="140400"/>
          </a:xfrm>
          <a:prstGeom prst="rect">
            <a:avLst/>
          </a:prstGeom>
          <a:noFill/>
          <a:ln>
            <a:noFill/>
          </a:ln>
        </p:spPr>
      </p:pic>
      <p:pic>
        <p:nvPicPr>
          <p:cNvPr id="1171" name="Google Shape;1171;p54" title="{&quot;red&quot;:89,&quot;green&quot;:89,&quot;blue&quot;:89,&quot;origURL&quot;:&quot;https://www.codecogs.com/eqnedit.php?latex=%5Cphi_%7Bc_1%7D(%5Cboldsymbol%7Bp%7D_1%2C%5Cboldsymbol%7Bp%7D_%7Bn-1%7D)#0&quot;,&quot;size&quot;:12,&quot;width&quot;:663.3070866141733,&quot;height&quot;:255.11811023622047}"/>
          <p:cNvPicPr preferRelativeResize="0"/>
          <p:nvPr/>
        </p:nvPicPr>
        <p:blipFill>
          <a:blip r:embed="rId20">
            <a:alphaModFix/>
          </a:blip>
          <a:stretch>
            <a:fillRect/>
          </a:stretch>
        </p:blipFill>
        <p:spPr>
          <a:xfrm>
            <a:off x="1849001" y="1082871"/>
            <a:ext cx="718200" cy="136800"/>
          </a:xfrm>
          <a:prstGeom prst="rect">
            <a:avLst/>
          </a:prstGeom>
          <a:noFill/>
          <a:ln>
            <a:noFill/>
          </a:ln>
        </p:spPr>
      </p:pic>
      <p:pic>
        <p:nvPicPr>
          <p:cNvPr id="1172" name="Google Shape;1172;p54" title="{&quot;red&quot;:89,&quot;green&quot;:89,&quot;blue&quot;:89,&quot;origURL&quot;:&quot;https://www.codecogs.com/eqnedit.php?latex=%5Cphi_%7Bc_2%7D(%5Cboldsymbol%7Bp%7D_2%2C%5Cboldsymbol%7Bp%7D_%7Bn%7D)#0&quot;,&quot;size&quot;:12,&quot;width&quot;:663.3070866141733,&quot;height&quot;:255.11811023622047}"/>
          <p:cNvPicPr preferRelativeResize="0"/>
          <p:nvPr/>
        </p:nvPicPr>
        <p:blipFill>
          <a:blip r:embed="rId21">
            <a:alphaModFix/>
          </a:blip>
          <a:stretch>
            <a:fillRect/>
          </a:stretch>
        </p:blipFill>
        <p:spPr>
          <a:xfrm>
            <a:off x="5003351" y="1082871"/>
            <a:ext cx="595650" cy="136800"/>
          </a:xfrm>
          <a:prstGeom prst="rect">
            <a:avLst/>
          </a:prstGeom>
          <a:noFill/>
          <a:ln>
            <a:noFill/>
          </a:ln>
        </p:spPr>
      </p:pic>
      <p:grpSp>
        <p:nvGrpSpPr>
          <p:cNvPr id="1173" name="Google Shape;1173;p54"/>
          <p:cNvGrpSpPr/>
          <p:nvPr/>
        </p:nvGrpSpPr>
        <p:grpSpPr>
          <a:xfrm>
            <a:off x="4598983" y="2681730"/>
            <a:ext cx="4181145" cy="1638389"/>
            <a:chOff x="252508" y="931819"/>
            <a:chExt cx="8581989" cy="3362867"/>
          </a:xfrm>
        </p:grpSpPr>
        <p:pic>
          <p:nvPicPr>
            <p:cNvPr id="1174" name="Google Shape;1174;p54" title="ChatGPT Image Apr 19, 2026, 12_37_01 PM.png"/>
            <p:cNvPicPr preferRelativeResize="0"/>
            <p:nvPr/>
          </p:nvPicPr>
          <p:blipFill rotWithShape="1">
            <a:blip r:embed="rId22">
              <a:alphaModFix/>
            </a:blip>
            <a:srcRect b="39849" l="14168" r="52065" t="5750"/>
            <a:stretch/>
          </p:blipFill>
          <p:spPr>
            <a:xfrm>
              <a:off x="410497" y="1851886"/>
              <a:ext cx="1168650" cy="1255224"/>
            </a:xfrm>
            <a:prstGeom prst="rect">
              <a:avLst/>
            </a:prstGeom>
            <a:noFill/>
            <a:ln>
              <a:noFill/>
            </a:ln>
          </p:spPr>
        </p:pic>
        <p:pic>
          <p:nvPicPr>
            <p:cNvPr id="1175" name="Google Shape;1175;p54" title="ChatGPT Image Apr 19, 2026, 12_37_01 PM.png"/>
            <p:cNvPicPr preferRelativeResize="0"/>
            <p:nvPr/>
          </p:nvPicPr>
          <p:blipFill rotWithShape="1">
            <a:blip r:embed="rId23">
              <a:alphaModFix/>
            </a:blip>
            <a:srcRect b="39849" l="14168" r="52065" t="5750"/>
            <a:stretch/>
          </p:blipFill>
          <p:spPr>
            <a:xfrm>
              <a:off x="7665847" y="1851886"/>
              <a:ext cx="1168650" cy="1255224"/>
            </a:xfrm>
            <a:prstGeom prst="rect">
              <a:avLst/>
            </a:prstGeom>
            <a:noFill/>
            <a:ln>
              <a:noFill/>
            </a:ln>
          </p:spPr>
        </p:pic>
        <p:pic>
          <p:nvPicPr>
            <p:cNvPr id="1176" name="Google Shape;1176;p54" title="ChatGPT Image Apr 19, 2026, 12_37_01 PM.png"/>
            <p:cNvPicPr preferRelativeResize="0"/>
            <p:nvPr/>
          </p:nvPicPr>
          <p:blipFill rotWithShape="1">
            <a:blip r:embed="rId22">
              <a:alphaModFix/>
            </a:blip>
            <a:srcRect b="39849" l="14168" r="52065" t="5750"/>
            <a:stretch/>
          </p:blipFill>
          <p:spPr>
            <a:xfrm>
              <a:off x="5852010" y="1851886"/>
              <a:ext cx="1168650" cy="1255224"/>
            </a:xfrm>
            <a:prstGeom prst="rect">
              <a:avLst/>
            </a:prstGeom>
            <a:noFill/>
            <a:ln>
              <a:noFill/>
            </a:ln>
          </p:spPr>
        </p:pic>
        <p:pic>
          <p:nvPicPr>
            <p:cNvPr id="1177" name="Google Shape;1177;p54" title="ChatGPT Image Apr 19, 2026, 12_37_01 PM.png"/>
            <p:cNvPicPr preferRelativeResize="0"/>
            <p:nvPr/>
          </p:nvPicPr>
          <p:blipFill rotWithShape="1">
            <a:blip r:embed="rId22">
              <a:alphaModFix/>
            </a:blip>
            <a:srcRect b="39849" l="14168" r="52065" t="5750"/>
            <a:stretch/>
          </p:blipFill>
          <p:spPr>
            <a:xfrm>
              <a:off x="2224335" y="1851886"/>
              <a:ext cx="1168650" cy="1255224"/>
            </a:xfrm>
            <a:prstGeom prst="rect">
              <a:avLst/>
            </a:prstGeom>
            <a:noFill/>
            <a:ln>
              <a:noFill/>
            </a:ln>
          </p:spPr>
        </p:pic>
        <p:cxnSp>
          <p:nvCxnSpPr>
            <p:cNvPr id="1178" name="Google Shape;1178;p54"/>
            <p:cNvCxnSpPr>
              <a:endCxn id="1177" idx="1"/>
            </p:cNvCxnSpPr>
            <p:nvPr/>
          </p:nvCxnSpPr>
          <p:spPr>
            <a:xfrm flipH="1" rot="10800000">
              <a:off x="1579935" y="2479498"/>
              <a:ext cx="644400" cy="9300"/>
            </a:xfrm>
            <a:prstGeom prst="straightConnector1">
              <a:avLst/>
            </a:prstGeom>
            <a:noFill/>
            <a:ln cap="flat" cmpd="sng" w="4650">
              <a:solidFill>
                <a:srgbClr val="193364"/>
              </a:solidFill>
              <a:prstDash val="solid"/>
              <a:round/>
              <a:headEnd len="med" w="med" type="none"/>
              <a:tailEnd len="med" w="med" type="none"/>
            </a:ln>
          </p:spPr>
        </p:cxnSp>
        <p:cxnSp>
          <p:nvCxnSpPr>
            <p:cNvPr id="1179" name="Google Shape;1179;p54"/>
            <p:cNvCxnSpPr>
              <a:stCxn id="1176" idx="3"/>
              <a:endCxn id="1175" idx="1"/>
            </p:cNvCxnSpPr>
            <p:nvPr/>
          </p:nvCxnSpPr>
          <p:spPr>
            <a:xfrm>
              <a:off x="7020660" y="2479498"/>
              <a:ext cx="645300" cy="0"/>
            </a:xfrm>
            <a:prstGeom prst="straightConnector1">
              <a:avLst/>
            </a:prstGeom>
            <a:noFill/>
            <a:ln cap="flat" cmpd="sng" w="4650">
              <a:solidFill>
                <a:srgbClr val="193364"/>
              </a:solidFill>
              <a:prstDash val="solid"/>
              <a:round/>
              <a:headEnd len="med" w="med" type="none"/>
              <a:tailEnd len="med" w="med" type="none"/>
            </a:ln>
          </p:spPr>
        </p:cxnSp>
        <p:cxnSp>
          <p:nvCxnSpPr>
            <p:cNvPr id="1180" name="Google Shape;1180;p54"/>
            <p:cNvCxnSpPr>
              <a:stCxn id="1177" idx="3"/>
            </p:cNvCxnSpPr>
            <p:nvPr/>
          </p:nvCxnSpPr>
          <p:spPr>
            <a:xfrm>
              <a:off x="3392985" y="2479498"/>
              <a:ext cx="645300" cy="4500"/>
            </a:xfrm>
            <a:prstGeom prst="straightConnector1">
              <a:avLst/>
            </a:prstGeom>
            <a:noFill/>
            <a:ln cap="flat" cmpd="sng" w="4650">
              <a:solidFill>
                <a:srgbClr val="193364"/>
              </a:solidFill>
              <a:prstDash val="solid"/>
              <a:round/>
              <a:headEnd len="med" w="med" type="none"/>
              <a:tailEnd len="med" w="med" type="none"/>
            </a:ln>
          </p:spPr>
        </p:cxnSp>
        <p:cxnSp>
          <p:nvCxnSpPr>
            <p:cNvPr id="1181" name="Google Shape;1181;p54"/>
            <p:cNvCxnSpPr>
              <a:endCxn id="1176" idx="1"/>
            </p:cNvCxnSpPr>
            <p:nvPr/>
          </p:nvCxnSpPr>
          <p:spPr>
            <a:xfrm flipH="1" rot="10800000">
              <a:off x="5206710" y="2479498"/>
              <a:ext cx="645300" cy="4500"/>
            </a:xfrm>
            <a:prstGeom prst="straightConnector1">
              <a:avLst/>
            </a:prstGeom>
            <a:noFill/>
            <a:ln cap="flat" cmpd="sng" w="4650">
              <a:solidFill>
                <a:srgbClr val="193364"/>
              </a:solidFill>
              <a:prstDash val="solid"/>
              <a:round/>
              <a:headEnd len="med" w="med" type="none"/>
              <a:tailEnd len="med" w="med" type="none"/>
            </a:ln>
          </p:spPr>
        </p:cxnSp>
        <p:pic>
          <p:nvPicPr>
            <p:cNvPr id="1182" name="Google Shape;1182;p54" title="ChatGPT Image Apr 19, 2026, 12_37_01 PM.png"/>
            <p:cNvPicPr preferRelativeResize="0"/>
            <p:nvPr/>
          </p:nvPicPr>
          <p:blipFill rotWithShape="1">
            <a:blip r:embed="rId23">
              <a:alphaModFix/>
            </a:blip>
            <a:srcRect b="4835" l="13703" r="52529" t="61190"/>
            <a:stretch/>
          </p:blipFill>
          <p:spPr>
            <a:xfrm>
              <a:off x="1317822" y="3343636"/>
              <a:ext cx="1168650" cy="783900"/>
            </a:xfrm>
            <a:prstGeom prst="rect">
              <a:avLst/>
            </a:prstGeom>
            <a:noFill/>
            <a:ln>
              <a:noFill/>
            </a:ln>
          </p:spPr>
        </p:pic>
        <p:cxnSp>
          <p:nvCxnSpPr>
            <p:cNvPr id="1183" name="Google Shape;1183;p54"/>
            <p:cNvCxnSpPr>
              <a:stCxn id="1174" idx="2"/>
              <a:endCxn id="1182" idx="1"/>
            </p:cNvCxnSpPr>
            <p:nvPr/>
          </p:nvCxnSpPr>
          <p:spPr>
            <a:xfrm>
              <a:off x="994823" y="3107110"/>
              <a:ext cx="323100" cy="628500"/>
            </a:xfrm>
            <a:prstGeom prst="straightConnector1">
              <a:avLst/>
            </a:prstGeom>
            <a:noFill/>
            <a:ln cap="flat" cmpd="sng" w="4650">
              <a:solidFill>
                <a:srgbClr val="193364"/>
              </a:solidFill>
              <a:prstDash val="solid"/>
              <a:round/>
              <a:headEnd len="med" w="med" type="none"/>
              <a:tailEnd len="med" w="med" type="none"/>
            </a:ln>
          </p:spPr>
        </p:cxnSp>
        <p:cxnSp>
          <p:nvCxnSpPr>
            <p:cNvPr id="1184" name="Google Shape;1184;p54"/>
            <p:cNvCxnSpPr>
              <a:stCxn id="1177" idx="2"/>
              <a:endCxn id="1182" idx="3"/>
            </p:cNvCxnSpPr>
            <p:nvPr/>
          </p:nvCxnSpPr>
          <p:spPr>
            <a:xfrm flipH="1">
              <a:off x="2486460" y="3107110"/>
              <a:ext cx="322200" cy="628500"/>
            </a:xfrm>
            <a:prstGeom prst="straightConnector1">
              <a:avLst/>
            </a:prstGeom>
            <a:noFill/>
            <a:ln cap="flat" cmpd="sng" w="4650">
              <a:solidFill>
                <a:srgbClr val="193364"/>
              </a:solidFill>
              <a:prstDash val="solid"/>
              <a:round/>
              <a:headEnd len="med" w="med" type="none"/>
              <a:tailEnd len="med" w="med" type="none"/>
            </a:ln>
          </p:spPr>
        </p:cxnSp>
        <p:pic>
          <p:nvPicPr>
            <p:cNvPr id="1185" name="Google Shape;1185;p54" title="ChatGPT Image Apr 19, 2026, 12_43_28 PM.png"/>
            <p:cNvPicPr preferRelativeResize="0"/>
            <p:nvPr/>
          </p:nvPicPr>
          <p:blipFill rotWithShape="1">
            <a:blip r:embed="rId24">
              <a:alphaModFix/>
            </a:blip>
            <a:srcRect b="49904" l="69632" r="4094" t="5239"/>
            <a:stretch/>
          </p:blipFill>
          <p:spPr>
            <a:xfrm>
              <a:off x="4147172" y="3311186"/>
              <a:ext cx="864100" cy="983501"/>
            </a:xfrm>
            <a:prstGeom prst="rect">
              <a:avLst/>
            </a:prstGeom>
            <a:noFill/>
            <a:ln>
              <a:noFill/>
            </a:ln>
          </p:spPr>
        </p:pic>
        <p:cxnSp>
          <p:nvCxnSpPr>
            <p:cNvPr id="1186" name="Google Shape;1186;p54"/>
            <p:cNvCxnSpPr>
              <a:stCxn id="1177" idx="2"/>
              <a:endCxn id="1185" idx="1"/>
            </p:cNvCxnSpPr>
            <p:nvPr/>
          </p:nvCxnSpPr>
          <p:spPr>
            <a:xfrm>
              <a:off x="2808660" y="3107110"/>
              <a:ext cx="1338600" cy="695700"/>
            </a:xfrm>
            <a:prstGeom prst="straightConnector1">
              <a:avLst/>
            </a:prstGeom>
            <a:noFill/>
            <a:ln cap="flat" cmpd="sng" w="4650">
              <a:solidFill>
                <a:srgbClr val="193364"/>
              </a:solidFill>
              <a:prstDash val="solid"/>
              <a:round/>
              <a:headEnd len="med" w="med" type="none"/>
              <a:tailEnd len="med" w="med" type="none"/>
            </a:ln>
          </p:spPr>
        </p:cxnSp>
        <p:cxnSp>
          <p:nvCxnSpPr>
            <p:cNvPr id="1187" name="Google Shape;1187;p54"/>
            <p:cNvCxnSpPr>
              <a:stCxn id="1185" idx="3"/>
              <a:endCxn id="1176" idx="2"/>
            </p:cNvCxnSpPr>
            <p:nvPr/>
          </p:nvCxnSpPr>
          <p:spPr>
            <a:xfrm flipH="1" rot="10800000">
              <a:off x="5011272" y="3107236"/>
              <a:ext cx="1425000" cy="695700"/>
            </a:xfrm>
            <a:prstGeom prst="straightConnector1">
              <a:avLst/>
            </a:prstGeom>
            <a:noFill/>
            <a:ln cap="flat" cmpd="sng" w="4650">
              <a:solidFill>
                <a:srgbClr val="193364"/>
              </a:solidFill>
              <a:prstDash val="solid"/>
              <a:round/>
              <a:headEnd len="med" w="med" type="none"/>
              <a:tailEnd len="med" w="med" type="none"/>
            </a:ln>
          </p:spPr>
        </p:cxnSp>
        <p:sp>
          <p:nvSpPr>
            <p:cNvPr id="1188" name="Google Shape;1188;p54"/>
            <p:cNvSpPr/>
            <p:nvPr/>
          </p:nvSpPr>
          <p:spPr>
            <a:xfrm>
              <a:off x="1872139" y="2442286"/>
              <a:ext cx="72000" cy="72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189" name="Google Shape;1189;p54"/>
            <p:cNvSpPr/>
            <p:nvPr/>
          </p:nvSpPr>
          <p:spPr>
            <a:xfrm>
              <a:off x="3672111" y="2442286"/>
              <a:ext cx="72000" cy="72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190" name="Google Shape;1190;p54"/>
            <p:cNvSpPr/>
            <p:nvPr/>
          </p:nvSpPr>
          <p:spPr>
            <a:xfrm>
              <a:off x="5493753" y="2442286"/>
              <a:ext cx="72000" cy="72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191" name="Google Shape;1191;p54"/>
            <p:cNvSpPr/>
            <p:nvPr/>
          </p:nvSpPr>
          <p:spPr>
            <a:xfrm>
              <a:off x="7308181" y="2442286"/>
              <a:ext cx="72000" cy="72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192" name="Google Shape;1192;p54"/>
            <p:cNvSpPr/>
            <p:nvPr/>
          </p:nvSpPr>
          <p:spPr>
            <a:xfrm>
              <a:off x="1120364" y="3385361"/>
              <a:ext cx="72000" cy="72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193" name="Google Shape;1193;p54"/>
            <p:cNvSpPr/>
            <p:nvPr/>
          </p:nvSpPr>
          <p:spPr>
            <a:xfrm>
              <a:off x="2611564" y="3385361"/>
              <a:ext cx="72000" cy="72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194" name="Google Shape;1194;p54"/>
            <p:cNvSpPr/>
            <p:nvPr/>
          </p:nvSpPr>
          <p:spPr>
            <a:xfrm>
              <a:off x="3485564" y="3435886"/>
              <a:ext cx="72000" cy="72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195" name="Google Shape;1195;p54"/>
            <p:cNvSpPr/>
            <p:nvPr/>
          </p:nvSpPr>
          <p:spPr>
            <a:xfrm>
              <a:off x="5687764" y="3418961"/>
              <a:ext cx="72000" cy="72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196" name="Google Shape;1196;p54"/>
            <p:cNvSpPr/>
            <p:nvPr/>
          </p:nvSpPr>
          <p:spPr>
            <a:xfrm>
              <a:off x="4463861" y="2442286"/>
              <a:ext cx="36000" cy="36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197" name="Google Shape;1197;p54"/>
            <p:cNvSpPr/>
            <p:nvPr/>
          </p:nvSpPr>
          <p:spPr>
            <a:xfrm>
              <a:off x="4616261" y="2442286"/>
              <a:ext cx="36000" cy="36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198" name="Google Shape;1198;p54"/>
            <p:cNvSpPr/>
            <p:nvPr/>
          </p:nvSpPr>
          <p:spPr>
            <a:xfrm>
              <a:off x="4768661" y="2442286"/>
              <a:ext cx="36000" cy="36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pic>
          <p:nvPicPr>
            <p:cNvPr id="1199" name="Google Shape;1199;p54" title="{&quot;red&quot;:89,&quot;green&quot;:89,&quot;blue&quot;:89,&quot;origURL&quot;:&quot;https://www.codecogs.com/eqnedit.php?latex=u_1#0&quot;,&quot;size&quot;:18,&quot;width&quot;:154.86614173228347,&quot;height&quot;:152.2204724409449}"/>
            <p:cNvPicPr preferRelativeResize="0"/>
            <p:nvPr/>
          </p:nvPicPr>
          <p:blipFill>
            <a:blip r:embed="rId25">
              <a:alphaModFix/>
            </a:blip>
            <a:stretch>
              <a:fillRect/>
            </a:stretch>
          </p:blipFill>
          <p:spPr>
            <a:xfrm>
              <a:off x="1795447" y="2251586"/>
              <a:ext cx="212598" cy="152590"/>
            </a:xfrm>
            <a:prstGeom prst="rect">
              <a:avLst/>
            </a:prstGeom>
            <a:noFill/>
            <a:ln>
              <a:noFill/>
            </a:ln>
          </p:spPr>
        </p:pic>
        <p:pic>
          <p:nvPicPr>
            <p:cNvPr id="1200" name="Google Shape;1200;p54" title="{&quot;red&quot;:89,&quot;green&quot;:89,&quot;blue&quot;:89,&quot;origURL&quot;:&quot;https://www.codecogs.com/eqnedit.php?latex=u_n#0&quot;,&quot;size&quot;:18,&quot;width&quot;:154.86614173228347,&quot;height&quot;:152.2204724409449}"/>
            <p:cNvPicPr preferRelativeResize="0"/>
            <p:nvPr/>
          </p:nvPicPr>
          <p:blipFill>
            <a:blip r:embed="rId26">
              <a:alphaModFix/>
            </a:blip>
            <a:stretch>
              <a:fillRect/>
            </a:stretch>
          </p:blipFill>
          <p:spPr>
            <a:xfrm>
              <a:off x="7223247" y="2250736"/>
              <a:ext cx="240030" cy="154305"/>
            </a:xfrm>
            <a:prstGeom prst="rect">
              <a:avLst/>
            </a:prstGeom>
            <a:noFill/>
            <a:ln>
              <a:noFill/>
            </a:ln>
          </p:spPr>
        </p:pic>
        <p:pic>
          <p:nvPicPr>
            <p:cNvPr id="1201" name="Google Shape;1201;p54" title="{&quot;red&quot;:89,&quot;green&quot;:89,&quot;blue&quot;:89,&quot;origURL&quot;:&quot;https://www.codecogs.com/eqnedit.php?latex=m_1#0&quot;,&quot;size&quot;:18,&quot;width&quot;:154.86614173228347,&quot;height&quot;:152.2204724409449}"/>
            <p:cNvPicPr preferRelativeResize="0"/>
            <p:nvPr/>
          </p:nvPicPr>
          <p:blipFill>
            <a:blip r:embed="rId27">
              <a:alphaModFix/>
            </a:blip>
            <a:stretch>
              <a:fillRect/>
            </a:stretch>
          </p:blipFill>
          <p:spPr>
            <a:xfrm>
              <a:off x="1251847" y="3267336"/>
              <a:ext cx="289751" cy="152590"/>
            </a:xfrm>
            <a:prstGeom prst="rect">
              <a:avLst/>
            </a:prstGeom>
            <a:noFill/>
            <a:ln>
              <a:noFill/>
            </a:ln>
          </p:spPr>
        </p:pic>
        <p:pic>
          <p:nvPicPr>
            <p:cNvPr id="1202" name="Google Shape;1202;p54" title="{&quot;red&quot;:89,&quot;green&quot;:89,&quot;blue&quot;:89,&quot;origURL&quot;:&quot;https://www.codecogs.com/eqnedit.php?latex=m_2#0&quot;,&quot;size&quot;:18,&quot;width&quot;:154.86614173228347,&quot;height&quot;:152.2204724409449}"/>
            <p:cNvPicPr preferRelativeResize="0"/>
            <p:nvPr/>
          </p:nvPicPr>
          <p:blipFill>
            <a:blip r:embed="rId28">
              <a:alphaModFix/>
            </a:blip>
            <a:stretch>
              <a:fillRect/>
            </a:stretch>
          </p:blipFill>
          <p:spPr>
            <a:xfrm>
              <a:off x="2228647" y="3267336"/>
              <a:ext cx="294894" cy="152590"/>
            </a:xfrm>
            <a:prstGeom prst="rect">
              <a:avLst/>
            </a:prstGeom>
            <a:noFill/>
            <a:ln>
              <a:noFill/>
            </a:ln>
          </p:spPr>
        </p:pic>
        <p:pic>
          <p:nvPicPr>
            <p:cNvPr id="1203" name="Google Shape;1203;p54" title="{&quot;red&quot;:89,&quot;green&quot;:89,&quot;blue&quot;:89,&quot;origURL&quot;:&quot;https://www.codecogs.com/eqnedit.php?latex=m_3#0&quot;,&quot;size&quot;:18,&quot;width&quot;:154.86614173228347,&quot;height&quot;:152.2204724409449}"/>
            <p:cNvPicPr preferRelativeResize="0"/>
            <p:nvPr/>
          </p:nvPicPr>
          <p:blipFill>
            <a:blip r:embed="rId29">
              <a:alphaModFix/>
            </a:blip>
            <a:stretch>
              <a:fillRect/>
            </a:stretch>
          </p:blipFill>
          <p:spPr>
            <a:xfrm>
              <a:off x="3559822" y="3265623"/>
              <a:ext cx="296608" cy="156019"/>
            </a:xfrm>
            <a:prstGeom prst="rect">
              <a:avLst/>
            </a:prstGeom>
            <a:noFill/>
            <a:ln>
              <a:noFill/>
            </a:ln>
          </p:spPr>
        </p:pic>
        <p:sp>
          <p:nvSpPr>
            <p:cNvPr id="1204" name="Google Shape;1204;p54"/>
            <p:cNvSpPr txBox="1"/>
            <p:nvPr/>
          </p:nvSpPr>
          <p:spPr>
            <a:xfrm>
              <a:off x="252508" y="3421319"/>
              <a:ext cx="1262400" cy="346200"/>
            </a:xfrm>
            <a:prstGeom prst="rect">
              <a:avLst/>
            </a:prstGeom>
            <a:noFill/>
            <a:ln>
              <a:noFill/>
            </a:ln>
          </p:spPr>
          <p:txBody>
            <a:bodyPr anchorCtr="0" anchor="t" bIns="44550" lIns="44550" spcFirstLastPara="1" rIns="44550" wrap="square" tIns="44550">
              <a:noAutofit/>
            </a:bodyPr>
            <a:lstStyle/>
            <a:p>
              <a:pPr indent="0" lvl="0" marL="0" rtl="0" algn="l">
                <a:spcBef>
                  <a:spcPts val="0"/>
                </a:spcBef>
                <a:spcAft>
                  <a:spcPts val="0"/>
                </a:spcAft>
                <a:buNone/>
              </a:pPr>
              <a:r>
                <a:rPr b="1" lang="es" sz="585">
                  <a:solidFill>
                    <a:srgbClr val="193364"/>
                  </a:solidFill>
                </a:rPr>
                <a:t>Landmark factor</a:t>
              </a:r>
              <a:endParaRPr b="1" sz="585">
                <a:solidFill>
                  <a:srgbClr val="193364"/>
                </a:solidFill>
              </a:endParaRPr>
            </a:p>
          </p:txBody>
        </p:sp>
        <p:sp>
          <p:nvSpPr>
            <p:cNvPr id="1205" name="Google Shape;1205;p54"/>
            <p:cNvSpPr txBox="1"/>
            <p:nvPr/>
          </p:nvSpPr>
          <p:spPr>
            <a:xfrm>
              <a:off x="1270947" y="1741419"/>
              <a:ext cx="1262400" cy="346200"/>
            </a:xfrm>
            <a:prstGeom prst="rect">
              <a:avLst/>
            </a:prstGeom>
            <a:noFill/>
            <a:ln>
              <a:noFill/>
            </a:ln>
          </p:spPr>
          <p:txBody>
            <a:bodyPr anchorCtr="0" anchor="t" bIns="44550" lIns="44550" spcFirstLastPara="1" rIns="44550" wrap="square" tIns="44550">
              <a:noAutofit/>
            </a:bodyPr>
            <a:lstStyle/>
            <a:p>
              <a:pPr indent="0" lvl="0" marL="0" rtl="0" algn="l">
                <a:spcBef>
                  <a:spcPts val="0"/>
                </a:spcBef>
                <a:spcAft>
                  <a:spcPts val="0"/>
                </a:spcAft>
                <a:buNone/>
              </a:pPr>
              <a:r>
                <a:rPr b="1" lang="es" sz="585">
                  <a:solidFill>
                    <a:srgbClr val="193364"/>
                  </a:solidFill>
                </a:rPr>
                <a:t>Odometry factor</a:t>
              </a:r>
              <a:endParaRPr b="1" sz="585">
                <a:solidFill>
                  <a:srgbClr val="193364"/>
                </a:solidFill>
              </a:endParaRPr>
            </a:p>
          </p:txBody>
        </p:sp>
        <p:sp>
          <p:nvSpPr>
            <p:cNvPr id="1206" name="Google Shape;1206;p54"/>
            <p:cNvSpPr/>
            <p:nvPr/>
          </p:nvSpPr>
          <p:spPr>
            <a:xfrm>
              <a:off x="858450" y="1333660"/>
              <a:ext cx="5280575" cy="462600"/>
            </a:xfrm>
            <a:custGeom>
              <a:rect b="b" l="l" r="r" t="t"/>
              <a:pathLst>
                <a:path extrusionOk="0" h="18504" w="211223">
                  <a:moveTo>
                    <a:pt x="0" y="16773"/>
                  </a:moveTo>
                  <a:cubicBezTo>
                    <a:pt x="19766" y="13984"/>
                    <a:pt x="83392" y="-252"/>
                    <a:pt x="118596" y="36"/>
                  </a:cubicBezTo>
                  <a:cubicBezTo>
                    <a:pt x="153800" y="325"/>
                    <a:pt x="195785" y="15426"/>
                    <a:pt x="211223" y="18504"/>
                  </a:cubicBezTo>
                </a:path>
              </a:pathLst>
            </a:custGeom>
            <a:noFill/>
            <a:ln cap="flat" cmpd="sng" w="4650">
              <a:solidFill>
                <a:srgbClr val="193364"/>
              </a:solidFill>
              <a:prstDash val="solid"/>
              <a:round/>
              <a:headEnd len="med" w="med" type="none"/>
              <a:tailEnd len="med" w="med" type="none"/>
            </a:ln>
          </p:spPr>
        </p:sp>
        <p:sp>
          <p:nvSpPr>
            <p:cNvPr id="1207" name="Google Shape;1207;p54"/>
            <p:cNvSpPr/>
            <p:nvPr/>
          </p:nvSpPr>
          <p:spPr>
            <a:xfrm>
              <a:off x="2734950" y="1386861"/>
              <a:ext cx="5113709" cy="462600"/>
            </a:xfrm>
            <a:custGeom>
              <a:rect b="b" l="l" r="r" t="t"/>
              <a:pathLst>
                <a:path extrusionOk="0" h="18504" w="211223">
                  <a:moveTo>
                    <a:pt x="0" y="16773"/>
                  </a:moveTo>
                  <a:cubicBezTo>
                    <a:pt x="19766" y="13984"/>
                    <a:pt x="83392" y="-252"/>
                    <a:pt x="118596" y="36"/>
                  </a:cubicBezTo>
                  <a:cubicBezTo>
                    <a:pt x="153800" y="325"/>
                    <a:pt x="195785" y="15426"/>
                    <a:pt x="211223" y="18504"/>
                  </a:cubicBezTo>
                </a:path>
              </a:pathLst>
            </a:custGeom>
            <a:noFill/>
            <a:ln cap="flat" cmpd="sng" w="4650">
              <a:solidFill>
                <a:srgbClr val="193364"/>
              </a:solidFill>
              <a:prstDash val="solid"/>
              <a:round/>
              <a:headEnd len="med" w="med" type="none"/>
              <a:tailEnd len="med" w="med" type="none"/>
            </a:ln>
          </p:spPr>
        </p:sp>
        <p:sp>
          <p:nvSpPr>
            <p:cNvPr id="1208" name="Google Shape;1208;p54"/>
            <p:cNvSpPr/>
            <p:nvPr/>
          </p:nvSpPr>
          <p:spPr>
            <a:xfrm>
              <a:off x="3240186" y="1326445"/>
              <a:ext cx="72000" cy="72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209" name="Google Shape;1209;p54"/>
            <p:cNvSpPr/>
            <p:nvPr/>
          </p:nvSpPr>
          <p:spPr>
            <a:xfrm>
              <a:off x="5687786" y="1355286"/>
              <a:ext cx="72000" cy="72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210" name="Google Shape;1210;p54"/>
            <p:cNvSpPr txBox="1"/>
            <p:nvPr/>
          </p:nvSpPr>
          <p:spPr>
            <a:xfrm>
              <a:off x="1744897" y="931819"/>
              <a:ext cx="1262400" cy="346200"/>
            </a:xfrm>
            <a:prstGeom prst="rect">
              <a:avLst/>
            </a:prstGeom>
            <a:noFill/>
            <a:ln>
              <a:noFill/>
            </a:ln>
          </p:spPr>
          <p:txBody>
            <a:bodyPr anchorCtr="0" anchor="t" bIns="44550" lIns="44550" spcFirstLastPara="1" rIns="44550" wrap="square" tIns="44550">
              <a:noAutofit/>
            </a:bodyPr>
            <a:lstStyle/>
            <a:p>
              <a:pPr indent="0" lvl="0" marL="0" rtl="0" algn="l">
                <a:spcBef>
                  <a:spcPts val="0"/>
                </a:spcBef>
                <a:spcAft>
                  <a:spcPts val="0"/>
                </a:spcAft>
                <a:buNone/>
              </a:pPr>
              <a:r>
                <a:rPr b="1" lang="es" sz="585">
                  <a:solidFill>
                    <a:srgbClr val="193364"/>
                  </a:solidFill>
                </a:rPr>
                <a:t>Loop closing factor</a:t>
              </a:r>
              <a:endParaRPr b="1" sz="585">
                <a:solidFill>
                  <a:srgbClr val="193364"/>
                </a:solidFill>
              </a:endParaRPr>
            </a:p>
          </p:txBody>
        </p:sp>
        <p:pic>
          <p:nvPicPr>
            <p:cNvPr id="1211" name="Google Shape;1211;p54" title="{&quot;red&quot;:89,&quot;green&quot;:89,&quot;blue&quot;:89,&quot;origURL&quot;:&quot;https://www.codecogs.com/eqnedit.php?latex=c_1#0&quot;,&quot;size&quot;:18,&quot;width&quot;:129.51968503937007,&quot;height&quot;:61.724409448818896}"/>
            <p:cNvPicPr preferRelativeResize="0"/>
            <p:nvPr/>
          </p:nvPicPr>
          <p:blipFill>
            <a:blip r:embed="rId30">
              <a:alphaModFix/>
            </a:blip>
            <a:stretch>
              <a:fillRect/>
            </a:stretch>
          </p:blipFill>
          <p:spPr>
            <a:xfrm>
              <a:off x="3308975" y="1129750"/>
              <a:ext cx="176593" cy="152591"/>
            </a:xfrm>
            <a:prstGeom prst="rect">
              <a:avLst/>
            </a:prstGeom>
            <a:noFill/>
            <a:ln>
              <a:noFill/>
            </a:ln>
          </p:spPr>
        </p:pic>
        <p:pic>
          <p:nvPicPr>
            <p:cNvPr id="1212" name="Google Shape;1212;p54" title="{&quot;red&quot;:89,&quot;green&quot;:89,&quot;blue&quot;:89,&quot;origURL&quot;:&quot;https://www.codecogs.com/eqnedit.php?latex=c_2#0&quot;,&quot;size&quot;:18,&quot;width&quot;:129.51968503937007,&quot;height&quot;:61.724409448818896}"/>
            <p:cNvPicPr preferRelativeResize="0"/>
            <p:nvPr/>
          </p:nvPicPr>
          <p:blipFill>
            <a:blip r:embed="rId31">
              <a:alphaModFix/>
            </a:blip>
            <a:stretch>
              <a:fillRect/>
            </a:stretch>
          </p:blipFill>
          <p:spPr>
            <a:xfrm>
              <a:off x="5759775" y="1159950"/>
              <a:ext cx="181737" cy="152591"/>
            </a:xfrm>
            <a:prstGeom prst="rect">
              <a:avLst/>
            </a:prstGeom>
            <a:noFill/>
            <a:ln>
              <a:noFill/>
            </a:ln>
          </p:spPr>
        </p:pic>
        <p:pic>
          <p:nvPicPr>
            <p:cNvPr id="1213" name="Google Shape;1213;p54" title="ChatGPT Image Apr 19, 2026, 12_37_01 PM.png"/>
            <p:cNvPicPr preferRelativeResize="0"/>
            <p:nvPr/>
          </p:nvPicPr>
          <p:blipFill rotWithShape="1">
            <a:blip r:embed="rId23">
              <a:alphaModFix/>
            </a:blip>
            <a:srcRect b="4835" l="13703" r="52529" t="61190"/>
            <a:stretch/>
          </p:blipFill>
          <p:spPr>
            <a:xfrm>
              <a:off x="6634897" y="3343636"/>
              <a:ext cx="1168650" cy="783900"/>
            </a:xfrm>
            <a:prstGeom prst="rect">
              <a:avLst/>
            </a:prstGeom>
            <a:noFill/>
            <a:ln>
              <a:noFill/>
            </a:ln>
          </p:spPr>
        </p:pic>
        <p:cxnSp>
          <p:nvCxnSpPr>
            <p:cNvPr id="1214" name="Google Shape;1214;p54"/>
            <p:cNvCxnSpPr>
              <a:stCxn id="1213" idx="1"/>
              <a:endCxn id="1176" idx="2"/>
            </p:cNvCxnSpPr>
            <p:nvPr/>
          </p:nvCxnSpPr>
          <p:spPr>
            <a:xfrm rot="10800000">
              <a:off x="6436297" y="3107086"/>
              <a:ext cx="198600" cy="628500"/>
            </a:xfrm>
            <a:prstGeom prst="straightConnector1">
              <a:avLst/>
            </a:prstGeom>
            <a:noFill/>
            <a:ln cap="flat" cmpd="sng" w="4650">
              <a:solidFill>
                <a:srgbClr val="193364"/>
              </a:solidFill>
              <a:prstDash val="solid"/>
              <a:round/>
              <a:headEnd len="med" w="med" type="none"/>
              <a:tailEnd len="med" w="med" type="none"/>
            </a:ln>
          </p:spPr>
        </p:cxnSp>
        <p:sp>
          <p:nvSpPr>
            <p:cNvPr id="1215" name="Google Shape;1215;p54"/>
            <p:cNvSpPr/>
            <p:nvPr/>
          </p:nvSpPr>
          <p:spPr>
            <a:xfrm>
              <a:off x="6499576" y="3385336"/>
              <a:ext cx="72000" cy="72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216" name="Google Shape;1216;p54"/>
            <p:cNvSpPr txBox="1"/>
            <p:nvPr/>
          </p:nvSpPr>
          <p:spPr>
            <a:xfrm>
              <a:off x="2228649" y="3935200"/>
              <a:ext cx="1390200" cy="346200"/>
            </a:xfrm>
            <a:prstGeom prst="rect">
              <a:avLst/>
            </a:prstGeom>
            <a:noFill/>
            <a:ln>
              <a:noFill/>
            </a:ln>
          </p:spPr>
          <p:txBody>
            <a:bodyPr anchorCtr="0" anchor="t" bIns="44550" lIns="44550" spcFirstLastPara="1" rIns="44550" wrap="square" tIns="44550">
              <a:noAutofit/>
            </a:bodyPr>
            <a:lstStyle/>
            <a:p>
              <a:pPr indent="0" lvl="0" marL="0" rtl="0" algn="l">
                <a:spcBef>
                  <a:spcPts val="0"/>
                </a:spcBef>
                <a:spcAft>
                  <a:spcPts val="0"/>
                </a:spcAft>
                <a:buNone/>
              </a:pPr>
              <a:r>
                <a:rPr b="1" lang="es" sz="585">
                  <a:solidFill>
                    <a:srgbClr val="193364"/>
                  </a:solidFill>
                </a:rPr>
                <a:t>Landmark 1</a:t>
              </a:r>
              <a:endParaRPr b="1" sz="585">
                <a:solidFill>
                  <a:srgbClr val="193364"/>
                </a:solidFill>
              </a:endParaRPr>
            </a:p>
          </p:txBody>
        </p:sp>
        <p:sp>
          <p:nvSpPr>
            <p:cNvPr id="1217" name="Google Shape;1217;p54"/>
            <p:cNvSpPr txBox="1"/>
            <p:nvPr/>
          </p:nvSpPr>
          <p:spPr>
            <a:xfrm>
              <a:off x="4834249" y="3935200"/>
              <a:ext cx="1390200" cy="346200"/>
            </a:xfrm>
            <a:prstGeom prst="rect">
              <a:avLst/>
            </a:prstGeom>
            <a:noFill/>
            <a:ln>
              <a:noFill/>
            </a:ln>
          </p:spPr>
          <p:txBody>
            <a:bodyPr anchorCtr="0" anchor="t" bIns="44550" lIns="44550" spcFirstLastPara="1" rIns="44550" wrap="square" tIns="44550">
              <a:noAutofit/>
            </a:bodyPr>
            <a:lstStyle/>
            <a:p>
              <a:pPr indent="0" lvl="0" marL="0" rtl="0" algn="l">
                <a:spcBef>
                  <a:spcPts val="0"/>
                </a:spcBef>
                <a:spcAft>
                  <a:spcPts val="0"/>
                </a:spcAft>
                <a:buNone/>
              </a:pPr>
              <a:r>
                <a:rPr b="1" lang="es" sz="585">
                  <a:solidFill>
                    <a:srgbClr val="193364"/>
                  </a:solidFill>
                </a:rPr>
                <a:t>Landmark 2</a:t>
              </a:r>
              <a:endParaRPr b="1" sz="585">
                <a:solidFill>
                  <a:srgbClr val="193364"/>
                </a:solidFill>
              </a:endParaRPr>
            </a:p>
          </p:txBody>
        </p:sp>
        <p:pic>
          <p:nvPicPr>
            <p:cNvPr id="1218" name="Google Shape;1218;p54" title="{&quot;red&quot;:89,&quot;green&quot;:89,&quot;blue&quot;:89,&quot;origURL&quot;:&quot;https://www.codecogs.com/eqnedit.php?latex=u2#0&quot;,&quot;size&quot;:18,&quot;width&quot;:179.64566929133858,&quot;height&quot;:126.89763779527559}"/>
            <p:cNvPicPr preferRelativeResize="0"/>
            <p:nvPr/>
          </p:nvPicPr>
          <p:blipFill>
            <a:blip r:embed="rId32">
              <a:alphaModFix/>
            </a:blip>
            <a:stretch>
              <a:fillRect/>
            </a:stretch>
          </p:blipFill>
          <p:spPr>
            <a:xfrm>
              <a:off x="3591275" y="2195300"/>
              <a:ext cx="248603" cy="171450"/>
            </a:xfrm>
            <a:prstGeom prst="rect">
              <a:avLst/>
            </a:prstGeom>
            <a:noFill/>
            <a:ln>
              <a:noFill/>
            </a:ln>
          </p:spPr>
        </p:pic>
        <p:pic>
          <p:nvPicPr>
            <p:cNvPr id="1219" name="Google Shape;1219;p54" title="{&quot;red&quot;:89,&quot;green&quot;:89,&quot;blue&quot;:89,&quot;origURL&quot;:&quot;https://www.codecogs.com/eqnedit.php?latex=u_%7Bn-1%7D#0&quot;,&quot;size&quot;:18,&quot;width&quot;:179.64566929133858,&quot;height&quot;:126.89763779527559}"/>
            <p:cNvPicPr preferRelativeResize="0"/>
            <p:nvPr/>
          </p:nvPicPr>
          <p:blipFill>
            <a:blip r:embed="rId33">
              <a:alphaModFix/>
            </a:blip>
            <a:stretch>
              <a:fillRect/>
            </a:stretch>
          </p:blipFill>
          <p:spPr>
            <a:xfrm>
              <a:off x="5300100" y="2229850"/>
              <a:ext cx="462915" cy="154305"/>
            </a:xfrm>
            <a:prstGeom prst="rect">
              <a:avLst/>
            </a:prstGeom>
            <a:noFill/>
            <a:ln>
              <a:noFill/>
            </a:ln>
          </p:spPr>
        </p:pic>
        <p:pic>
          <p:nvPicPr>
            <p:cNvPr id="1220" name="Google Shape;1220;p54" title="{&quot;red&quot;:89,&quot;green&quot;:89,&quot;blue&quot;:89,&quot;origURL&quot;:&quot;https://www.codecogs.com/eqnedit.php?latex=m_k#0&quot;,&quot;size&quot;:18,&quot;width&quot;:179.64566929133858,&quot;height&quot;:126.89763779527559}"/>
            <p:cNvPicPr preferRelativeResize="0"/>
            <p:nvPr/>
          </p:nvPicPr>
          <p:blipFill>
            <a:blip r:embed="rId34">
              <a:alphaModFix/>
            </a:blip>
            <a:stretch>
              <a:fillRect/>
            </a:stretch>
          </p:blipFill>
          <p:spPr>
            <a:xfrm>
              <a:off x="6634888" y="3185863"/>
              <a:ext cx="305181" cy="154305"/>
            </a:xfrm>
            <a:prstGeom prst="rect">
              <a:avLst/>
            </a:prstGeom>
            <a:noFill/>
            <a:ln>
              <a:noFill/>
            </a:ln>
          </p:spPr>
        </p:pic>
        <p:pic>
          <p:nvPicPr>
            <p:cNvPr id="1221" name="Google Shape;1221;p54" title="{&quot;red&quot;:89,&quot;green&quot;:89,&quot;blue&quot;:89,&quot;origURL&quot;:&quot;https://www.codecogs.com/eqnedit.php?latex=m_%7Bk-1%7D#0&quot;,&quot;size&quot;:18,&quot;width&quot;:179.64566929133858,&quot;height&quot;:126.89763779527559}"/>
            <p:cNvPicPr preferRelativeResize="0"/>
            <p:nvPr/>
          </p:nvPicPr>
          <p:blipFill>
            <a:blip r:embed="rId35">
              <a:alphaModFix/>
            </a:blip>
            <a:stretch>
              <a:fillRect/>
            </a:stretch>
          </p:blipFill>
          <p:spPr>
            <a:xfrm>
              <a:off x="5375342" y="3185875"/>
              <a:ext cx="528066" cy="154305"/>
            </a:xfrm>
            <a:prstGeom prst="rect">
              <a:avLst/>
            </a:prstGeom>
            <a:noFill/>
            <a:ln>
              <a:noFill/>
            </a:ln>
          </p:spPr>
        </p:pic>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55"/>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227" name="Google Shape;1227;p55"/>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Pose Graph Optimization: Example</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grpSp>
        <p:nvGrpSpPr>
          <p:cNvPr id="1228" name="Google Shape;1228;p55"/>
          <p:cNvGrpSpPr/>
          <p:nvPr/>
        </p:nvGrpSpPr>
        <p:grpSpPr>
          <a:xfrm>
            <a:off x="1095318" y="4449088"/>
            <a:ext cx="712880" cy="694332"/>
            <a:chOff x="1095318" y="4449088"/>
            <a:chExt cx="712880" cy="694332"/>
          </a:xfrm>
        </p:grpSpPr>
        <p:sp>
          <p:nvSpPr>
            <p:cNvPr id="1229" name="Google Shape;1229;p55"/>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1230" name="Google Shape;1230;p55"/>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1231" name="Google Shape;1231;p55"/>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1232" name="Google Shape;1232;p55"/>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sp>
        <p:nvSpPr>
          <p:cNvPr id="1233" name="Google Shape;1233;p55"/>
          <p:cNvSpPr txBox="1"/>
          <p:nvPr/>
        </p:nvSpPr>
        <p:spPr>
          <a:xfrm>
            <a:off x="3966775" y="4645975"/>
            <a:ext cx="36006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*Courtesy of Maani Ghaffari, Ryan Eustice, Frank Dellaert, Michael Kaess, Cyrill Stachniss, Pranav Ganti, Luca Carlone</a:t>
            </a:r>
            <a:endParaRPr sz="800">
              <a:solidFill>
                <a:schemeClr val="lt1"/>
              </a:solidFill>
            </a:endParaRPr>
          </a:p>
        </p:txBody>
      </p:sp>
      <p:pic>
        <p:nvPicPr>
          <p:cNvPr id="1234" name="Google Shape;1234;p55"/>
          <p:cNvPicPr preferRelativeResize="0"/>
          <p:nvPr/>
        </p:nvPicPr>
        <p:blipFill>
          <a:blip r:embed="rId4">
            <a:alphaModFix/>
          </a:blip>
          <a:stretch>
            <a:fillRect/>
          </a:stretch>
        </p:blipFill>
        <p:spPr>
          <a:xfrm>
            <a:off x="569524" y="3156999"/>
            <a:ext cx="3062724" cy="516400"/>
          </a:xfrm>
          <a:prstGeom prst="rect">
            <a:avLst/>
          </a:prstGeom>
          <a:noFill/>
          <a:ln>
            <a:noFill/>
          </a:ln>
        </p:spPr>
      </p:pic>
      <p:pic>
        <p:nvPicPr>
          <p:cNvPr id="1235" name="Google Shape;1235;p55"/>
          <p:cNvPicPr preferRelativeResize="0"/>
          <p:nvPr/>
        </p:nvPicPr>
        <p:blipFill>
          <a:blip r:embed="rId5">
            <a:alphaModFix/>
          </a:blip>
          <a:stretch>
            <a:fillRect/>
          </a:stretch>
        </p:blipFill>
        <p:spPr>
          <a:xfrm>
            <a:off x="360000" y="1085650"/>
            <a:ext cx="3062724" cy="1902510"/>
          </a:xfrm>
          <a:prstGeom prst="rect">
            <a:avLst/>
          </a:prstGeom>
          <a:noFill/>
          <a:ln>
            <a:noFill/>
          </a:ln>
        </p:spPr>
      </p:pic>
      <p:pic>
        <p:nvPicPr>
          <p:cNvPr id="1236" name="Google Shape;1236;p55"/>
          <p:cNvPicPr preferRelativeResize="0"/>
          <p:nvPr/>
        </p:nvPicPr>
        <p:blipFill>
          <a:blip r:embed="rId6">
            <a:alphaModFix/>
          </a:blip>
          <a:stretch>
            <a:fillRect/>
          </a:stretch>
        </p:blipFill>
        <p:spPr>
          <a:xfrm>
            <a:off x="569524" y="3795060"/>
            <a:ext cx="7179500" cy="516400"/>
          </a:xfrm>
          <a:prstGeom prst="rect">
            <a:avLst/>
          </a:prstGeom>
          <a:noFill/>
          <a:ln>
            <a:noFill/>
          </a:ln>
        </p:spPr>
      </p:pic>
      <p:pic>
        <p:nvPicPr>
          <p:cNvPr id="1237" name="Google Shape;1237;p55"/>
          <p:cNvPicPr preferRelativeResize="0"/>
          <p:nvPr/>
        </p:nvPicPr>
        <p:blipFill>
          <a:blip r:embed="rId7">
            <a:alphaModFix/>
          </a:blip>
          <a:stretch>
            <a:fillRect/>
          </a:stretch>
        </p:blipFill>
        <p:spPr>
          <a:xfrm>
            <a:off x="6314225" y="1085644"/>
            <a:ext cx="2469775" cy="1808400"/>
          </a:xfrm>
          <a:prstGeom prst="rect">
            <a:avLst/>
          </a:prstGeom>
          <a:noFill/>
          <a:ln>
            <a:noFill/>
          </a:ln>
        </p:spPr>
      </p:pic>
      <p:pic>
        <p:nvPicPr>
          <p:cNvPr id="1238" name="Google Shape;1238;p55"/>
          <p:cNvPicPr preferRelativeResize="0"/>
          <p:nvPr/>
        </p:nvPicPr>
        <p:blipFill>
          <a:blip r:embed="rId8">
            <a:alphaModFix/>
          </a:blip>
          <a:stretch>
            <a:fillRect/>
          </a:stretch>
        </p:blipFill>
        <p:spPr>
          <a:xfrm>
            <a:off x="4670568" y="1730900"/>
            <a:ext cx="1643657" cy="6120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56"/>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244" name="Google Shape;1244;p56"/>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Pose Graph Optimization: Example</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grpSp>
        <p:nvGrpSpPr>
          <p:cNvPr id="1245" name="Google Shape;1245;p56"/>
          <p:cNvGrpSpPr/>
          <p:nvPr/>
        </p:nvGrpSpPr>
        <p:grpSpPr>
          <a:xfrm>
            <a:off x="1095318" y="4449088"/>
            <a:ext cx="712880" cy="694332"/>
            <a:chOff x="1095318" y="4449088"/>
            <a:chExt cx="712880" cy="694332"/>
          </a:xfrm>
        </p:grpSpPr>
        <p:sp>
          <p:nvSpPr>
            <p:cNvPr id="1246" name="Google Shape;1246;p56"/>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1247" name="Google Shape;1247;p56"/>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1248" name="Google Shape;1248;p56"/>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1249" name="Google Shape;1249;p56"/>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sp>
        <p:nvSpPr>
          <p:cNvPr id="1250" name="Google Shape;1250;p56"/>
          <p:cNvSpPr txBox="1"/>
          <p:nvPr/>
        </p:nvSpPr>
        <p:spPr>
          <a:xfrm>
            <a:off x="3966775" y="4645975"/>
            <a:ext cx="36006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*Courtesy of Maani Ghaffari, Ryan Eustice, Frank Dellaert, Michael Kaess, Cyrill Stachniss, Pranav Ganti, Luca Carlone</a:t>
            </a:r>
            <a:endParaRPr sz="800">
              <a:solidFill>
                <a:schemeClr val="lt1"/>
              </a:solidFill>
            </a:endParaRPr>
          </a:p>
        </p:txBody>
      </p:sp>
      <p:pic>
        <p:nvPicPr>
          <p:cNvPr id="1251" name="Google Shape;1251;p56"/>
          <p:cNvPicPr preferRelativeResize="0"/>
          <p:nvPr/>
        </p:nvPicPr>
        <p:blipFill>
          <a:blip r:embed="rId4">
            <a:alphaModFix/>
          </a:blip>
          <a:stretch>
            <a:fillRect/>
          </a:stretch>
        </p:blipFill>
        <p:spPr>
          <a:xfrm>
            <a:off x="569524" y="3156999"/>
            <a:ext cx="3062724" cy="516400"/>
          </a:xfrm>
          <a:prstGeom prst="rect">
            <a:avLst/>
          </a:prstGeom>
          <a:noFill/>
          <a:ln>
            <a:noFill/>
          </a:ln>
        </p:spPr>
      </p:pic>
      <p:pic>
        <p:nvPicPr>
          <p:cNvPr id="1252" name="Google Shape;1252;p56"/>
          <p:cNvPicPr preferRelativeResize="0"/>
          <p:nvPr/>
        </p:nvPicPr>
        <p:blipFill>
          <a:blip r:embed="rId5">
            <a:alphaModFix/>
          </a:blip>
          <a:stretch>
            <a:fillRect/>
          </a:stretch>
        </p:blipFill>
        <p:spPr>
          <a:xfrm>
            <a:off x="360000" y="1085650"/>
            <a:ext cx="3062724" cy="1902510"/>
          </a:xfrm>
          <a:prstGeom prst="rect">
            <a:avLst/>
          </a:prstGeom>
          <a:noFill/>
          <a:ln>
            <a:noFill/>
          </a:ln>
        </p:spPr>
      </p:pic>
      <p:pic>
        <p:nvPicPr>
          <p:cNvPr id="1253" name="Google Shape;1253;p56"/>
          <p:cNvPicPr preferRelativeResize="0"/>
          <p:nvPr/>
        </p:nvPicPr>
        <p:blipFill>
          <a:blip r:embed="rId6">
            <a:alphaModFix/>
          </a:blip>
          <a:stretch>
            <a:fillRect/>
          </a:stretch>
        </p:blipFill>
        <p:spPr>
          <a:xfrm>
            <a:off x="360003" y="3919781"/>
            <a:ext cx="7283124" cy="399600"/>
          </a:xfrm>
          <a:prstGeom prst="rect">
            <a:avLst/>
          </a:prstGeom>
          <a:noFill/>
          <a:ln>
            <a:noFill/>
          </a:ln>
        </p:spPr>
      </p:pic>
      <p:pic>
        <p:nvPicPr>
          <p:cNvPr id="1254" name="Google Shape;1254;p56"/>
          <p:cNvPicPr preferRelativeResize="0"/>
          <p:nvPr/>
        </p:nvPicPr>
        <p:blipFill>
          <a:blip r:embed="rId7">
            <a:alphaModFix/>
          </a:blip>
          <a:stretch>
            <a:fillRect/>
          </a:stretch>
        </p:blipFill>
        <p:spPr>
          <a:xfrm>
            <a:off x="4047203" y="1085662"/>
            <a:ext cx="1983624" cy="2539963"/>
          </a:xfrm>
          <a:prstGeom prst="rect">
            <a:avLst/>
          </a:prstGeom>
          <a:noFill/>
          <a:ln>
            <a:noFill/>
          </a:ln>
        </p:spPr>
      </p:pic>
      <p:pic>
        <p:nvPicPr>
          <p:cNvPr id="1255" name="Google Shape;1255;p56"/>
          <p:cNvPicPr preferRelativeResize="0"/>
          <p:nvPr/>
        </p:nvPicPr>
        <p:blipFill>
          <a:blip r:embed="rId8">
            <a:alphaModFix/>
          </a:blip>
          <a:stretch>
            <a:fillRect/>
          </a:stretch>
        </p:blipFill>
        <p:spPr>
          <a:xfrm>
            <a:off x="6418755" y="1085650"/>
            <a:ext cx="2355029" cy="258775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57"/>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261" name="Google Shape;1261;p57"/>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Pose Graph Optimization: Example</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grpSp>
        <p:nvGrpSpPr>
          <p:cNvPr id="1262" name="Google Shape;1262;p57"/>
          <p:cNvGrpSpPr/>
          <p:nvPr/>
        </p:nvGrpSpPr>
        <p:grpSpPr>
          <a:xfrm>
            <a:off x="1095318" y="4449088"/>
            <a:ext cx="712880" cy="694332"/>
            <a:chOff x="1095318" y="4449088"/>
            <a:chExt cx="712880" cy="694332"/>
          </a:xfrm>
        </p:grpSpPr>
        <p:sp>
          <p:nvSpPr>
            <p:cNvPr id="1263" name="Google Shape;1263;p57"/>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1264" name="Google Shape;1264;p57"/>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1265" name="Google Shape;1265;p57"/>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1266" name="Google Shape;1266;p57"/>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sp>
        <p:nvSpPr>
          <p:cNvPr id="1267" name="Google Shape;1267;p57"/>
          <p:cNvSpPr txBox="1"/>
          <p:nvPr/>
        </p:nvSpPr>
        <p:spPr>
          <a:xfrm>
            <a:off x="3966775" y="4645975"/>
            <a:ext cx="36006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*Courtesy of Maani Ghaffari, Ryan Eustice, Frank Dellaert, Michael Kaess, Cyrill Stachniss, Pranav Ganti, Luca Carlone</a:t>
            </a:r>
            <a:endParaRPr sz="800">
              <a:solidFill>
                <a:schemeClr val="lt1"/>
              </a:solidFill>
            </a:endParaRPr>
          </a:p>
        </p:txBody>
      </p:sp>
      <p:pic>
        <p:nvPicPr>
          <p:cNvPr descr="Video describing the ICP-Based Pose-Graph SLAM presented on International Symposium on Safety, Security and Rescue Robotics 2016 (SSRR-2016) in Lausanne, Switzerland. Run made using the sequence 2011_10_03_drive_0027 of the KITTI dataset." id="1268" name="Google Shape;1268;p57" title="ICP-Based Pose-Graph SLAM">
            <a:hlinkClick r:id="rId4"/>
          </p:cNvPr>
          <p:cNvPicPr preferRelativeResize="0"/>
          <p:nvPr/>
        </p:nvPicPr>
        <p:blipFill>
          <a:blip r:embed="rId5">
            <a:alphaModFix/>
          </a:blip>
          <a:stretch>
            <a:fillRect/>
          </a:stretch>
        </p:blipFill>
        <p:spPr>
          <a:xfrm>
            <a:off x="622297" y="1080000"/>
            <a:ext cx="5759990" cy="3240000"/>
          </a:xfrm>
          <a:prstGeom prst="rect">
            <a:avLst/>
          </a:prstGeom>
          <a:noFill/>
          <a:ln>
            <a:noFill/>
          </a:ln>
        </p:spPr>
      </p:pic>
      <p:sp>
        <p:nvSpPr>
          <p:cNvPr id="1269" name="Google Shape;1269;p57"/>
          <p:cNvSpPr txBox="1"/>
          <p:nvPr/>
        </p:nvSpPr>
        <p:spPr>
          <a:xfrm>
            <a:off x="6382290" y="394683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200" u="sng">
                <a:solidFill>
                  <a:schemeClr val="hlink"/>
                </a:solidFill>
                <a:hlinkClick r:id="rId6"/>
              </a:rPr>
              <a:t>https://youtu.be/KYvOqUB_odg</a:t>
            </a:r>
            <a:r>
              <a:rPr lang="es" sz="1200"/>
              <a:t> </a:t>
            </a:r>
            <a:endParaRPr sz="12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3" name="Shape 1273"/>
        <p:cNvGrpSpPr/>
        <p:nvPr/>
      </p:nvGrpSpPr>
      <p:grpSpPr>
        <a:xfrm>
          <a:off x="0" y="0"/>
          <a:ext cx="0" cy="0"/>
          <a:chOff x="0" y="0"/>
          <a:chExt cx="0" cy="0"/>
        </a:xfrm>
      </p:grpSpPr>
      <p:sp>
        <p:nvSpPr>
          <p:cNvPr id="1274" name="Google Shape;1274;p58"/>
          <p:cNvSpPr txBox="1"/>
          <p:nvPr/>
        </p:nvSpPr>
        <p:spPr>
          <a:xfrm>
            <a:off x="360000" y="1085650"/>
            <a:ext cx="8424000" cy="324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275" name="Google Shape;1275;p58"/>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Landmark-based SLAM</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grpSp>
        <p:nvGrpSpPr>
          <p:cNvPr id="1276" name="Google Shape;1276;p58"/>
          <p:cNvGrpSpPr/>
          <p:nvPr/>
        </p:nvGrpSpPr>
        <p:grpSpPr>
          <a:xfrm>
            <a:off x="1095318" y="4449088"/>
            <a:ext cx="712880" cy="694332"/>
            <a:chOff x="1095318" y="4449088"/>
            <a:chExt cx="712880" cy="694332"/>
          </a:xfrm>
        </p:grpSpPr>
        <p:sp>
          <p:nvSpPr>
            <p:cNvPr id="1277" name="Google Shape;1277;p58"/>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1278" name="Google Shape;1278;p58"/>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1279" name="Google Shape;1279;p58"/>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1280" name="Google Shape;1280;p58"/>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sp>
        <p:nvSpPr>
          <p:cNvPr id="1281" name="Google Shape;1281;p58"/>
          <p:cNvSpPr/>
          <p:nvPr/>
        </p:nvSpPr>
        <p:spPr>
          <a:xfrm>
            <a:off x="985376" y="1494071"/>
            <a:ext cx="360000" cy="360000"/>
          </a:xfrm>
          <a:prstGeom prst="ellipse">
            <a:avLst/>
          </a:prstGeom>
          <a:noFill/>
          <a:ln cap="flat" cmpd="sng" w="19050">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2" name="Google Shape;1282;p58"/>
          <p:cNvSpPr/>
          <p:nvPr/>
        </p:nvSpPr>
        <p:spPr>
          <a:xfrm>
            <a:off x="2425376" y="1494071"/>
            <a:ext cx="360000" cy="360000"/>
          </a:xfrm>
          <a:prstGeom prst="ellipse">
            <a:avLst/>
          </a:prstGeom>
          <a:noFill/>
          <a:ln cap="flat" cmpd="sng" w="19050">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3" name="Google Shape;1283;p58"/>
          <p:cNvSpPr/>
          <p:nvPr/>
        </p:nvSpPr>
        <p:spPr>
          <a:xfrm>
            <a:off x="5305376" y="1494071"/>
            <a:ext cx="360000" cy="360000"/>
          </a:xfrm>
          <a:prstGeom prst="ellipse">
            <a:avLst/>
          </a:prstGeom>
          <a:noFill/>
          <a:ln cap="flat" cmpd="sng" w="19050">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4" name="Google Shape;1284;p58"/>
          <p:cNvSpPr/>
          <p:nvPr/>
        </p:nvSpPr>
        <p:spPr>
          <a:xfrm>
            <a:off x="6745376" y="1494071"/>
            <a:ext cx="360000" cy="360000"/>
          </a:xfrm>
          <a:prstGeom prst="ellipse">
            <a:avLst/>
          </a:prstGeom>
          <a:noFill/>
          <a:ln cap="flat" cmpd="sng" w="19050">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5" name="Google Shape;1285;p58"/>
          <p:cNvSpPr/>
          <p:nvPr/>
        </p:nvSpPr>
        <p:spPr>
          <a:xfrm>
            <a:off x="1757951" y="3793321"/>
            <a:ext cx="360000" cy="360000"/>
          </a:xfrm>
          <a:prstGeom prst="ellipse">
            <a:avLst/>
          </a:prstGeom>
          <a:noFill/>
          <a:ln cap="flat" cmpd="sng" w="19050">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86" name="Google Shape;1286;p58"/>
          <p:cNvCxnSpPr>
            <a:stCxn id="1281" idx="4"/>
            <a:endCxn id="1285" idx="2"/>
          </p:cNvCxnSpPr>
          <p:nvPr/>
        </p:nvCxnSpPr>
        <p:spPr>
          <a:xfrm>
            <a:off x="1165376" y="1854071"/>
            <a:ext cx="592500" cy="2119200"/>
          </a:xfrm>
          <a:prstGeom prst="straightConnector1">
            <a:avLst/>
          </a:prstGeom>
          <a:noFill/>
          <a:ln cap="flat" cmpd="sng" w="19050">
            <a:solidFill>
              <a:srgbClr val="193364"/>
            </a:solidFill>
            <a:prstDash val="solid"/>
            <a:round/>
            <a:headEnd len="med" w="med" type="none"/>
            <a:tailEnd len="med" w="med" type="none"/>
          </a:ln>
        </p:spPr>
      </p:cxnSp>
      <p:cxnSp>
        <p:nvCxnSpPr>
          <p:cNvPr id="1287" name="Google Shape;1287;p58"/>
          <p:cNvCxnSpPr>
            <a:stCxn id="1282" idx="3"/>
            <a:endCxn id="1285" idx="0"/>
          </p:cNvCxnSpPr>
          <p:nvPr/>
        </p:nvCxnSpPr>
        <p:spPr>
          <a:xfrm flipH="1">
            <a:off x="1938097" y="1801350"/>
            <a:ext cx="540000" cy="1992000"/>
          </a:xfrm>
          <a:prstGeom prst="straightConnector1">
            <a:avLst/>
          </a:prstGeom>
          <a:noFill/>
          <a:ln cap="flat" cmpd="sng" w="19050">
            <a:solidFill>
              <a:srgbClr val="193364"/>
            </a:solidFill>
            <a:prstDash val="solid"/>
            <a:round/>
            <a:headEnd len="med" w="med" type="none"/>
            <a:tailEnd len="med" w="med" type="none"/>
          </a:ln>
        </p:spPr>
      </p:cxnSp>
      <p:sp>
        <p:nvSpPr>
          <p:cNvPr id="1288" name="Google Shape;1288;p58"/>
          <p:cNvSpPr/>
          <p:nvPr/>
        </p:nvSpPr>
        <p:spPr>
          <a:xfrm>
            <a:off x="3505376" y="2208421"/>
            <a:ext cx="360000" cy="360000"/>
          </a:xfrm>
          <a:prstGeom prst="ellipse">
            <a:avLst/>
          </a:prstGeom>
          <a:noFill/>
          <a:ln cap="flat" cmpd="sng" w="19050">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289" name="Google Shape;1289;p58"/>
          <p:cNvCxnSpPr>
            <a:stCxn id="1282" idx="5"/>
            <a:endCxn id="1288" idx="2"/>
          </p:cNvCxnSpPr>
          <p:nvPr/>
        </p:nvCxnSpPr>
        <p:spPr>
          <a:xfrm>
            <a:off x="2732655" y="1801350"/>
            <a:ext cx="772800" cy="587100"/>
          </a:xfrm>
          <a:prstGeom prst="straightConnector1">
            <a:avLst/>
          </a:prstGeom>
          <a:noFill/>
          <a:ln cap="flat" cmpd="sng" w="19050">
            <a:solidFill>
              <a:srgbClr val="193364"/>
            </a:solidFill>
            <a:prstDash val="solid"/>
            <a:round/>
            <a:headEnd len="med" w="med" type="none"/>
            <a:tailEnd len="med" w="med" type="none"/>
          </a:ln>
        </p:spPr>
      </p:cxnSp>
      <p:cxnSp>
        <p:nvCxnSpPr>
          <p:cNvPr id="1290" name="Google Shape;1290;p58"/>
          <p:cNvCxnSpPr>
            <a:stCxn id="1283" idx="3"/>
            <a:endCxn id="1288" idx="6"/>
          </p:cNvCxnSpPr>
          <p:nvPr/>
        </p:nvCxnSpPr>
        <p:spPr>
          <a:xfrm flipH="1">
            <a:off x="3865297" y="1801350"/>
            <a:ext cx="1492800" cy="587100"/>
          </a:xfrm>
          <a:prstGeom prst="straightConnector1">
            <a:avLst/>
          </a:prstGeom>
          <a:noFill/>
          <a:ln cap="flat" cmpd="sng" w="19050">
            <a:solidFill>
              <a:srgbClr val="193364"/>
            </a:solidFill>
            <a:prstDash val="solid"/>
            <a:round/>
            <a:headEnd len="med" w="med" type="none"/>
            <a:tailEnd len="med" w="med" type="none"/>
          </a:ln>
        </p:spPr>
      </p:cxnSp>
      <p:cxnSp>
        <p:nvCxnSpPr>
          <p:cNvPr id="1291" name="Google Shape;1291;p58"/>
          <p:cNvCxnSpPr>
            <a:stCxn id="1283" idx="4"/>
            <a:endCxn id="1285" idx="6"/>
          </p:cNvCxnSpPr>
          <p:nvPr/>
        </p:nvCxnSpPr>
        <p:spPr>
          <a:xfrm flipH="1">
            <a:off x="2117876" y="1854071"/>
            <a:ext cx="3367500" cy="2119200"/>
          </a:xfrm>
          <a:prstGeom prst="straightConnector1">
            <a:avLst/>
          </a:prstGeom>
          <a:noFill/>
          <a:ln cap="flat" cmpd="sng" w="19050">
            <a:solidFill>
              <a:srgbClr val="193364"/>
            </a:solidFill>
            <a:prstDash val="solid"/>
            <a:round/>
            <a:headEnd len="med" w="med" type="none"/>
            <a:tailEnd len="med" w="med" type="none"/>
          </a:ln>
        </p:spPr>
      </p:cxnSp>
      <p:cxnSp>
        <p:nvCxnSpPr>
          <p:cNvPr id="1292" name="Google Shape;1292;p58"/>
          <p:cNvCxnSpPr>
            <a:stCxn id="1281" idx="2"/>
            <a:endCxn id="1293" idx="6"/>
          </p:cNvCxnSpPr>
          <p:nvPr/>
        </p:nvCxnSpPr>
        <p:spPr>
          <a:xfrm rot="10800000">
            <a:off x="586976" y="1674071"/>
            <a:ext cx="398400" cy="0"/>
          </a:xfrm>
          <a:prstGeom prst="straightConnector1">
            <a:avLst/>
          </a:prstGeom>
          <a:noFill/>
          <a:ln cap="flat" cmpd="sng" w="19050">
            <a:solidFill>
              <a:srgbClr val="193364"/>
            </a:solidFill>
            <a:prstDash val="solid"/>
            <a:round/>
            <a:headEnd len="med" w="med" type="none"/>
            <a:tailEnd len="med" w="med" type="none"/>
          </a:ln>
        </p:spPr>
      </p:cxnSp>
      <p:sp>
        <p:nvSpPr>
          <p:cNvPr id="1293" name="Google Shape;1293;p58"/>
          <p:cNvSpPr/>
          <p:nvPr/>
        </p:nvSpPr>
        <p:spPr>
          <a:xfrm>
            <a:off x="514826" y="1638071"/>
            <a:ext cx="72000" cy="72000"/>
          </a:xfrm>
          <a:prstGeom prst="ellipse">
            <a:avLst/>
          </a:prstGeom>
          <a:solidFill>
            <a:srgbClr val="193364"/>
          </a:solidFill>
          <a:ln cap="flat" cmpd="sng" w="9525">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94" name="Google Shape;1294;p58" title="{&quot;red&quot;:89,&quot;green&quot;:89,&quot;blue&quot;:89,&quot;origURL&quot;:&quot;https://www.codecogs.com/eqnedit.php?latex=%5Cboldsymbol%7Bp%7D_1#0&quot;,&quot;size&quot;:12,&quot;width&quot;:663.3070866141733,&quot;height&quot;:255.11811023622047}"/>
          <p:cNvPicPr preferRelativeResize="0"/>
          <p:nvPr/>
        </p:nvPicPr>
        <p:blipFill>
          <a:blip r:embed="rId4">
            <a:alphaModFix/>
          </a:blip>
          <a:stretch>
            <a:fillRect/>
          </a:stretch>
        </p:blipFill>
        <p:spPr>
          <a:xfrm>
            <a:off x="1086513" y="1615772"/>
            <a:ext cx="157734" cy="116586"/>
          </a:xfrm>
          <a:prstGeom prst="rect">
            <a:avLst/>
          </a:prstGeom>
          <a:noFill/>
          <a:ln>
            <a:noFill/>
          </a:ln>
        </p:spPr>
      </p:pic>
      <p:pic>
        <p:nvPicPr>
          <p:cNvPr id="1295" name="Google Shape;1295;p58" title="{&quot;red&quot;:89,&quot;green&quot;:89,&quot;blue&quot;:89,&quot;origURL&quot;:&quot;https://www.codecogs.com/eqnedit.php?latex=%5Cboldsymbol%7Bp%7D_2#0&quot;,&quot;size&quot;:12,&quot;width&quot;:663.3070866141733,&quot;height&quot;:255.11811023622047}"/>
          <p:cNvPicPr preferRelativeResize="0"/>
          <p:nvPr/>
        </p:nvPicPr>
        <p:blipFill>
          <a:blip r:embed="rId5">
            <a:alphaModFix/>
          </a:blip>
          <a:stretch>
            <a:fillRect/>
          </a:stretch>
        </p:blipFill>
        <p:spPr>
          <a:xfrm>
            <a:off x="2524788" y="1615772"/>
            <a:ext cx="161163" cy="116586"/>
          </a:xfrm>
          <a:prstGeom prst="rect">
            <a:avLst/>
          </a:prstGeom>
          <a:noFill/>
          <a:ln>
            <a:noFill/>
          </a:ln>
        </p:spPr>
      </p:pic>
      <p:pic>
        <p:nvPicPr>
          <p:cNvPr id="1296" name="Google Shape;1296;p58" title="{&quot;red&quot;:89,&quot;green&quot;:89,&quot;blue&quot;:89,&quot;origURL&quot;:&quot;https://www.codecogs.com/eqnedit.php?latex=%5Cboldsymbol%7Bp%7D_%7Bn-1%7D#0&quot;,&quot;size&quot;:12,&quot;width&quot;:663.3070866141733,&quot;height&quot;:255.11811023622047}"/>
          <p:cNvPicPr preferRelativeResize="0"/>
          <p:nvPr/>
        </p:nvPicPr>
        <p:blipFill>
          <a:blip r:embed="rId6">
            <a:alphaModFix/>
          </a:blip>
          <a:stretch>
            <a:fillRect/>
          </a:stretch>
        </p:blipFill>
        <p:spPr>
          <a:xfrm>
            <a:off x="5316879" y="1615697"/>
            <a:ext cx="323469" cy="117729"/>
          </a:xfrm>
          <a:prstGeom prst="rect">
            <a:avLst/>
          </a:prstGeom>
          <a:noFill/>
          <a:ln>
            <a:noFill/>
          </a:ln>
        </p:spPr>
      </p:pic>
      <p:pic>
        <p:nvPicPr>
          <p:cNvPr id="1297" name="Google Shape;1297;p58" title="{&quot;red&quot;:89,&quot;green&quot;:89,&quot;blue&quot;:89,&quot;origURL&quot;:&quot;https://www.codecogs.com/eqnedit.php?latex=%5Cboldsymbol%7Bp%7D_%7Bn%7D#0&quot;,&quot;size&quot;:12,&quot;width&quot;:663.3070866141733,&quot;height&quot;:255.11811023622047}"/>
          <p:cNvPicPr preferRelativeResize="0"/>
          <p:nvPr/>
        </p:nvPicPr>
        <p:blipFill>
          <a:blip r:embed="rId7">
            <a:alphaModFix/>
          </a:blip>
          <a:stretch>
            <a:fillRect/>
          </a:stretch>
        </p:blipFill>
        <p:spPr>
          <a:xfrm>
            <a:off x="6842401" y="1615710"/>
            <a:ext cx="176022" cy="117729"/>
          </a:xfrm>
          <a:prstGeom prst="rect">
            <a:avLst/>
          </a:prstGeom>
          <a:noFill/>
          <a:ln>
            <a:noFill/>
          </a:ln>
        </p:spPr>
      </p:pic>
      <p:pic>
        <p:nvPicPr>
          <p:cNvPr id="1298" name="Google Shape;1298;p58" title="{&quot;red&quot;:89,&quot;green&quot;:89,&quot;blue&quot;:89,&quot;origURL&quot;:&quot;https://www.codecogs.com/eqnedit.php?latex=%5Cboldsymbol%7Bl%7D_1#0&quot;,&quot;size&quot;:12,&quot;width&quot;:663.3070866141733,&quot;height&quot;:255.11811023622047}"/>
          <p:cNvPicPr preferRelativeResize="0"/>
          <p:nvPr/>
        </p:nvPicPr>
        <p:blipFill>
          <a:blip r:embed="rId8">
            <a:alphaModFix/>
          </a:blip>
          <a:stretch>
            <a:fillRect/>
          </a:stretch>
        </p:blipFill>
        <p:spPr>
          <a:xfrm>
            <a:off x="1884226" y="3920660"/>
            <a:ext cx="107442" cy="145161"/>
          </a:xfrm>
          <a:prstGeom prst="rect">
            <a:avLst/>
          </a:prstGeom>
          <a:noFill/>
          <a:ln>
            <a:noFill/>
          </a:ln>
        </p:spPr>
      </p:pic>
      <p:pic>
        <p:nvPicPr>
          <p:cNvPr id="1299" name="Google Shape;1299;p58" title="{&quot;red&quot;:89,&quot;green&quot;:89,&quot;blue&quot;:89,&quot;origURL&quot;:&quot;https://www.codecogs.com/eqnedit.php?latex=%5Cboldsymbol%7Bl%7D_2#0&quot;,&quot;size&quot;:12,&quot;width&quot;:663.3070866141733,&quot;height&quot;:255.11811023622047}"/>
          <p:cNvPicPr preferRelativeResize="0"/>
          <p:nvPr/>
        </p:nvPicPr>
        <p:blipFill>
          <a:blip r:embed="rId9">
            <a:alphaModFix/>
          </a:blip>
          <a:stretch>
            <a:fillRect/>
          </a:stretch>
        </p:blipFill>
        <p:spPr>
          <a:xfrm>
            <a:off x="3629938" y="2315835"/>
            <a:ext cx="110871" cy="145161"/>
          </a:xfrm>
          <a:prstGeom prst="rect">
            <a:avLst/>
          </a:prstGeom>
          <a:noFill/>
          <a:ln>
            <a:noFill/>
          </a:ln>
        </p:spPr>
      </p:pic>
      <p:sp>
        <p:nvSpPr>
          <p:cNvPr id="1300" name="Google Shape;1300;p58"/>
          <p:cNvSpPr/>
          <p:nvPr/>
        </p:nvSpPr>
        <p:spPr>
          <a:xfrm>
            <a:off x="3929058" y="1656570"/>
            <a:ext cx="36000" cy="36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1" name="Google Shape;1301;p58"/>
          <p:cNvSpPr/>
          <p:nvPr/>
        </p:nvSpPr>
        <p:spPr>
          <a:xfrm>
            <a:off x="4081458" y="1656570"/>
            <a:ext cx="36000" cy="36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2" name="Google Shape;1302;p58"/>
          <p:cNvSpPr/>
          <p:nvPr/>
        </p:nvSpPr>
        <p:spPr>
          <a:xfrm>
            <a:off x="4233858" y="1656570"/>
            <a:ext cx="36000" cy="36000"/>
          </a:xfrm>
          <a:prstGeom prst="ellipse">
            <a:avLst/>
          </a:prstGeom>
          <a:solidFill>
            <a:srgbClr val="19336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3" name="Google Shape;1303;p58"/>
          <p:cNvSpPr/>
          <p:nvPr/>
        </p:nvSpPr>
        <p:spPr>
          <a:xfrm>
            <a:off x="1418867" y="2844846"/>
            <a:ext cx="72000" cy="72000"/>
          </a:xfrm>
          <a:prstGeom prst="ellipse">
            <a:avLst/>
          </a:prstGeom>
          <a:solidFill>
            <a:srgbClr val="193364"/>
          </a:solidFill>
          <a:ln cap="flat" cmpd="sng" w="9525">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4" name="Google Shape;1304;p58"/>
          <p:cNvSpPr/>
          <p:nvPr/>
        </p:nvSpPr>
        <p:spPr>
          <a:xfrm>
            <a:off x="2158583" y="2814071"/>
            <a:ext cx="72000" cy="72000"/>
          </a:xfrm>
          <a:prstGeom prst="ellipse">
            <a:avLst/>
          </a:prstGeom>
          <a:solidFill>
            <a:srgbClr val="193364"/>
          </a:solidFill>
          <a:ln cap="flat" cmpd="sng" w="9525">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5" name="Google Shape;1305;p58"/>
          <p:cNvSpPr/>
          <p:nvPr/>
        </p:nvSpPr>
        <p:spPr>
          <a:xfrm>
            <a:off x="3725865" y="2901936"/>
            <a:ext cx="72000" cy="72000"/>
          </a:xfrm>
          <a:prstGeom prst="ellipse">
            <a:avLst/>
          </a:prstGeom>
          <a:solidFill>
            <a:srgbClr val="193364"/>
          </a:solidFill>
          <a:ln cap="flat" cmpd="sng" w="9525">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06" name="Google Shape;1306;p58" title="{&quot;red&quot;:89,&quot;green&quot;:89,&quot;blue&quot;:89,&quot;origURL&quot;:&quot;https://www.codecogs.com/eqnedit.php?latex=%5Cphi(%5Cboldsymbol%7Bp_1%7D)#0&quot;,&quot;size&quot;:12,&quot;width&quot;:663.3070866141733,&quot;height&quot;:255.11811023622047}"/>
          <p:cNvPicPr preferRelativeResize="0"/>
          <p:nvPr/>
        </p:nvPicPr>
        <p:blipFill>
          <a:blip r:embed="rId10">
            <a:alphaModFix/>
          </a:blip>
          <a:stretch>
            <a:fillRect/>
          </a:stretch>
        </p:blipFill>
        <p:spPr>
          <a:xfrm>
            <a:off x="358801" y="1754330"/>
            <a:ext cx="314198" cy="140030"/>
          </a:xfrm>
          <a:prstGeom prst="rect">
            <a:avLst/>
          </a:prstGeom>
          <a:noFill/>
          <a:ln>
            <a:noFill/>
          </a:ln>
        </p:spPr>
      </p:pic>
      <p:sp>
        <p:nvSpPr>
          <p:cNvPr id="1307" name="Google Shape;1307;p58"/>
          <p:cNvSpPr/>
          <p:nvPr/>
        </p:nvSpPr>
        <p:spPr>
          <a:xfrm>
            <a:off x="3083058" y="2058921"/>
            <a:ext cx="72000" cy="72000"/>
          </a:xfrm>
          <a:prstGeom prst="ellipse">
            <a:avLst/>
          </a:prstGeom>
          <a:solidFill>
            <a:srgbClr val="193364"/>
          </a:solidFill>
          <a:ln cap="flat" cmpd="sng" w="9525">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08" name="Google Shape;1308;p58"/>
          <p:cNvSpPr/>
          <p:nvPr/>
        </p:nvSpPr>
        <p:spPr>
          <a:xfrm>
            <a:off x="4526983" y="2078046"/>
            <a:ext cx="72000" cy="72000"/>
          </a:xfrm>
          <a:prstGeom prst="ellipse">
            <a:avLst/>
          </a:prstGeom>
          <a:solidFill>
            <a:srgbClr val="193364"/>
          </a:solidFill>
          <a:ln cap="flat" cmpd="sng" w="9525">
            <a:solidFill>
              <a:srgbClr val="19336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09" name="Google Shape;1309;p58" title="{&quot;red&quot;:89,&quot;green&quot;:89,&quot;blue&quot;:89,&quot;origURL&quot;:&quot;https://www.codecogs.com/eqnedit.php?latex=%5Cphi_%7Bm_1%7D(%5Cboldsymbol%7Bp_1%7D%2C%5Cboldsymbol%7Bl_1%7D)#0&quot;,&quot;size&quot;:12,&quot;width&quot;:663.3070866141733,&quot;height&quot;:255.11811023622047}"/>
          <p:cNvPicPr preferRelativeResize="0"/>
          <p:nvPr/>
        </p:nvPicPr>
        <p:blipFill>
          <a:blip r:embed="rId11">
            <a:alphaModFix/>
          </a:blip>
          <a:stretch>
            <a:fillRect/>
          </a:stretch>
        </p:blipFill>
        <p:spPr>
          <a:xfrm>
            <a:off x="735476" y="2812435"/>
            <a:ext cx="609900" cy="136800"/>
          </a:xfrm>
          <a:prstGeom prst="rect">
            <a:avLst/>
          </a:prstGeom>
          <a:noFill/>
          <a:ln>
            <a:noFill/>
          </a:ln>
        </p:spPr>
      </p:pic>
      <p:pic>
        <p:nvPicPr>
          <p:cNvPr id="1310" name="Google Shape;1310;p58" title="{&quot;red&quot;:89,&quot;green&quot;:89,&quot;blue&quot;:89,&quot;origURL&quot;:&quot;https://www.codecogs.com/eqnedit.php?latex=%5Cphi_%7Bm_2%7D(%5Cboldsymbol%7Bp_2%7D%2C%5Cboldsymbol%7Bl_1%7D)#0&quot;,&quot;size&quot;:12,&quot;width&quot;:663.3070866141733,&quot;height&quot;:255.11811023622047}"/>
          <p:cNvPicPr preferRelativeResize="0"/>
          <p:nvPr/>
        </p:nvPicPr>
        <p:blipFill>
          <a:blip r:embed="rId12">
            <a:alphaModFix/>
          </a:blip>
          <a:stretch>
            <a:fillRect/>
          </a:stretch>
        </p:blipFill>
        <p:spPr>
          <a:xfrm>
            <a:off x="1568376" y="2658526"/>
            <a:ext cx="609900" cy="136800"/>
          </a:xfrm>
          <a:prstGeom prst="rect">
            <a:avLst/>
          </a:prstGeom>
          <a:noFill/>
          <a:ln>
            <a:noFill/>
          </a:ln>
        </p:spPr>
      </p:pic>
      <p:pic>
        <p:nvPicPr>
          <p:cNvPr id="1311" name="Google Shape;1311;p58" title="{&quot;red&quot;:89,&quot;green&quot;:89,&quot;blue&quot;:89,&quot;origURL&quot;:&quot;https://www.codecogs.com/eqnedit.php?latex=%5Cphi_%7Bm_3%7D(%5Cboldsymbol%7Bp_2%7D%2C%5Cboldsymbol%7Bl_2%7D)#0&quot;,&quot;size&quot;:12,&quot;width&quot;:663.3070866141733,&quot;height&quot;:255.11811023622047}"/>
          <p:cNvPicPr preferRelativeResize="0"/>
          <p:nvPr/>
        </p:nvPicPr>
        <p:blipFill>
          <a:blip r:embed="rId13">
            <a:alphaModFix/>
          </a:blip>
          <a:stretch>
            <a:fillRect/>
          </a:stretch>
        </p:blipFill>
        <p:spPr>
          <a:xfrm>
            <a:off x="2545163" y="2208410"/>
            <a:ext cx="609900" cy="136800"/>
          </a:xfrm>
          <a:prstGeom prst="rect">
            <a:avLst/>
          </a:prstGeom>
          <a:noFill/>
          <a:ln>
            <a:noFill/>
          </a:ln>
        </p:spPr>
      </p:pic>
      <p:pic>
        <p:nvPicPr>
          <p:cNvPr id="1312" name="Google Shape;1312;p58" title="{&quot;red&quot;:89,&quot;green&quot;:89,&quot;blue&quot;:89,&quot;origURL&quot;:&quot;https://www.codecogs.com/eqnedit.php?latex=%5Cphi_%7Bm_%7Bk-1%7D%7D(%5Cboldsymbol%7Bp_%7Bn-1%7D%7D%2C%5Cboldsymbol%7Bl_2%7D)#0&quot;,&quot;size&quot;:12,&quot;width&quot;:663.3070866141733,&quot;height&quot;:255.11811023622047}"/>
          <p:cNvPicPr preferRelativeResize="0"/>
          <p:nvPr/>
        </p:nvPicPr>
        <p:blipFill>
          <a:blip r:embed="rId14">
            <a:alphaModFix/>
          </a:blip>
          <a:stretch>
            <a:fillRect/>
          </a:stretch>
        </p:blipFill>
        <p:spPr>
          <a:xfrm>
            <a:off x="3617514" y="1983660"/>
            <a:ext cx="869251" cy="136800"/>
          </a:xfrm>
          <a:prstGeom prst="rect">
            <a:avLst/>
          </a:prstGeom>
          <a:noFill/>
          <a:ln>
            <a:noFill/>
          </a:ln>
        </p:spPr>
      </p:pic>
      <p:pic>
        <p:nvPicPr>
          <p:cNvPr id="1313" name="Google Shape;1313;p58" title="{&quot;red&quot;:89,&quot;green&quot;:89,&quot;blue&quot;:89,&quot;origURL&quot;:&quot;https://www.codecogs.com/eqnedit.php?latex=%5Cphi_%7Bm_%7Bk%7D%7D(%5Cboldsymbol%7Bp_%7Bn-1%7D%7D%2C%5Cboldsymbol%7Bl_1%7D)#0&quot;,&quot;size&quot;:12,&quot;width&quot;:663.3070866141733,&quot;height&quot;:255.11811023622047}"/>
          <p:cNvPicPr preferRelativeResize="0"/>
          <p:nvPr/>
        </p:nvPicPr>
        <p:blipFill>
          <a:blip r:embed="rId15">
            <a:alphaModFix/>
          </a:blip>
          <a:stretch>
            <a:fillRect/>
          </a:stretch>
        </p:blipFill>
        <p:spPr>
          <a:xfrm>
            <a:off x="3797876" y="3019785"/>
            <a:ext cx="773632" cy="140400"/>
          </a:xfrm>
          <a:prstGeom prst="rect">
            <a:avLst/>
          </a:prstGeom>
          <a:noFill/>
          <a:ln>
            <a:noFill/>
          </a:ln>
        </p:spPr>
      </p:pic>
      <p:grpSp>
        <p:nvGrpSpPr>
          <p:cNvPr id="1314" name="Google Shape;1314;p58"/>
          <p:cNvGrpSpPr/>
          <p:nvPr/>
        </p:nvGrpSpPr>
        <p:grpSpPr>
          <a:xfrm>
            <a:off x="4598983" y="2681730"/>
            <a:ext cx="4181145" cy="1638389"/>
            <a:chOff x="252508" y="931819"/>
            <a:chExt cx="8581989" cy="3362867"/>
          </a:xfrm>
        </p:grpSpPr>
        <p:pic>
          <p:nvPicPr>
            <p:cNvPr id="1315" name="Google Shape;1315;p58" title="ChatGPT Image Apr 19, 2026, 12_37_01 PM.png"/>
            <p:cNvPicPr preferRelativeResize="0"/>
            <p:nvPr/>
          </p:nvPicPr>
          <p:blipFill rotWithShape="1">
            <a:blip r:embed="rId16">
              <a:alphaModFix/>
            </a:blip>
            <a:srcRect b="39849" l="14168" r="52065" t="5750"/>
            <a:stretch/>
          </p:blipFill>
          <p:spPr>
            <a:xfrm>
              <a:off x="410497" y="1851886"/>
              <a:ext cx="1168650" cy="1255224"/>
            </a:xfrm>
            <a:prstGeom prst="rect">
              <a:avLst/>
            </a:prstGeom>
            <a:noFill/>
            <a:ln>
              <a:noFill/>
            </a:ln>
          </p:spPr>
        </p:pic>
        <p:pic>
          <p:nvPicPr>
            <p:cNvPr id="1316" name="Google Shape;1316;p58" title="ChatGPT Image Apr 19, 2026, 12_37_01 PM.png"/>
            <p:cNvPicPr preferRelativeResize="0"/>
            <p:nvPr/>
          </p:nvPicPr>
          <p:blipFill rotWithShape="1">
            <a:blip r:embed="rId17">
              <a:alphaModFix/>
            </a:blip>
            <a:srcRect b="39849" l="14168" r="52065" t="5750"/>
            <a:stretch/>
          </p:blipFill>
          <p:spPr>
            <a:xfrm>
              <a:off x="7665847" y="1851886"/>
              <a:ext cx="1168650" cy="1255224"/>
            </a:xfrm>
            <a:prstGeom prst="rect">
              <a:avLst/>
            </a:prstGeom>
            <a:noFill/>
            <a:ln>
              <a:noFill/>
            </a:ln>
          </p:spPr>
        </p:pic>
        <p:pic>
          <p:nvPicPr>
            <p:cNvPr id="1317" name="Google Shape;1317;p58" title="ChatGPT Image Apr 19, 2026, 12_37_01 PM.png"/>
            <p:cNvPicPr preferRelativeResize="0"/>
            <p:nvPr/>
          </p:nvPicPr>
          <p:blipFill rotWithShape="1">
            <a:blip r:embed="rId16">
              <a:alphaModFix/>
            </a:blip>
            <a:srcRect b="39849" l="14168" r="52065" t="5750"/>
            <a:stretch/>
          </p:blipFill>
          <p:spPr>
            <a:xfrm>
              <a:off x="5852010" y="1851886"/>
              <a:ext cx="1168650" cy="1255224"/>
            </a:xfrm>
            <a:prstGeom prst="rect">
              <a:avLst/>
            </a:prstGeom>
            <a:noFill/>
            <a:ln>
              <a:noFill/>
            </a:ln>
          </p:spPr>
        </p:pic>
        <p:pic>
          <p:nvPicPr>
            <p:cNvPr id="1318" name="Google Shape;1318;p58" title="ChatGPT Image Apr 19, 2026, 12_37_01 PM.png"/>
            <p:cNvPicPr preferRelativeResize="0"/>
            <p:nvPr/>
          </p:nvPicPr>
          <p:blipFill rotWithShape="1">
            <a:blip r:embed="rId16">
              <a:alphaModFix/>
            </a:blip>
            <a:srcRect b="39849" l="14168" r="52065" t="5750"/>
            <a:stretch/>
          </p:blipFill>
          <p:spPr>
            <a:xfrm>
              <a:off x="2224335" y="1851886"/>
              <a:ext cx="1168650" cy="1255224"/>
            </a:xfrm>
            <a:prstGeom prst="rect">
              <a:avLst/>
            </a:prstGeom>
            <a:noFill/>
            <a:ln>
              <a:noFill/>
            </a:ln>
          </p:spPr>
        </p:pic>
        <p:cxnSp>
          <p:nvCxnSpPr>
            <p:cNvPr id="1319" name="Google Shape;1319;p58"/>
            <p:cNvCxnSpPr>
              <a:endCxn id="1318" idx="1"/>
            </p:cNvCxnSpPr>
            <p:nvPr/>
          </p:nvCxnSpPr>
          <p:spPr>
            <a:xfrm flipH="1" rot="10800000">
              <a:off x="1579935" y="2479498"/>
              <a:ext cx="644400" cy="9300"/>
            </a:xfrm>
            <a:prstGeom prst="straightConnector1">
              <a:avLst/>
            </a:prstGeom>
            <a:noFill/>
            <a:ln cap="flat" cmpd="sng" w="4650">
              <a:solidFill>
                <a:srgbClr val="193364"/>
              </a:solidFill>
              <a:prstDash val="solid"/>
              <a:round/>
              <a:headEnd len="med" w="med" type="none"/>
              <a:tailEnd len="med" w="med" type="none"/>
            </a:ln>
          </p:spPr>
        </p:cxnSp>
        <p:cxnSp>
          <p:nvCxnSpPr>
            <p:cNvPr id="1320" name="Google Shape;1320;p58"/>
            <p:cNvCxnSpPr>
              <a:stCxn id="1317" idx="3"/>
              <a:endCxn id="1316" idx="1"/>
            </p:cNvCxnSpPr>
            <p:nvPr/>
          </p:nvCxnSpPr>
          <p:spPr>
            <a:xfrm>
              <a:off x="7020660" y="2479498"/>
              <a:ext cx="645300" cy="0"/>
            </a:xfrm>
            <a:prstGeom prst="straightConnector1">
              <a:avLst/>
            </a:prstGeom>
            <a:noFill/>
            <a:ln cap="flat" cmpd="sng" w="4650">
              <a:solidFill>
                <a:srgbClr val="193364"/>
              </a:solidFill>
              <a:prstDash val="solid"/>
              <a:round/>
              <a:headEnd len="med" w="med" type="none"/>
              <a:tailEnd len="med" w="med" type="none"/>
            </a:ln>
          </p:spPr>
        </p:cxnSp>
        <p:cxnSp>
          <p:nvCxnSpPr>
            <p:cNvPr id="1321" name="Google Shape;1321;p58"/>
            <p:cNvCxnSpPr>
              <a:stCxn id="1318" idx="3"/>
            </p:cNvCxnSpPr>
            <p:nvPr/>
          </p:nvCxnSpPr>
          <p:spPr>
            <a:xfrm>
              <a:off x="3392985" y="2479498"/>
              <a:ext cx="645300" cy="4500"/>
            </a:xfrm>
            <a:prstGeom prst="straightConnector1">
              <a:avLst/>
            </a:prstGeom>
            <a:noFill/>
            <a:ln cap="flat" cmpd="sng" w="4650">
              <a:solidFill>
                <a:srgbClr val="193364"/>
              </a:solidFill>
              <a:prstDash val="solid"/>
              <a:round/>
              <a:headEnd len="med" w="med" type="none"/>
              <a:tailEnd len="med" w="med" type="none"/>
            </a:ln>
          </p:spPr>
        </p:cxnSp>
        <p:cxnSp>
          <p:nvCxnSpPr>
            <p:cNvPr id="1322" name="Google Shape;1322;p58"/>
            <p:cNvCxnSpPr>
              <a:endCxn id="1317" idx="1"/>
            </p:cNvCxnSpPr>
            <p:nvPr/>
          </p:nvCxnSpPr>
          <p:spPr>
            <a:xfrm flipH="1" rot="10800000">
              <a:off x="5206710" y="2479498"/>
              <a:ext cx="645300" cy="4500"/>
            </a:xfrm>
            <a:prstGeom prst="straightConnector1">
              <a:avLst/>
            </a:prstGeom>
            <a:noFill/>
            <a:ln cap="flat" cmpd="sng" w="4650">
              <a:solidFill>
                <a:srgbClr val="193364"/>
              </a:solidFill>
              <a:prstDash val="solid"/>
              <a:round/>
              <a:headEnd len="med" w="med" type="none"/>
              <a:tailEnd len="med" w="med" type="none"/>
            </a:ln>
          </p:spPr>
        </p:cxnSp>
        <p:pic>
          <p:nvPicPr>
            <p:cNvPr id="1323" name="Google Shape;1323;p58" title="ChatGPT Image Apr 19, 2026, 12_37_01 PM.png"/>
            <p:cNvPicPr preferRelativeResize="0"/>
            <p:nvPr/>
          </p:nvPicPr>
          <p:blipFill rotWithShape="1">
            <a:blip r:embed="rId17">
              <a:alphaModFix/>
            </a:blip>
            <a:srcRect b="4835" l="13703" r="52529" t="61190"/>
            <a:stretch/>
          </p:blipFill>
          <p:spPr>
            <a:xfrm>
              <a:off x="1317822" y="3343636"/>
              <a:ext cx="1168650" cy="783900"/>
            </a:xfrm>
            <a:prstGeom prst="rect">
              <a:avLst/>
            </a:prstGeom>
            <a:noFill/>
            <a:ln>
              <a:noFill/>
            </a:ln>
          </p:spPr>
        </p:pic>
        <p:cxnSp>
          <p:nvCxnSpPr>
            <p:cNvPr id="1324" name="Google Shape;1324;p58"/>
            <p:cNvCxnSpPr>
              <a:stCxn id="1315" idx="2"/>
              <a:endCxn id="1323" idx="1"/>
            </p:cNvCxnSpPr>
            <p:nvPr/>
          </p:nvCxnSpPr>
          <p:spPr>
            <a:xfrm>
              <a:off x="994823" y="3107110"/>
              <a:ext cx="323100" cy="628500"/>
            </a:xfrm>
            <a:prstGeom prst="straightConnector1">
              <a:avLst/>
            </a:prstGeom>
            <a:noFill/>
            <a:ln cap="flat" cmpd="sng" w="4650">
              <a:solidFill>
                <a:srgbClr val="193364"/>
              </a:solidFill>
              <a:prstDash val="solid"/>
              <a:round/>
              <a:headEnd len="med" w="med" type="none"/>
              <a:tailEnd len="med" w="med" type="none"/>
            </a:ln>
          </p:spPr>
        </p:cxnSp>
        <p:cxnSp>
          <p:nvCxnSpPr>
            <p:cNvPr id="1325" name="Google Shape;1325;p58"/>
            <p:cNvCxnSpPr>
              <a:stCxn id="1318" idx="2"/>
              <a:endCxn id="1323" idx="3"/>
            </p:cNvCxnSpPr>
            <p:nvPr/>
          </p:nvCxnSpPr>
          <p:spPr>
            <a:xfrm flipH="1">
              <a:off x="2486460" y="3107110"/>
              <a:ext cx="322200" cy="628500"/>
            </a:xfrm>
            <a:prstGeom prst="straightConnector1">
              <a:avLst/>
            </a:prstGeom>
            <a:noFill/>
            <a:ln cap="flat" cmpd="sng" w="4650">
              <a:solidFill>
                <a:srgbClr val="193364"/>
              </a:solidFill>
              <a:prstDash val="solid"/>
              <a:round/>
              <a:headEnd len="med" w="med" type="none"/>
              <a:tailEnd len="med" w="med" type="none"/>
            </a:ln>
          </p:spPr>
        </p:cxnSp>
        <p:pic>
          <p:nvPicPr>
            <p:cNvPr id="1326" name="Google Shape;1326;p58" title="ChatGPT Image Apr 19, 2026, 12_43_28 PM.png"/>
            <p:cNvPicPr preferRelativeResize="0"/>
            <p:nvPr/>
          </p:nvPicPr>
          <p:blipFill rotWithShape="1">
            <a:blip r:embed="rId18">
              <a:alphaModFix/>
            </a:blip>
            <a:srcRect b="49904" l="69632" r="4094" t="5239"/>
            <a:stretch/>
          </p:blipFill>
          <p:spPr>
            <a:xfrm>
              <a:off x="4147172" y="3311186"/>
              <a:ext cx="864100" cy="983501"/>
            </a:xfrm>
            <a:prstGeom prst="rect">
              <a:avLst/>
            </a:prstGeom>
            <a:noFill/>
            <a:ln>
              <a:noFill/>
            </a:ln>
          </p:spPr>
        </p:pic>
        <p:cxnSp>
          <p:nvCxnSpPr>
            <p:cNvPr id="1327" name="Google Shape;1327;p58"/>
            <p:cNvCxnSpPr>
              <a:stCxn id="1318" idx="2"/>
              <a:endCxn id="1326" idx="1"/>
            </p:cNvCxnSpPr>
            <p:nvPr/>
          </p:nvCxnSpPr>
          <p:spPr>
            <a:xfrm>
              <a:off x="2808660" y="3107110"/>
              <a:ext cx="1338600" cy="695700"/>
            </a:xfrm>
            <a:prstGeom prst="straightConnector1">
              <a:avLst/>
            </a:prstGeom>
            <a:noFill/>
            <a:ln cap="flat" cmpd="sng" w="4650">
              <a:solidFill>
                <a:srgbClr val="193364"/>
              </a:solidFill>
              <a:prstDash val="solid"/>
              <a:round/>
              <a:headEnd len="med" w="med" type="none"/>
              <a:tailEnd len="med" w="med" type="none"/>
            </a:ln>
          </p:spPr>
        </p:cxnSp>
        <p:cxnSp>
          <p:nvCxnSpPr>
            <p:cNvPr id="1328" name="Google Shape;1328;p58"/>
            <p:cNvCxnSpPr>
              <a:stCxn id="1326" idx="3"/>
              <a:endCxn id="1317" idx="2"/>
            </p:cNvCxnSpPr>
            <p:nvPr/>
          </p:nvCxnSpPr>
          <p:spPr>
            <a:xfrm flipH="1" rot="10800000">
              <a:off x="5011272" y="3107236"/>
              <a:ext cx="1425000" cy="695700"/>
            </a:xfrm>
            <a:prstGeom prst="straightConnector1">
              <a:avLst/>
            </a:prstGeom>
            <a:noFill/>
            <a:ln cap="flat" cmpd="sng" w="4650">
              <a:solidFill>
                <a:srgbClr val="193364"/>
              </a:solidFill>
              <a:prstDash val="solid"/>
              <a:round/>
              <a:headEnd len="med" w="med" type="none"/>
              <a:tailEnd len="med" w="med" type="none"/>
            </a:ln>
          </p:spPr>
        </p:cxnSp>
        <p:sp>
          <p:nvSpPr>
            <p:cNvPr id="1329" name="Google Shape;1329;p58"/>
            <p:cNvSpPr/>
            <p:nvPr/>
          </p:nvSpPr>
          <p:spPr>
            <a:xfrm>
              <a:off x="1872139" y="2442286"/>
              <a:ext cx="72000" cy="72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330" name="Google Shape;1330;p58"/>
            <p:cNvSpPr/>
            <p:nvPr/>
          </p:nvSpPr>
          <p:spPr>
            <a:xfrm>
              <a:off x="3672111" y="2442286"/>
              <a:ext cx="72000" cy="72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331" name="Google Shape;1331;p58"/>
            <p:cNvSpPr/>
            <p:nvPr/>
          </p:nvSpPr>
          <p:spPr>
            <a:xfrm>
              <a:off x="5493753" y="2442286"/>
              <a:ext cx="72000" cy="72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332" name="Google Shape;1332;p58"/>
            <p:cNvSpPr/>
            <p:nvPr/>
          </p:nvSpPr>
          <p:spPr>
            <a:xfrm>
              <a:off x="7308181" y="2442286"/>
              <a:ext cx="72000" cy="72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333" name="Google Shape;1333;p58"/>
            <p:cNvSpPr/>
            <p:nvPr/>
          </p:nvSpPr>
          <p:spPr>
            <a:xfrm>
              <a:off x="1120364" y="3385361"/>
              <a:ext cx="72000" cy="72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334" name="Google Shape;1334;p58"/>
            <p:cNvSpPr/>
            <p:nvPr/>
          </p:nvSpPr>
          <p:spPr>
            <a:xfrm>
              <a:off x="2611564" y="3385361"/>
              <a:ext cx="72000" cy="72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335" name="Google Shape;1335;p58"/>
            <p:cNvSpPr/>
            <p:nvPr/>
          </p:nvSpPr>
          <p:spPr>
            <a:xfrm>
              <a:off x="3485564" y="3435886"/>
              <a:ext cx="72000" cy="72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336" name="Google Shape;1336;p58"/>
            <p:cNvSpPr/>
            <p:nvPr/>
          </p:nvSpPr>
          <p:spPr>
            <a:xfrm>
              <a:off x="5687764" y="3418961"/>
              <a:ext cx="72000" cy="72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337" name="Google Shape;1337;p58"/>
            <p:cNvSpPr/>
            <p:nvPr/>
          </p:nvSpPr>
          <p:spPr>
            <a:xfrm>
              <a:off x="4463861" y="2442286"/>
              <a:ext cx="36000" cy="36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338" name="Google Shape;1338;p58"/>
            <p:cNvSpPr/>
            <p:nvPr/>
          </p:nvSpPr>
          <p:spPr>
            <a:xfrm>
              <a:off x="4616261" y="2442286"/>
              <a:ext cx="36000" cy="36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339" name="Google Shape;1339;p58"/>
            <p:cNvSpPr/>
            <p:nvPr/>
          </p:nvSpPr>
          <p:spPr>
            <a:xfrm>
              <a:off x="4768661" y="2442286"/>
              <a:ext cx="36000" cy="36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pic>
          <p:nvPicPr>
            <p:cNvPr id="1340" name="Google Shape;1340;p58" title="{&quot;red&quot;:89,&quot;green&quot;:89,&quot;blue&quot;:89,&quot;origURL&quot;:&quot;https://www.codecogs.com/eqnedit.php?latex=u_1#0&quot;,&quot;size&quot;:18,&quot;width&quot;:154.86614173228347,&quot;height&quot;:152.2204724409449}"/>
            <p:cNvPicPr preferRelativeResize="0"/>
            <p:nvPr/>
          </p:nvPicPr>
          <p:blipFill>
            <a:blip r:embed="rId19">
              <a:alphaModFix/>
            </a:blip>
            <a:stretch>
              <a:fillRect/>
            </a:stretch>
          </p:blipFill>
          <p:spPr>
            <a:xfrm>
              <a:off x="1795447" y="2251586"/>
              <a:ext cx="212598" cy="152590"/>
            </a:xfrm>
            <a:prstGeom prst="rect">
              <a:avLst/>
            </a:prstGeom>
            <a:noFill/>
            <a:ln>
              <a:noFill/>
            </a:ln>
          </p:spPr>
        </p:pic>
        <p:pic>
          <p:nvPicPr>
            <p:cNvPr id="1341" name="Google Shape;1341;p58" title="{&quot;red&quot;:89,&quot;green&quot;:89,&quot;blue&quot;:89,&quot;origURL&quot;:&quot;https://www.codecogs.com/eqnedit.php?latex=u_n#0&quot;,&quot;size&quot;:18,&quot;width&quot;:154.86614173228347,&quot;height&quot;:152.2204724409449}"/>
            <p:cNvPicPr preferRelativeResize="0"/>
            <p:nvPr/>
          </p:nvPicPr>
          <p:blipFill>
            <a:blip r:embed="rId20">
              <a:alphaModFix/>
            </a:blip>
            <a:stretch>
              <a:fillRect/>
            </a:stretch>
          </p:blipFill>
          <p:spPr>
            <a:xfrm>
              <a:off x="7223247" y="2250736"/>
              <a:ext cx="240030" cy="154305"/>
            </a:xfrm>
            <a:prstGeom prst="rect">
              <a:avLst/>
            </a:prstGeom>
            <a:noFill/>
            <a:ln>
              <a:noFill/>
            </a:ln>
          </p:spPr>
        </p:pic>
        <p:pic>
          <p:nvPicPr>
            <p:cNvPr id="1342" name="Google Shape;1342;p58" title="{&quot;red&quot;:89,&quot;green&quot;:89,&quot;blue&quot;:89,&quot;origURL&quot;:&quot;https://www.codecogs.com/eqnedit.php?latex=m_1#0&quot;,&quot;size&quot;:18,&quot;width&quot;:154.86614173228347,&quot;height&quot;:152.2204724409449}"/>
            <p:cNvPicPr preferRelativeResize="0"/>
            <p:nvPr/>
          </p:nvPicPr>
          <p:blipFill>
            <a:blip r:embed="rId21">
              <a:alphaModFix/>
            </a:blip>
            <a:stretch>
              <a:fillRect/>
            </a:stretch>
          </p:blipFill>
          <p:spPr>
            <a:xfrm>
              <a:off x="1251847" y="3267336"/>
              <a:ext cx="289751" cy="152590"/>
            </a:xfrm>
            <a:prstGeom prst="rect">
              <a:avLst/>
            </a:prstGeom>
            <a:noFill/>
            <a:ln>
              <a:noFill/>
            </a:ln>
          </p:spPr>
        </p:pic>
        <p:pic>
          <p:nvPicPr>
            <p:cNvPr id="1343" name="Google Shape;1343;p58" title="{&quot;red&quot;:89,&quot;green&quot;:89,&quot;blue&quot;:89,&quot;origURL&quot;:&quot;https://www.codecogs.com/eqnedit.php?latex=m_2#0&quot;,&quot;size&quot;:18,&quot;width&quot;:154.86614173228347,&quot;height&quot;:152.2204724409449}"/>
            <p:cNvPicPr preferRelativeResize="0"/>
            <p:nvPr/>
          </p:nvPicPr>
          <p:blipFill>
            <a:blip r:embed="rId22">
              <a:alphaModFix/>
            </a:blip>
            <a:stretch>
              <a:fillRect/>
            </a:stretch>
          </p:blipFill>
          <p:spPr>
            <a:xfrm>
              <a:off x="2228647" y="3267336"/>
              <a:ext cx="294894" cy="152590"/>
            </a:xfrm>
            <a:prstGeom prst="rect">
              <a:avLst/>
            </a:prstGeom>
            <a:noFill/>
            <a:ln>
              <a:noFill/>
            </a:ln>
          </p:spPr>
        </p:pic>
        <p:pic>
          <p:nvPicPr>
            <p:cNvPr id="1344" name="Google Shape;1344;p58" title="{&quot;red&quot;:89,&quot;green&quot;:89,&quot;blue&quot;:89,&quot;origURL&quot;:&quot;https://www.codecogs.com/eqnedit.php?latex=m_3#0&quot;,&quot;size&quot;:18,&quot;width&quot;:154.86614173228347,&quot;height&quot;:152.2204724409449}"/>
            <p:cNvPicPr preferRelativeResize="0"/>
            <p:nvPr/>
          </p:nvPicPr>
          <p:blipFill>
            <a:blip r:embed="rId23">
              <a:alphaModFix/>
            </a:blip>
            <a:stretch>
              <a:fillRect/>
            </a:stretch>
          </p:blipFill>
          <p:spPr>
            <a:xfrm>
              <a:off x="3559822" y="3265623"/>
              <a:ext cx="296608" cy="156019"/>
            </a:xfrm>
            <a:prstGeom prst="rect">
              <a:avLst/>
            </a:prstGeom>
            <a:noFill/>
            <a:ln>
              <a:noFill/>
            </a:ln>
          </p:spPr>
        </p:pic>
        <p:sp>
          <p:nvSpPr>
            <p:cNvPr id="1345" name="Google Shape;1345;p58"/>
            <p:cNvSpPr txBox="1"/>
            <p:nvPr/>
          </p:nvSpPr>
          <p:spPr>
            <a:xfrm>
              <a:off x="252508" y="3421319"/>
              <a:ext cx="1262400" cy="346200"/>
            </a:xfrm>
            <a:prstGeom prst="rect">
              <a:avLst/>
            </a:prstGeom>
            <a:noFill/>
            <a:ln>
              <a:noFill/>
            </a:ln>
          </p:spPr>
          <p:txBody>
            <a:bodyPr anchorCtr="0" anchor="t" bIns="44550" lIns="44550" spcFirstLastPara="1" rIns="44550" wrap="square" tIns="44550">
              <a:noAutofit/>
            </a:bodyPr>
            <a:lstStyle/>
            <a:p>
              <a:pPr indent="0" lvl="0" marL="0" rtl="0" algn="l">
                <a:spcBef>
                  <a:spcPts val="0"/>
                </a:spcBef>
                <a:spcAft>
                  <a:spcPts val="0"/>
                </a:spcAft>
                <a:buNone/>
              </a:pPr>
              <a:r>
                <a:rPr b="1" lang="es" sz="585">
                  <a:solidFill>
                    <a:srgbClr val="193364"/>
                  </a:solidFill>
                </a:rPr>
                <a:t>Landmark factor</a:t>
              </a:r>
              <a:endParaRPr b="1" sz="585">
                <a:solidFill>
                  <a:srgbClr val="193364"/>
                </a:solidFill>
              </a:endParaRPr>
            </a:p>
          </p:txBody>
        </p:sp>
        <p:sp>
          <p:nvSpPr>
            <p:cNvPr id="1346" name="Google Shape;1346;p58"/>
            <p:cNvSpPr txBox="1"/>
            <p:nvPr/>
          </p:nvSpPr>
          <p:spPr>
            <a:xfrm>
              <a:off x="1270947" y="1741419"/>
              <a:ext cx="1262400" cy="346200"/>
            </a:xfrm>
            <a:prstGeom prst="rect">
              <a:avLst/>
            </a:prstGeom>
            <a:noFill/>
            <a:ln>
              <a:noFill/>
            </a:ln>
          </p:spPr>
          <p:txBody>
            <a:bodyPr anchorCtr="0" anchor="t" bIns="44550" lIns="44550" spcFirstLastPara="1" rIns="44550" wrap="square" tIns="44550">
              <a:noAutofit/>
            </a:bodyPr>
            <a:lstStyle/>
            <a:p>
              <a:pPr indent="0" lvl="0" marL="0" rtl="0" algn="l">
                <a:spcBef>
                  <a:spcPts val="0"/>
                </a:spcBef>
                <a:spcAft>
                  <a:spcPts val="0"/>
                </a:spcAft>
                <a:buNone/>
              </a:pPr>
              <a:r>
                <a:rPr b="1" lang="es" sz="585">
                  <a:solidFill>
                    <a:srgbClr val="193364"/>
                  </a:solidFill>
                </a:rPr>
                <a:t>Odometry factor</a:t>
              </a:r>
              <a:endParaRPr b="1" sz="585">
                <a:solidFill>
                  <a:srgbClr val="193364"/>
                </a:solidFill>
              </a:endParaRPr>
            </a:p>
          </p:txBody>
        </p:sp>
        <p:sp>
          <p:nvSpPr>
            <p:cNvPr id="1347" name="Google Shape;1347;p58"/>
            <p:cNvSpPr/>
            <p:nvPr/>
          </p:nvSpPr>
          <p:spPr>
            <a:xfrm>
              <a:off x="858450" y="1333660"/>
              <a:ext cx="5280575" cy="462600"/>
            </a:xfrm>
            <a:custGeom>
              <a:rect b="b" l="l" r="r" t="t"/>
              <a:pathLst>
                <a:path extrusionOk="0" h="18504" w="211223">
                  <a:moveTo>
                    <a:pt x="0" y="16773"/>
                  </a:moveTo>
                  <a:cubicBezTo>
                    <a:pt x="19766" y="13984"/>
                    <a:pt x="83392" y="-252"/>
                    <a:pt x="118596" y="36"/>
                  </a:cubicBezTo>
                  <a:cubicBezTo>
                    <a:pt x="153800" y="325"/>
                    <a:pt x="195785" y="15426"/>
                    <a:pt x="211223" y="18504"/>
                  </a:cubicBezTo>
                </a:path>
              </a:pathLst>
            </a:custGeom>
            <a:noFill/>
            <a:ln cap="flat" cmpd="sng" w="4650">
              <a:solidFill>
                <a:srgbClr val="193364"/>
              </a:solidFill>
              <a:prstDash val="solid"/>
              <a:round/>
              <a:headEnd len="med" w="med" type="none"/>
              <a:tailEnd len="med" w="med" type="none"/>
            </a:ln>
          </p:spPr>
        </p:sp>
        <p:sp>
          <p:nvSpPr>
            <p:cNvPr id="1348" name="Google Shape;1348;p58"/>
            <p:cNvSpPr/>
            <p:nvPr/>
          </p:nvSpPr>
          <p:spPr>
            <a:xfrm>
              <a:off x="2734950" y="1386861"/>
              <a:ext cx="5113709" cy="462600"/>
            </a:xfrm>
            <a:custGeom>
              <a:rect b="b" l="l" r="r" t="t"/>
              <a:pathLst>
                <a:path extrusionOk="0" h="18504" w="211223">
                  <a:moveTo>
                    <a:pt x="0" y="16773"/>
                  </a:moveTo>
                  <a:cubicBezTo>
                    <a:pt x="19766" y="13984"/>
                    <a:pt x="83392" y="-252"/>
                    <a:pt x="118596" y="36"/>
                  </a:cubicBezTo>
                  <a:cubicBezTo>
                    <a:pt x="153800" y="325"/>
                    <a:pt x="195785" y="15426"/>
                    <a:pt x="211223" y="18504"/>
                  </a:cubicBezTo>
                </a:path>
              </a:pathLst>
            </a:custGeom>
            <a:noFill/>
            <a:ln cap="flat" cmpd="sng" w="4650">
              <a:solidFill>
                <a:srgbClr val="193364"/>
              </a:solidFill>
              <a:prstDash val="solid"/>
              <a:round/>
              <a:headEnd len="med" w="med" type="none"/>
              <a:tailEnd len="med" w="med" type="none"/>
            </a:ln>
          </p:spPr>
        </p:sp>
        <p:sp>
          <p:nvSpPr>
            <p:cNvPr id="1349" name="Google Shape;1349;p58"/>
            <p:cNvSpPr/>
            <p:nvPr/>
          </p:nvSpPr>
          <p:spPr>
            <a:xfrm>
              <a:off x="3240186" y="1326445"/>
              <a:ext cx="72000" cy="72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350" name="Google Shape;1350;p58"/>
            <p:cNvSpPr/>
            <p:nvPr/>
          </p:nvSpPr>
          <p:spPr>
            <a:xfrm>
              <a:off x="5687786" y="1355286"/>
              <a:ext cx="72000" cy="72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351" name="Google Shape;1351;p58"/>
            <p:cNvSpPr txBox="1"/>
            <p:nvPr/>
          </p:nvSpPr>
          <p:spPr>
            <a:xfrm>
              <a:off x="1744897" y="931819"/>
              <a:ext cx="1262400" cy="346200"/>
            </a:xfrm>
            <a:prstGeom prst="rect">
              <a:avLst/>
            </a:prstGeom>
            <a:noFill/>
            <a:ln>
              <a:noFill/>
            </a:ln>
          </p:spPr>
          <p:txBody>
            <a:bodyPr anchorCtr="0" anchor="t" bIns="44550" lIns="44550" spcFirstLastPara="1" rIns="44550" wrap="square" tIns="44550">
              <a:noAutofit/>
            </a:bodyPr>
            <a:lstStyle/>
            <a:p>
              <a:pPr indent="0" lvl="0" marL="0" rtl="0" algn="l">
                <a:spcBef>
                  <a:spcPts val="0"/>
                </a:spcBef>
                <a:spcAft>
                  <a:spcPts val="0"/>
                </a:spcAft>
                <a:buNone/>
              </a:pPr>
              <a:r>
                <a:rPr b="1" lang="es" sz="585">
                  <a:solidFill>
                    <a:srgbClr val="193364"/>
                  </a:solidFill>
                </a:rPr>
                <a:t>Loop closing factor</a:t>
              </a:r>
              <a:endParaRPr b="1" sz="585">
                <a:solidFill>
                  <a:srgbClr val="193364"/>
                </a:solidFill>
              </a:endParaRPr>
            </a:p>
          </p:txBody>
        </p:sp>
        <p:pic>
          <p:nvPicPr>
            <p:cNvPr id="1352" name="Google Shape;1352;p58" title="{&quot;red&quot;:89,&quot;green&quot;:89,&quot;blue&quot;:89,&quot;origURL&quot;:&quot;https://www.codecogs.com/eqnedit.php?latex=c_1#0&quot;,&quot;size&quot;:18,&quot;width&quot;:129.51968503937007,&quot;height&quot;:61.724409448818896}"/>
            <p:cNvPicPr preferRelativeResize="0"/>
            <p:nvPr/>
          </p:nvPicPr>
          <p:blipFill>
            <a:blip r:embed="rId24">
              <a:alphaModFix/>
            </a:blip>
            <a:stretch>
              <a:fillRect/>
            </a:stretch>
          </p:blipFill>
          <p:spPr>
            <a:xfrm>
              <a:off x="3308975" y="1129750"/>
              <a:ext cx="176593" cy="152591"/>
            </a:xfrm>
            <a:prstGeom prst="rect">
              <a:avLst/>
            </a:prstGeom>
            <a:noFill/>
            <a:ln>
              <a:noFill/>
            </a:ln>
          </p:spPr>
        </p:pic>
        <p:pic>
          <p:nvPicPr>
            <p:cNvPr id="1353" name="Google Shape;1353;p58" title="{&quot;red&quot;:89,&quot;green&quot;:89,&quot;blue&quot;:89,&quot;origURL&quot;:&quot;https://www.codecogs.com/eqnedit.php?latex=c_2#0&quot;,&quot;size&quot;:18,&quot;width&quot;:129.51968503937007,&quot;height&quot;:61.724409448818896}"/>
            <p:cNvPicPr preferRelativeResize="0"/>
            <p:nvPr/>
          </p:nvPicPr>
          <p:blipFill>
            <a:blip r:embed="rId25">
              <a:alphaModFix/>
            </a:blip>
            <a:stretch>
              <a:fillRect/>
            </a:stretch>
          </p:blipFill>
          <p:spPr>
            <a:xfrm>
              <a:off x="5759775" y="1159950"/>
              <a:ext cx="181737" cy="152591"/>
            </a:xfrm>
            <a:prstGeom prst="rect">
              <a:avLst/>
            </a:prstGeom>
            <a:noFill/>
            <a:ln>
              <a:noFill/>
            </a:ln>
          </p:spPr>
        </p:pic>
        <p:pic>
          <p:nvPicPr>
            <p:cNvPr id="1354" name="Google Shape;1354;p58" title="ChatGPT Image Apr 19, 2026, 12_37_01 PM.png"/>
            <p:cNvPicPr preferRelativeResize="0"/>
            <p:nvPr/>
          </p:nvPicPr>
          <p:blipFill rotWithShape="1">
            <a:blip r:embed="rId17">
              <a:alphaModFix/>
            </a:blip>
            <a:srcRect b="4835" l="13703" r="52529" t="61190"/>
            <a:stretch/>
          </p:blipFill>
          <p:spPr>
            <a:xfrm>
              <a:off x="6634897" y="3343636"/>
              <a:ext cx="1168650" cy="783900"/>
            </a:xfrm>
            <a:prstGeom prst="rect">
              <a:avLst/>
            </a:prstGeom>
            <a:noFill/>
            <a:ln>
              <a:noFill/>
            </a:ln>
          </p:spPr>
        </p:pic>
        <p:cxnSp>
          <p:nvCxnSpPr>
            <p:cNvPr id="1355" name="Google Shape;1355;p58"/>
            <p:cNvCxnSpPr>
              <a:stCxn id="1354" idx="1"/>
              <a:endCxn id="1317" idx="2"/>
            </p:cNvCxnSpPr>
            <p:nvPr/>
          </p:nvCxnSpPr>
          <p:spPr>
            <a:xfrm rot="10800000">
              <a:off x="6436297" y="3107086"/>
              <a:ext cx="198600" cy="628500"/>
            </a:xfrm>
            <a:prstGeom prst="straightConnector1">
              <a:avLst/>
            </a:prstGeom>
            <a:noFill/>
            <a:ln cap="flat" cmpd="sng" w="4650">
              <a:solidFill>
                <a:srgbClr val="193364"/>
              </a:solidFill>
              <a:prstDash val="solid"/>
              <a:round/>
              <a:headEnd len="med" w="med" type="none"/>
              <a:tailEnd len="med" w="med" type="none"/>
            </a:ln>
          </p:spPr>
        </p:cxnSp>
        <p:sp>
          <p:nvSpPr>
            <p:cNvPr id="1356" name="Google Shape;1356;p58"/>
            <p:cNvSpPr/>
            <p:nvPr/>
          </p:nvSpPr>
          <p:spPr>
            <a:xfrm>
              <a:off x="6499576" y="3385336"/>
              <a:ext cx="72000" cy="72000"/>
            </a:xfrm>
            <a:prstGeom prst="ellipse">
              <a:avLst/>
            </a:prstGeom>
            <a:solidFill>
              <a:srgbClr val="193364"/>
            </a:solidFill>
            <a:ln cap="flat" cmpd="sng" w="4650">
              <a:solidFill>
                <a:schemeClr val="dk2"/>
              </a:solidFill>
              <a:prstDash val="solid"/>
              <a:round/>
              <a:headEnd len="sm" w="sm" type="none"/>
              <a:tailEnd len="sm" w="sm" type="none"/>
            </a:ln>
          </p:spPr>
          <p:txBody>
            <a:bodyPr anchorCtr="0" anchor="ctr" bIns="44550" lIns="44550" spcFirstLastPara="1" rIns="44550" wrap="square" tIns="44550">
              <a:noAutofit/>
            </a:bodyPr>
            <a:lstStyle/>
            <a:p>
              <a:pPr indent="0" lvl="0" marL="0" rtl="0" algn="ctr">
                <a:spcBef>
                  <a:spcPts val="0"/>
                </a:spcBef>
                <a:spcAft>
                  <a:spcPts val="0"/>
                </a:spcAft>
                <a:buNone/>
              </a:pPr>
              <a:r>
                <a:t/>
              </a:r>
              <a:endParaRPr sz="682"/>
            </a:p>
          </p:txBody>
        </p:sp>
        <p:sp>
          <p:nvSpPr>
            <p:cNvPr id="1357" name="Google Shape;1357;p58"/>
            <p:cNvSpPr txBox="1"/>
            <p:nvPr/>
          </p:nvSpPr>
          <p:spPr>
            <a:xfrm>
              <a:off x="2228649" y="3935200"/>
              <a:ext cx="1390200" cy="346200"/>
            </a:xfrm>
            <a:prstGeom prst="rect">
              <a:avLst/>
            </a:prstGeom>
            <a:noFill/>
            <a:ln>
              <a:noFill/>
            </a:ln>
          </p:spPr>
          <p:txBody>
            <a:bodyPr anchorCtr="0" anchor="t" bIns="44550" lIns="44550" spcFirstLastPara="1" rIns="44550" wrap="square" tIns="44550">
              <a:noAutofit/>
            </a:bodyPr>
            <a:lstStyle/>
            <a:p>
              <a:pPr indent="0" lvl="0" marL="0" rtl="0" algn="l">
                <a:spcBef>
                  <a:spcPts val="0"/>
                </a:spcBef>
                <a:spcAft>
                  <a:spcPts val="0"/>
                </a:spcAft>
                <a:buNone/>
              </a:pPr>
              <a:r>
                <a:rPr b="1" lang="es" sz="585">
                  <a:solidFill>
                    <a:srgbClr val="193364"/>
                  </a:solidFill>
                </a:rPr>
                <a:t>Landmark 1</a:t>
              </a:r>
              <a:endParaRPr b="1" sz="585">
                <a:solidFill>
                  <a:srgbClr val="193364"/>
                </a:solidFill>
              </a:endParaRPr>
            </a:p>
          </p:txBody>
        </p:sp>
        <p:sp>
          <p:nvSpPr>
            <p:cNvPr id="1358" name="Google Shape;1358;p58"/>
            <p:cNvSpPr txBox="1"/>
            <p:nvPr/>
          </p:nvSpPr>
          <p:spPr>
            <a:xfrm>
              <a:off x="4834249" y="3935200"/>
              <a:ext cx="1390200" cy="346200"/>
            </a:xfrm>
            <a:prstGeom prst="rect">
              <a:avLst/>
            </a:prstGeom>
            <a:noFill/>
            <a:ln>
              <a:noFill/>
            </a:ln>
          </p:spPr>
          <p:txBody>
            <a:bodyPr anchorCtr="0" anchor="t" bIns="44550" lIns="44550" spcFirstLastPara="1" rIns="44550" wrap="square" tIns="44550">
              <a:noAutofit/>
            </a:bodyPr>
            <a:lstStyle/>
            <a:p>
              <a:pPr indent="0" lvl="0" marL="0" rtl="0" algn="l">
                <a:spcBef>
                  <a:spcPts val="0"/>
                </a:spcBef>
                <a:spcAft>
                  <a:spcPts val="0"/>
                </a:spcAft>
                <a:buNone/>
              </a:pPr>
              <a:r>
                <a:rPr b="1" lang="es" sz="585">
                  <a:solidFill>
                    <a:srgbClr val="193364"/>
                  </a:solidFill>
                </a:rPr>
                <a:t>Landmark 2</a:t>
              </a:r>
              <a:endParaRPr b="1" sz="585">
                <a:solidFill>
                  <a:srgbClr val="193364"/>
                </a:solidFill>
              </a:endParaRPr>
            </a:p>
          </p:txBody>
        </p:sp>
        <p:pic>
          <p:nvPicPr>
            <p:cNvPr id="1359" name="Google Shape;1359;p58" title="{&quot;red&quot;:89,&quot;green&quot;:89,&quot;blue&quot;:89,&quot;origURL&quot;:&quot;https://www.codecogs.com/eqnedit.php?latex=u2#0&quot;,&quot;size&quot;:18,&quot;width&quot;:179.64566929133858,&quot;height&quot;:126.89763779527559}"/>
            <p:cNvPicPr preferRelativeResize="0"/>
            <p:nvPr/>
          </p:nvPicPr>
          <p:blipFill>
            <a:blip r:embed="rId26">
              <a:alphaModFix/>
            </a:blip>
            <a:stretch>
              <a:fillRect/>
            </a:stretch>
          </p:blipFill>
          <p:spPr>
            <a:xfrm>
              <a:off x="3591275" y="2195300"/>
              <a:ext cx="248603" cy="171450"/>
            </a:xfrm>
            <a:prstGeom prst="rect">
              <a:avLst/>
            </a:prstGeom>
            <a:noFill/>
            <a:ln>
              <a:noFill/>
            </a:ln>
          </p:spPr>
        </p:pic>
        <p:pic>
          <p:nvPicPr>
            <p:cNvPr id="1360" name="Google Shape;1360;p58" title="{&quot;red&quot;:89,&quot;green&quot;:89,&quot;blue&quot;:89,&quot;origURL&quot;:&quot;https://www.codecogs.com/eqnedit.php?latex=u_%7Bn-1%7D#0&quot;,&quot;size&quot;:18,&quot;width&quot;:179.64566929133858,&quot;height&quot;:126.89763779527559}"/>
            <p:cNvPicPr preferRelativeResize="0"/>
            <p:nvPr/>
          </p:nvPicPr>
          <p:blipFill>
            <a:blip r:embed="rId27">
              <a:alphaModFix/>
            </a:blip>
            <a:stretch>
              <a:fillRect/>
            </a:stretch>
          </p:blipFill>
          <p:spPr>
            <a:xfrm>
              <a:off x="5300100" y="2229850"/>
              <a:ext cx="462915" cy="154305"/>
            </a:xfrm>
            <a:prstGeom prst="rect">
              <a:avLst/>
            </a:prstGeom>
            <a:noFill/>
            <a:ln>
              <a:noFill/>
            </a:ln>
          </p:spPr>
        </p:pic>
        <p:pic>
          <p:nvPicPr>
            <p:cNvPr id="1361" name="Google Shape;1361;p58" title="{&quot;red&quot;:89,&quot;green&quot;:89,&quot;blue&quot;:89,&quot;origURL&quot;:&quot;https://www.codecogs.com/eqnedit.php?latex=m_k#0&quot;,&quot;size&quot;:18,&quot;width&quot;:179.64566929133858,&quot;height&quot;:126.89763779527559}"/>
            <p:cNvPicPr preferRelativeResize="0"/>
            <p:nvPr/>
          </p:nvPicPr>
          <p:blipFill>
            <a:blip r:embed="rId28">
              <a:alphaModFix/>
            </a:blip>
            <a:stretch>
              <a:fillRect/>
            </a:stretch>
          </p:blipFill>
          <p:spPr>
            <a:xfrm>
              <a:off x="6634888" y="3185863"/>
              <a:ext cx="305181" cy="154305"/>
            </a:xfrm>
            <a:prstGeom prst="rect">
              <a:avLst/>
            </a:prstGeom>
            <a:noFill/>
            <a:ln>
              <a:noFill/>
            </a:ln>
          </p:spPr>
        </p:pic>
        <p:pic>
          <p:nvPicPr>
            <p:cNvPr id="1362" name="Google Shape;1362;p58" title="{&quot;red&quot;:89,&quot;green&quot;:89,&quot;blue&quot;:89,&quot;origURL&quot;:&quot;https://www.codecogs.com/eqnedit.php?latex=m_%7Bk-1%7D#0&quot;,&quot;size&quot;:18,&quot;width&quot;:179.64566929133858,&quot;height&quot;:126.89763779527559}"/>
            <p:cNvPicPr preferRelativeResize="0"/>
            <p:nvPr/>
          </p:nvPicPr>
          <p:blipFill>
            <a:blip r:embed="rId29">
              <a:alphaModFix/>
            </a:blip>
            <a:stretch>
              <a:fillRect/>
            </a:stretch>
          </p:blipFill>
          <p:spPr>
            <a:xfrm>
              <a:off x="5375342" y="3185875"/>
              <a:ext cx="528066" cy="154305"/>
            </a:xfrm>
            <a:prstGeom prst="rect">
              <a:avLst/>
            </a:prstGeom>
            <a:noFill/>
            <a:ln>
              <a:noFill/>
            </a:ln>
          </p:spPr>
        </p:pic>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6" name="Shape 1366"/>
        <p:cNvGrpSpPr/>
        <p:nvPr/>
      </p:nvGrpSpPr>
      <p:grpSpPr>
        <a:xfrm>
          <a:off x="0" y="0"/>
          <a:ext cx="0" cy="0"/>
          <a:chOff x="0" y="0"/>
          <a:chExt cx="0" cy="0"/>
        </a:xfrm>
      </p:grpSpPr>
      <p:sp>
        <p:nvSpPr>
          <p:cNvPr id="1367" name="Google Shape;1367;p59"/>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457200" rtl="0" algn="just">
              <a:spcBef>
                <a:spcPts val="0"/>
              </a:spcBef>
              <a:spcAft>
                <a:spcPts val="0"/>
              </a:spcAft>
              <a:buNone/>
            </a:pPr>
            <a:r>
              <a:t/>
            </a:r>
            <a:endParaRPr sz="1800">
              <a:solidFill>
                <a:schemeClr val="dk2"/>
              </a:solidFill>
            </a:endParaRPr>
          </a:p>
          <a:p>
            <a:pPr indent="0" lvl="0" marL="0" rtl="0" algn="just">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368" name="Google Shape;1368;p59"/>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Landmark-based SLAM</a:t>
            </a:r>
            <a:endParaRPr b="1" sz="2400">
              <a:solidFill>
                <a:srgbClr val="193364"/>
              </a:solidFill>
            </a:endParaRPr>
          </a:p>
          <a:p>
            <a:pPr indent="0" lvl="0" marL="0" rtl="0" algn="l">
              <a:spcBef>
                <a:spcPts val="0"/>
              </a:spcBef>
              <a:spcAft>
                <a:spcPts val="0"/>
              </a:spcAft>
              <a:buNone/>
            </a:pPr>
            <a:r>
              <a:t/>
            </a:r>
            <a:endParaRPr b="1" sz="2400">
              <a:solidFill>
                <a:srgbClr val="193364"/>
              </a:solidFill>
            </a:endParaRPr>
          </a:p>
        </p:txBody>
      </p:sp>
      <p:grpSp>
        <p:nvGrpSpPr>
          <p:cNvPr id="1369" name="Google Shape;1369;p59"/>
          <p:cNvGrpSpPr/>
          <p:nvPr/>
        </p:nvGrpSpPr>
        <p:grpSpPr>
          <a:xfrm>
            <a:off x="1095318" y="4449088"/>
            <a:ext cx="712880" cy="694332"/>
            <a:chOff x="1095318" y="4449088"/>
            <a:chExt cx="712880" cy="694332"/>
          </a:xfrm>
        </p:grpSpPr>
        <p:sp>
          <p:nvSpPr>
            <p:cNvPr id="1370" name="Google Shape;1370;p59"/>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1371" name="Google Shape;1371;p59"/>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1372" name="Google Shape;1372;p59"/>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1373" name="Google Shape;1373;p59"/>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sp>
        <p:nvSpPr>
          <p:cNvPr id="1374" name="Google Shape;1374;p59"/>
          <p:cNvSpPr txBox="1"/>
          <p:nvPr/>
        </p:nvSpPr>
        <p:spPr>
          <a:xfrm>
            <a:off x="3966775" y="4594170"/>
            <a:ext cx="36006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800">
                <a:solidFill>
                  <a:schemeClr val="lt1"/>
                </a:solidFill>
              </a:rPr>
              <a:t>H. Strasdat, “Monocular Exploration”, in L</a:t>
            </a:r>
            <a:r>
              <a:rPr i="1" lang="es" sz="800">
                <a:solidFill>
                  <a:schemeClr val="lt1"/>
                </a:solidFill>
              </a:rPr>
              <a:t>ocal accuracy and global consistency for efficient visual SLAM</a:t>
            </a:r>
            <a:r>
              <a:rPr lang="es" sz="800">
                <a:solidFill>
                  <a:schemeClr val="lt1"/>
                </a:solidFill>
              </a:rPr>
              <a:t>, Doctoral dissertation, Department of Computing, Imperial College London, 2012</a:t>
            </a:r>
            <a:endParaRPr b="1" sz="800">
              <a:solidFill>
                <a:schemeClr val="lt1"/>
              </a:solidFill>
            </a:endParaRPr>
          </a:p>
          <a:p>
            <a:pPr indent="0" lvl="0" marL="0" rtl="0" algn="l">
              <a:spcBef>
                <a:spcPts val="0"/>
              </a:spcBef>
              <a:spcAft>
                <a:spcPts val="0"/>
              </a:spcAft>
              <a:buNone/>
            </a:pPr>
            <a:r>
              <a:t/>
            </a:r>
            <a:endParaRPr sz="800">
              <a:solidFill>
                <a:schemeClr val="lt1"/>
              </a:solidFill>
            </a:endParaRPr>
          </a:p>
        </p:txBody>
      </p:sp>
      <p:pic>
        <p:nvPicPr>
          <p:cNvPr id="1375" name="Google Shape;1375;p59"/>
          <p:cNvPicPr preferRelativeResize="0"/>
          <p:nvPr/>
        </p:nvPicPr>
        <p:blipFill rotWithShape="1">
          <a:blip r:embed="rId4">
            <a:alphaModFix/>
          </a:blip>
          <a:srcRect b="0" l="36245" r="0" t="0"/>
          <a:stretch/>
        </p:blipFill>
        <p:spPr>
          <a:xfrm>
            <a:off x="3413225" y="1082825"/>
            <a:ext cx="5370774" cy="3054000"/>
          </a:xfrm>
          <a:prstGeom prst="rect">
            <a:avLst/>
          </a:prstGeom>
          <a:noFill/>
          <a:ln>
            <a:noFill/>
          </a:ln>
        </p:spPr>
      </p:pic>
      <p:pic>
        <p:nvPicPr>
          <p:cNvPr id="1376" name="Google Shape;1376;p59"/>
          <p:cNvPicPr preferRelativeResize="0"/>
          <p:nvPr/>
        </p:nvPicPr>
        <p:blipFill>
          <a:blip r:embed="rId5">
            <a:alphaModFix/>
          </a:blip>
          <a:stretch>
            <a:fillRect/>
          </a:stretch>
        </p:blipFill>
        <p:spPr>
          <a:xfrm>
            <a:off x="353517" y="2854494"/>
            <a:ext cx="3021550" cy="1174175"/>
          </a:xfrm>
          <a:prstGeom prst="rect">
            <a:avLst/>
          </a:prstGeom>
          <a:noFill/>
          <a:ln>
            <a:noFill/>
          </a:ln>
        </p:spPr>
      </p:pic>
      <p:grpSp>
        <p:nvGrpSpPr>
          <p:cNvPr id="1377" name="Google Shape;1377;p59"/>
          <p:cNvGrpSpPr/>
          <p:nvPr/>
        </p:nvGrpSpPr>
        <p:grpSpPr>
          <a:xfrm>
            <a:off x="978229" y="970430"/>
            <a:ext cx="1853615" cy="1730298"/>
            <a:chOff x="978275" y="970475"/>
            <a:chExt cx="1799627" cy="1679901"/>
          </a:xfrm>
        </p:grpSpPr>
        <p:pic>
          <p:nvPicPr>
            <p:cNvPr id="1378" name="Google Shape;1378;p59"/>
            <p:cNvPicPr preferRelativeResize="0"/>
            <p:nvPr/>
          </p:nvPicPr>
          <p:blipFill rotWithShape="1">
            <a:blip r:embed="rId4">
              <a:alphaModFix/>
            </a:blip>
            <a:srcRect b="23524" l="0" r="67170" t="0"/>
            <a:stretch/>
          </p:blipFill>
          <p:spPr>
            <a:xfrm>
              <a:off x="1005850" y="970475"/>
              <a:ext cx="1772052" cy="1496525"/>
            </a:xfrm>
            <a:prstGeom prst="rect">
              <a:avLst/>
            </a:prstGeom>
            <a:noFill/>
            <a:ln>
              <a:noFill/>
            </a:ln>
          </p:spPr>
        </p:pic>
        <p:pic>
          <p:nvPicPr>
            <p:cNvPr id="1379" name="Google Shape;1379;p59"/>
            <p:cNvPicPr preferRelativeResize="0"/>
            <p:nvPr/>
          </p:nvPicPr>
          <p:blipFill rotWithShape="1">
            <a:blip r:embed="rId4">
              <a:alphaModFix/>
            </a:blip>
            <a:srcRect b="0" l="0" r="67170" t="88721"/>
            <a:stretch/>
          </p:blipFill>
          <p:spPr>
            <a:xfrm>
              <a:off x="978275" y="2429676"/>
              <a:ext cx="1772052" cy="220700"/>
            </a:xfrm>
            <a:prstGeom prst="rect">
              <a:avLst/>
            </a:prstGeom>
            <a:noFill/>
            <a:ln>
              <a:noFill/>
            </a:ln>
          </p:spPr>
        </p:pic>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3" name="Shape 1383"/>
        <p:cNvGrpSpPr/>
        <p:nvPr/>
      </p:nvGrpSpPr>
      <p:grpSpPr>
        <a:xfrm>
          <a:off x="0" y="0"/>
          <a:ext cx="0" cy="0"/>
          <a:chOff x="0" y="0"/>
          <a:chExt cx="0" cy="0"/>
        </a:xfrm>
      </p:grpSpPr>
      <p:sp>
        <p:nvSpPr>
          <p:cNvPr id="1384" name="Google Shape;1384;p60"/>
          <p:cNvSpPr txBox="1"/>
          <p:nvPr/>
        </p:nvSpPr>
        <p:spPr>
          <a:xfrm>
            <a:off x="360000" y="1080000"/>
            <a:ext cx="8424000" cy="324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t/>
            </a:r>
            <a:endParaRPr sz="1800">
              <a:solidFill>
                <a:schemeClr val="dk2"/>
              </a:solidFill>
            </a:endParaRPr>
          </a:p>
        </p:txBody>
      </p:sp>
      <p:sp>
        <p:nvSpPr>
          <p:cNvPr id="1385" name="Google Shape;1385;p60"/>
          <p:cNvSpPr txBox="1"/>
          <p:nvPr/>
        </p:nvSpPr>
        <p:spPr>
          <a:xfrm>
            <a:off x="360000" y="473650"/>
            <a:ext cx="8424000" cy="61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2400">
                <a:solidFill>
                  <a:srgbClr val="193364"/>
                </a:solidFill>
              </a:rPr>
              <a:t>Robustness to Outliers: Robust loss functions</a:t>
            </a:r>
            <a:endParaRPr b="1" sz="2400">
              <a:solidFill>
                <a:srgbClr val="193364"/>
              </a:solidFill>
            </a:endParaRPr>
          </a:p>
        </p:txBody>
      </p:sp>
      <p:grpSp>
        <p:nvGrpSpPr>
          <p:cNvPr id="1386" name="Google Shape;1386;p60"/>
          <p:cNvGrpSpPr/>
          <p:nvPr/>
        </p:nvGrpSpPr>
        <p:grpSpPr>
          <a:xfrm>
            <a:off x="1095318" y="4449088"/>
            <a:ext cx="712880" cy="694332"/>
            <a:chOff x="1095318" y="4449088"/>
            <a:chExt cx="712880" cy="694332"/>
          </a:xfrm>
        </p:grpSpPr>
        <p:sp>
          <p:nvSpPr>
            <p:cNvPr id="1387" name="Google Shape;1387;p60"/>
            <p:cNvSpPr/>
            <p:nvPr/>
          </p:nvSpPr>
          <p:spPr>
            <a:xfrm>
              <a:off x="1225065" y="4851819"/>
              <a:ext cx="291600" cy="291600"/>
            </a:xfrm>
            <a:prstGeom prst="rect">
              <a:avLst/>
            </a:prstGeom>
            <a:solidFill>
              <a:srgbClr val="A59DDF"/>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sp>
          <p:nvSpPr>
            <p:cNvPr id="1388" name="Google Shape;1388;p60"/>
            <p:cNvSpPr/>
            <p:nvPr/>
          </p:nvSpPr>
          <p:spPr>
            <a:xfrm>
              <a:off x="1516598" y="4851819"/>
              <a:ext cx="291600" cy="291600"/>
            </a:xfrm>
            <a:prstGeom prst="rect">
              <a:avLst/>
            </a:prstGeom>
            <a:solidFill>
              <a:srgbClr val="8195FB"/>
            </a:solidFill>
            <a:ln>
              <a:noFill/>
            </a:ln>
          </p:spPr>
          <p:txBody>
            <a:bodyPr anchorCtr="0" anchor="ctr" bIns="16475" lIns="16475" spcFirstLastPara="1" rIns="16475" wrap="square" tIns="16475">
              <a:noAutofit/>
            </a:bodyPr>
            <a:lstStyle/>
            <a:p>
              <a:pPr indent="0" lvl="0" marL="0" rtl="0" algn="r">
                <a:spcBef>
                  <a:spcPts val="0"/>
                </a:spcBef>
                <a:spcAft>
                  <a:spcPts val="0"/>
                </a:spcAft>
                <a:buNone/>
              </a:pPr>
              <a:r>
                <a:t/>
              </a:r>
              <a:endParaRPr sz="252"/>
            </a:p>
          </p:txBody>
        </p:sp>
        <p:sp>
          <p:nvSpPr>
            <p:cNvPr id="1389" name="Google Shape;1389;p60"/>
            <p:cNvSpPr/>
            <p:nvPr/>
          </p:nvSpPr>
          <p:spPr>
            <a:xfrm>
              <a:off x="1516598" y="4560219"/>
              <a:ext cx="291600" cy="291600"/>
            </a:xfrm>
            <a:prstGeom prst="rect">
              <a:avLst/>
            </a:prstGeom>
            <a:solidFill>
              <a:srgbClr val="B5F3F9"/>
            </a:solidFill>
            <a:ln>
              <a:noFill/>
            </a:ln>
          </p:spPr>
          <p:txBody>
            <a:bodyPr anchorCtr="0" anchor="ctr" bIns="16475" lIns="16475" spcFirstLastPara="1" rIns="16475" wrap="square" tIns="16475">
              <a:noAutofit/>
            </a:bodyPr>
            <a:lstStyle/>
            <a:p>
              <a:pPr indent="0" lvl="0" marL="0" rtl="0" algn="ctr">
                <a:spcBef>
                  <a:spcPts val="0"/>
                </a:spcBef>
                <a:spcAft>
                  <a:spcPts val="0"/>
                </a:spcAft>
                <a:buNone/>
              </a:pPr>
              <a:r>
                <a:t/>
              </a:r>
              <a:endParaRPr sz="252"/>
            </a:p>
          </p:txBody>
        </p:sp>
        <p:pic>
          <p:nvPicPr>
            <p:cNvPr id="1390" name="Google Shape;1390;p60"/>
            <p:cNvPicPr preferRelativeResize="0"/>
            <p:nvPr/>
          </p:nvPicPr>
          <p:blipFill>
            <a:blip r:embed="rId3">
              <a:alphaModFix/>
            </a:blip>
            <a:stretch>
              <a:fillRect/>
            </a:stretch>
          </p:blipFill>
          <p:spPr>
            <a:xfrm flipH="1" rot="133010">
              <a:off x="1106374" y="4460147"/>
              <a:ext cx="583062" cy="583197"/>
            </a:xfrm>
            <a:prstGeom prst="rect">
              <a:avLst/>
            </a:prstGeom>
            <a:noFill/>
            <a:ln>
              <a:noFill/>
            </a:ln>
          </p:spPr>
        </p:pic>
      </p:grpSp>
      <p:pic>
        <p:nvPicPr>
          <p:cNvPr id="1391" name="Google Shape;1391;p60"/>
          <p:cNvPicPr preferRelativeResize="0"/>
          <p:nvPr/>
        </p:nvPicPr>
        <p:blipFill>
          <a:blip r:embed="rId4">
            <a:alphaModFix/>
          </a:blip>
          <a:stretch>
            <a:fillRect/>
          </a:stretch>
        </p:blipFill>
        <p:spPr>
          <a:xfrm>
            <a:off x="2257450" y="1080000"/>
            <a:ext cx="4900607" cy="3240000"/>
          </a:xfrm>
          <a:prstGeom prst="rect">
            <a:avLst/>
          </a:prstGeom>
          <a:noFill/>
          <a:ln>
            <a:noFill/>
          </a:ln>
        </p:spPr>
      </p:pic>
      <p:sp>
        <p:nvSpPr>
          <p:cNvPr id="1392" name="Google Shape;1392;p60"/>
          <p:cNvSpPr txBox="1"/>
          <p:nvPr/>
        </p:nvSpPr>
        <p:spPr>
          <a:xfrm>
            <a:off x="3966775" y="4581049"/>
            <a:ext cx="4211100" cy="39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lt1"/>
                </a:solidFill>
              </a:rPr>
              <a:t>F. Dellaert, M. Kaess, and T. Barfoot, "Factor Graphs for SLAM," in </a:t>
            </a:r>
            <a:r>
              <a:rPr i="1" lang="es" sz="800">
                <a:solidFill>
                  <a:schemeClr val="lt1"/>
                </a:solidFill>
              </a:rPr>
              <a:t>SLAM Handbook: From Localization and Mapping to Spatial Intelligence</a:t>
            </a:r>
            <a:r>
              <a:rPr lang="es" sz="800">
                <a:solidFill>
                  <a:schemeClr val="lt1"/>
                </a:solidFill>
              </a:rPr>
              <a:t>, L. Carlone, A. Kim, T. Barfoot, D. Cremers, and F. Dellaert, Eds. Cambridge University Press, 2026.</a:t>
            </a:r>
            <a:endParaRPr sz="800">
              <a:solidFill>
                <a:schemeClr val="lt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6" name="Shape 1396"/>
        <p:cNvGrpSpPr/>
        <p:nvPr/>
      </p:nvGrpSpPr>
      <p:grpSpPr>
        <a:xfrm>
          <a:off x="0" y="0"/>
          <a:ext cx="0" cy="0"/>
          <a:chOff x="0" y="0"/>
          <a:chExt cx="0" cy="0"/>
        </a:xfrm>
      </p:grpSpPr>
      <p:sp>
        <p:nvSpPr>
          <p:cNvPr id="1397" name="Google Shape;1397;p61"/>
          <p:cNvSpPr txBox="1"/>
          <p:nvPr/>
        </p:nvSpPr>
        <p:spPr>
          <a:xfrm>
            <a:off x="412375" y="1468150"/>
            <a:ext cx="8774400" cy="1337100"/>
          </a:xfrm>
          <a:prstGeom prst="rect">
            <a:avLst/>
          </a:prstGeom>
          <a:noFill/>
          <a:ln>
            <a:noFill/>
          </a:ln>
        </p:spPr>
        <p:txBody>
          <a:bodyPr anchorCtr="0" anchor="ctr" bIns="34275" lIns="68575" spcFirstLastPara="1" rIns="68575" wrap="square" tIns="34275">
            <a:noAutofit/>
          </a:bodyPr>
          <a:lstStyle/>
          <a:p>
            <a:pPr indent="0" lvl="0" marL="0" marR="0" rtl="0" algn="l">
              <a:lnSpc>
                <a:spcPct val="90000"/>
              </a:lnSpc>
              <a:spcBef>
                <a:spcPts val="0"/>
              </a:spcBef>
              <a:spcAft>
                <a:spcPts val="0"/>
              </a:spcAft>
              <a:buClr>
                <a:schemeClr val="lt1"/>
              </a:buClr>
              <a:buSzPts val="3600"/>
              <a:buFont typeface="Arial"/>
              <a:buNone/>
            </a:pPr>
            <a:r>
              <a:rPr b="1" lang="es" sz="3600">
                <a:solidFill>
                  <a:schemeClr val="lt1"/>
                </a:solidFill>
              </a:rPr>
              <a:t>SLAM Course </a:t>
            </a:r>
            <a:endParaRPr b="1" sz="3600">
              <a:solidFill>
                <a:schemeClr val="lt1"/>
              </a:solidFill>
            </a:endParaRPr>
          </a:p>
          <a:p>
            <a:pPr indent="0" lvl="0" marL="0" marR="0" rtl="0" algn="l">
              <a:lnSpc>
                <a:spcPct val="90000"/>
              </a:lnSpc>
              <a:spcBef>
                <a:spcPts val="0"/>
              </a:spcBef>
              <a:spcAft>
                <a:spcPts val="0"/>
              </a:spcAft>
              <a:buClr>
                <a:schemeClr val="lt1"/>
              </a:buClr>
              <a:buSzPts val="3600"/>
              <a:buFont typeface="Arial"/>
              <a:buNone/>
            </a:pPr>
            <a:r>
              <a:rPr b="1" lang="es" sz="3600">
                <a:solidFill>
                  <a:schemeClr val="lt1"/>
                </a:solidFill>
              </a:rPr>
              <a:t>08 - Factor Graphs</a:t>
            </a:r>
            <a:endParaRPr b="1" sz="3600">
              <a:solidFill>
                <a:schemeClr val="lt1"/>
              </a:solidFill>
            </a:endParaRPr>
          </a:p>
        </p:txBody>
      </p:sp>
      <p:sp>
        <p:nvSpPr>
          <p:cNvPr id="1398" name="Google Shape;1398;p61"/>
          <p:cNvSpPr txBox="1"/>
          <p:nvPr/>
        </p:nvSpPr>
        <p:spPr>
          <a:xfrm>
            <a:off x="419841" y="2953388"/>
            <a:ext cx="4471500" cy="694500"/>
          </a:xfrm>
          <a:prstGeom prst="rect">
            <a:avLst/>
          </a:prstGeom>
          <a:noFill/>
          <a:ln>
            <a:noFill/>
          </a:ln>
        </p:spPr>
        <p:txBody>
          <a:bodyPr anchorCtr="0" anchor="t" bIns="34275" lIns="68575" spcFirstLastPara="1" rIns="68575" wrap="square" tIns="34275">
            <a:normAutofit/>
          </a:bodyPr>
          <a:lstStyle/>
          <a:p>
            <a:pPr indent="0" lvl="0" marL="0" marR="0" rtl="0" algn="l">
              <a:lnSpc>
                <a:spcPct val="90000"/>
              </a:lnSpc>
              <a:spcBef>
                <a:spcPts val="0"/>
              </a:spcBef>
              <a:spcAft>
                <a:spcPts val="0"/>
              </a:spcAft>
              <a:buClr>
                <a:schemeClr val="lt1"/>
              </a:buClr>
              <a:buSzPts val="1800"/>
              <a:buFont typeface="Arial"/>
              <a:buNone/>
            </a:pPr>
            <a:r>
              <a:rPr lang="es" sz="1800">
                <a:solidFill>
                  <a:schemeClr val="lt1"/>
                </a:solidFill>
              </a:rPr>
              <a:t>Dr Alejandro Fontán Villacampa</a:t>
            </a:r>
            <a:endParaRPr sz="1800">
              <a:solidFill>
                <a:schemeClr val="lt1"/>
              </a:solidFill>
            </a:endParaRPr>
          </a:p>
          <a:p>
            <a:pPr indent="0" lvl="0" marL="0" marR="0" rtl="0" algn="l">
              <a:lnSpc>
                <a:spcPct val="90000"/>
              </a:lnSpc>
              <a:spcBef>
                <a:spcPts val="0"/>
              </a:spcBef>
              <a:spcAft>
                <a:spcPts val="0"/>
              </a:spcAft>
              <a:buClr>
                <a:schemeClr val="lt1"/>
              </a:buClr>
              <a:buSzPts val="1800"/>
              <a:buFont typeface="Arial"/>
              <a:buNone/>
            </a:pPr>
            <a:r>
              <a:rPr lang="es" sz="1800">
                <a:solidFill>
                  <a:schemeClr val="lt1"/>
                </a:solidFill>
              </a:rPr>
              <a:t>April 2026</a:t>
            </a:r>
            <a:endParaRPr sz="1800">
              <a:solidFill>
                <a:schemeClr val="lt1"/>
              </a:solidFill>
            </a:endParaRPr>
          </a:p>
        </p:txBody>
      </p:sp>
      <p:grpSp>
        <p:nvGrpSpPr>
          <p:cNvPr id="1399" name="Google Shape;1399;p61"/>
          <p:cNvGrpSpPr/>
          <p:nvPr/>
        </p:nvGrpSpPr>
        <p:grpSpPr>
          <a:xfrm>
            <a:off x="1613382" y="135958"/>
            <a:ext cx="680757" cy="663049"/>
            <a:chOff x="1613382" y="135958"/>
            <a:chExt cx="680757" cy="663049"/>
          </a:xfrm>
        </p:grpSpPr>
        <p:sp>
          <p:nvSpPr>
            <p:cNvPr id="1400" name="Google Shape;1400;p61"/>
            <p:cNvSpPr/>
            <p:nvPr/>
          </p:nvSpPr>
          <p:spPr>
            <a:xfrm>
              <a:off x="1737301" y="520606"/>
              <a:ext cx="278400" cy="278400"/>
            </a:xfrm>
            <a:prstGeom prst="rect">
              <a:avLst/>
            </a:prstGeom>
            <a:solidFill>
              <a:srgbClr val="A59DDF"/>
            </a:solidFill>
            <a:ln>
              <a:noFill/>
            </a:ln>
          </p:spPr>
          <p:txBody>
            <a:bodyPr anchorCtr="0" anchor="ctr" bIns="15725" lIns="15725" spcFirstLastPara="1" rIns="15725" wrap="square" tIns="15725">
              <a:noAutofit/>
            </a:bodyPr>
            <a:lstStyle/>
            <a:p>
              <a:pPr indent="0" lvl="0" marL="0" rtl="0" algn="ctr">
                <a:spcBef>
                  <a:spcPts val="0"/>
                </a:spcBef>
                <a:spcAft>
                  <a:spcPts val="0"/>
                </a:spcAft>
                <a:buNone/>
              </a:pPr>
              <a:r>
                <a:t/>
              </a:r>
              <a:endParaRPr sz="241"/>
            </a:p>
          </p:txBody>
        </p:sp>
        <p:sp>
          <p:nvSpPr>
            <p:cNvPr id="1401" name="Google Shape;1401;p61"/>
            <p:cNvSpPr/>
            <p:nvPr/>
          </p:nvSpPr>
          <p:spPr>
            <a:xfrm>
              <a:off x="2015739" y="520606"/>
              <a:ext cx="278400" cy="278400"/>
            </a:xfrm>
            <a:prstGeom prst="rect">
              <a:avLst/>
            </a:prstGeom>
            <a:solidFill>
              <a:srgbClr val="8195FB"/>
            </a:solidFill>
            <a:ln>
              <a:noFill/>
            </a:ln>
          </p:spPr>
          <p:txBody>
            <a:bodyPr anchorCtr="0" anchor="ctr" bIns="15725" lIns="15725" spcFirstLastPara="1" rIns="15725" wrap="square" tIns="15725">
              <a:noAutofit/>
            </a:bodyPr>
            <a:lstStyle/>
            <a:p>
              <a:pPr indent="0" lvl="0" marL="0" rtl="0" algn="r">
                <a:spcBef>
                  <a:spcPts val="0"/>
                </a:spcBef>
                <a:spcAft>
                  <a:spcPts val="0"/>
                </a:spcAft>
                <a:buNone/>
              </a:pPr>
              <a:r>
                <a:t/>
              </a:r>
              <a:endParaRPr sz="241"/>
            </a:p>
          </p:txBody>
        </p:sp>
        <p:sp>
          <p:nvSpPr>
            <p:cNvPr id="1402" name="Google Shape;1402;p61"/>
            <p:cNvSpPr/>
            <p:nvPr/>
          </p:nvSpPr>
          <p:spPr>
            <a:xfrm>
              <a:off x="2015739" y="242100"/>
              <a:ext cx="278400" cy="278400"/>
            </a:xfrm>
            <a:prstGeom prst="rect">
              <a:avLst/>
            </a:prstGeom>
            <a:solidFill>
              <a:srgbClr val="B5F3F9"/>
            </a:solidFill>
            <a:ln>
              <a:noFill/>
            </a:ln>
          </p:spPr>
          <p:txBody>
            <a:bodyPr anchorCtr="0" anchor="ctr" bIns="15725" lIns="15725" spcFirstLastPara="1" rIns="15725" wrap="square" tIns="15725">
              <a:noAutofit/>
            </a:bodyPr>
            <a:lstStyle/>
            <a:p>
              <a:pPr indent="0" lvl="0" marL="0" rtl="0" algn="ctr">
                <a:spcBef>
                  <a:spcPts val="0"/>
                </a:spcBef>
                <a:spcAft>
                  <a:spcPts val="0"/>
                </a:spcAft>
                <a:buNone/>
              </a:pPr>
              <a:r>
                <a:t/>
              </a:r>
              <a:endParaRPr sz="241"/>
            </a:p>
          </p:txBody>
        </p:sp>
        <p:pic>
          <p:nvPicPr>
            <p:cNvPr id="1403" name="Google Shape;1403;p61"/>
            <p:cNvPicPr preferRelativeResize="0"/>
            <p:nvPr/>
          </p:nvPicPr>
          <p:blipFill>
            <a:blip r:embed="rId3">
              <a:alphaModFix/>
            </a:blip>
            <a:stretch>
              <a:fillRect/>
            </a:stretch>
          </p:blipFill>
          <p:spPr>
            <a:xfrm flipH="1" rot="133021">
              <a:off x="1623942" y="146521"/>
              <a:ext cx="556871" cy="557007"/>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